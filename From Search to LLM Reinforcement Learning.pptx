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75" r:id="rId12"/>
    <p:sldId id="268" r:id="rId13"/>
    <p:sldId id="270" r:id="rId14"/>
    <p:sldId id="274" r:id="rId15"/>
    <p:sldId id="271" r:id="rId16"/>
    <p:sldId id="277" r:id="rId17"/>
    <p:sldId id="279" r:id="rId18"/>
    <p:sldId id="280" r:id="rId19"/>
  </p:sldIdLst>
  <p:sldSz cx="12192000" cy="6858000"/>
  <p:notesSz cx="6858000" cy="12192000"/>
  <p:embeddedFontLst>
    <p:embeddedFont>
      <p:font typeface="MiSans" panose="02010600030101010101" charset="-122"/>
      <p:regular r:id="rId21"/>
    </p:embeddedFont>
    <p:embeddedFont>
      <p:font typeface="Cambria Math" panose="02040503050406030204" pitchFamily="18" charset="0"/>
      <p:regular r:id="rId22"/>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6" d="100"/>
          <a:sy n="86" d="100"/>
        </p:scale>
        <p:origin x="68"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5773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gif"/><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hyperlink" Target="https://github.com/xiaziye/RL_for_Agent"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6:31:07-d2sksiu1bb2p4onbqi50.png"/>
          <p:cNvPicPr>
            <a:picLocks noChangeAspect="1"/>
          </p:cNvPicPr>
          <p:nvPr/>
        </p:nvPicPr>
        <p:blipFill>
          <a:blip r:embed="rId3"/>
          <a:srcRect l="3" r="3"/>
          <a:stretch/>
        </p:blipFill>
        <p:spPr>
          <a:xfrm>
            <a:off x="-15875" y="-4445"/>
            <a:ext cx="12233910" cy="6859905"/>
          </a:xfrm>
          <a:prstGeom prst="rect">
            <a:avLst/>
          </a:prstGeom>
        </p:spPr>
      </p:pic>
      <p:sp>
        <p:nvSpPr>
          <p:cNvPr id="3" name="Text 0"/>
          <p:cNvSpPr/>
          <p:nvPr/>
        </p:nvSpPr>
        <p:spPr>
          <a:xfrm>
            <a:off x="2749779" y="2650807"/>
            <a:ext cx="6506210" cy="1549400"/>
          </a:xfrm>
          <a:prstGeom prst="rect">
            <a:avLst/>
          </a:prstGeom>
          <a:noFill/>
          <a:ln/>
        </p:spPr>
        <p:txBody>
          <a:bodyPr wrap="square" lIns="91440" tIns="45720" rIns="91440" bIns="45720" rtlCol="0" anchor="t">
            <a:spAutoFit/>
          </a:bodyPr>
          <a:lstStyle/>
          <a:p>
            <a:pPr algn="ctr">
              <a:lnSpc>
                <a:spcPct val="100000"/>
              </a:lnSpc>
            </a:pPr>
            <a:r>
              <a:rPr lang="en-US" sz="4800" b="1" dirty="0">
                <a:solidFill>
                  <a:srgbClr val="FFFFFF"/>
                </a:solidFill>
                <a:latin typeface="MiSans" pitchFamily="34" charset="0"/>
                <a:ea typeface="MiSans" pitchFamily="34" charset="-122"/>
                <a:cs typeface="MiSans" pitchFamily="34" charset="-120"/>
              </a:rPr>
              <a:t> LLM Reinforcement Learning</a:t>
            </a:r>
            <a:endParaRPr lang="en-US" sz="1600" dirty="0"/>
          </a:p>
        </p:txBody>
      </p:sp>
      <p:sp>
        <p:nvSpPr>
          <p:cNvPr id="4" name="Shape 1"/>
          <p:cNvSpPr/>
          <p:nvPr/>
        </p:nvSpPr>
        <p:spPr>
          <a:xfrm>
            <a:off x="4926958" y="4684395"/>
            <a:ext cx="2337402" cy="502920"/>
          </a:xfrm>
          <a:prstGeom prst="roundRect">
            <a:avLst>
              <a:gd name="adj" fmla="val 50000"/>
            </a:avLst>
          </a:prstGeom>
          <a:solidFill>
            <a:srgbClr val="000000">
              <a:alpha val="0"/>
            </a:srgbClr>
          </a:solidFill>
          <a:ln w="19050">
            <a:solidFill>
              <a:srgbClr val="FFFFFF"/>
            </a:solidFill>
            <a:prstDash val="solid"/>
          </a:ln>
        </p:spPr>
      </p:sp>
      <p:sp>
        <p:nvSpPr>
          <p:cNvPr id="5" name="Text 2"/>
          <p:cNvSpPr/>
          <p:nvPr/>
        </p:nvSpPr>
        <p:spPr>
          <a:xfrm>
            <a:off x="4926958" y="4684395"/>
            <a:ext cx="2337402" cy="502920"/>
          </a:xfrm>
          <a:prstGeom prst="rect">
            <a:avLst/>
          </a:prstGeom>
          <a:noFill/>
          <a:ln/>
        </p:spPr>
        <p:txBody>
          <a:bodyPr wrap="square" lIns="45720" tIns="91440" rIns="91440" bIns="45720" rtlCol="0" anchor="ctr"/>
          <a:lstStyle/>
          <a:p>
            <a:pPr>
              <a:lnSpc>
                <a:spcPct val="100000"/>
              </a:lnSpc>
            </a:pPr>
            <a:endParaRPr lang="en-US" sz="1600" dirty="0"/>
          </a:p>
        </p:txBody>
      </p:sp>
      <p:sp>
        <p:nvSpPr>
          <p:cNvPr id="6" name="Text 3"/>
          <p:cNvSpPr/>
          <p:nvPr/>
        </p:nvSpPr>
        <p:spPr>
          <a:xfrm>
            <a:off x="4889500" y="4736465"/>
            <a:ext cx="2413000" cy="306784"/>
          </a:xfrm>
          <a:prstGeom prst="rect">
            <a:avLst/>
          </a:prstGeom>
          <a:noFill/>
          <a:ln/>
        </p:spPr>
        <p:txBody>
          <a:bodyPr wrap="square" lIns="91440" tIns="45720" rIns="91440" bIns="45720" rtlCol="0" anchor="t">
            <a:spAutoFit/>
          </a:bodyPr>
          <a:lstStyle/>
          <a:p>
            <a:pPr algn="ctr">
              <a:lnSpc>
                <a:spcPct val="100000"/>
              </a:lnSpc>
            </a:pPr>
            <a:r>
              <a:rPr lang="en-US" sz="2000" dirty="0">
                <a:solidFill>
                  <a:srgbClr val="FFFFFF"/>
                </a:solidFill>
                <a:latin typeface="MiSans" pitchFamily="34" charset="0"/>
                <a:ea typeface="MiSans" pitchFamily="34" charset="-122"/>
                <a:cs typeface="MiSans" pitchFamily="34" charset="-120"/>
              </a:rPr>
              <a:t>Xia Ziye</a:t>
            </a:r>
            <a:endParaRPr lang="en-US" sz="1600" dirty="0"/>
          </a:p>
        </p:txBody>
      </p:sp>
      <p:sp>
        <p:nvSpPr>
          <p:cNvPr id="7" name="Shape 4"/>
          <p:cNvSpPr/>
          <p:nvPr/>
        </p:nvSpPr>
        <p:spPr>
          <a:xfrm>
            <a:off x="4926958" y="5387340"/>
            <a:ext cx="2337402" cy="502920"/>
          </a:xfrm>
          <a:prstGeom prst="roundRect">
            <a:avLst>
              <a:gd name="adj" fmla="val 50000"/>
            </a:avLst>
          </a:prstGeom>
          <a:solidFill>
            <a:srgbClr val="000000">
              <a:alpha val="0"/>
            </a:srgbClr>
          </a:solidFill>
          <a:ln w="19050">
            <a:solidFill>
              <a:srgbClr val="FFFFFF"/>
            </a:solidFill>
            <a:prstDash val="solid"/>
          </a:ln>
        </p:spPr>
      </p:sp>
      <p:sp>
        <p:nvSpPr>
          <p:cNvPr id="8" name="Text 5"/>
          <p:cNvSpPr/>
          <p:nvPr/>
        </p:nvSpPr>
        <p:spPr>
          <a:xfrm>
            <a:off x="4926958" y="5387340"/>
            <a:ext cx="2337402" cy="502920"/>
          </a:xfrm>
          <a:prstGeom prst="rect">
            <a:avLst/>
          </a:prstGeom>
          <a:noFill/>
          <a:ln/>
        </p:spPr>
        <p:txBody>
          <a:bodyPr wrap="square" lIns="45720" tIns="91440" rIns="91440" bIns="45720" rtlCol="0" anchor="ctr"/>
          <a:lstStyle/>
          <a:p>
            <a:pPr>
              <a:lnSpc>
                <a:spcPct val="100000"/>
              </a:lnSpc>
            </a:pPr>
            <a:endParaRPr lang="en-US" sz="1600" dirty="0"/>
          </a:p>
        </p:txBody>
      </p:sp>
      <p:sp>
        <p:nvSpPr>
          <p:cNvPr id="9" name="Text 6"/>
          <p:cNvSpPr/>
          <p:nvPr/>
        </p:nvSpPr>
        <p:spPr>
          <a:xfrm>
            <a:off x="4889500" y="5439410"/>
            <a:ext cx="2413000" cy="306784"/>
          </a:xfrm>
          <a:prstGeom prst="rect">
            <a:avLst/>
          </a:prstGeom>
          <a:noFill/>
          <a:ln/>
        </p:spPr>
        <p:txBody>
          <a:bodyPr wrap="square" lIns="91440" tIns="45720" rIns="91440" bIns="45720" rtlCol="0" anchor="t">
            <a:spAutoFit/>
          </a:bodyPr>
          <a:lstStyle/>
          <a:p>
            <a:pPr algn="ctr">
              <a:lnSpc>
                <a:spcPct val="100000"/>
              </a:lnSpc>
            </a:pPr>
            <a:r>
              <a:rPr lang="en-US" sz="2000" dirty="0">
                <a:solidFill>
                  <a:srgbClr val="FFFFFF"/>
                </a:solidFill>
                <a:latin typeface="MiSans" pitchFamily="34" charset="0"/>
                <a:ea typeface="MiSans" pitchFamily="34" charset="-122"/>
                <a:cs typeface="MiSans" pitchFamily="34" charset="-120"/>
              </a:rPr>
              <a:t>2025/01/01</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6:31:07-d2sksiu1bb2p4onbqi40.png"/>
          <p:cNvPicPr>
            <a:picLocks noChangeAspect="1"/>
          </p:cNvPicPr>
          <p:nvPr/>
        </p:nvPicPr>
        <p:blipFill>
          <a:blip r:embed="rId3"/>
          <a:srcRect l="16" r="16"/>
          <a:stretch/>
        </p:blipFill>
        <p:spPr>
          <a:xfrm>
            <a:off x="-18415" y="-57785"/>
            <a:ext cx="12230735" cy="6925945"/>
          </a:xfrm>
          <a:prstGeom prst="rect">
            <a:avLst/>
          </a:prstGeom>
        </p:spPr>
      </p:pic>
      <p:sp>
        <p:nvSpPr>
          <p:cNvPr id="3" name="Shape 0"/>
          <p:cNvSpPr/>
          <p:nvPr/>
        </p:nvSpPr>
        <p:spPr>
          <a:xfrm>
            <a:off x="5259479" y="1791854"/>
            <a:ext cx="6386478" cy="20433"/>
          </a:xfrm>
          <a:prstGeom prst="line">
            <a:avLst/>
          </a:prstGeom>
          <a:noFill/>
          <a:ln w="12700">
            <a:solidFill>
              <a:srgbClr val="D3BDA6"/>
            </a:solidFill>
            <a:prstDash val="solid"/>
            <a:headEnd type="none"/>
            <a:tailEnd type="none"/>
          </a:ln>
        </p:spPr>
      </p:sp>
      <p:sp>
        <p:nvSpPr>
          <p:cNvPr id="4" name="Shape 1"/>
          <p:cNvSpPr/>
          <p:nvPr/>
        </p:nvSpPr>
        <p:spPr>
          <a:xfrm>
            <a:off x="5259479" y="2563760"/>
            <a:ext cx="6386478" cy="20433"/>
          </a:xfrm>
          <a:prstGeom prst="line">
            <a:avLst/>
          </a:prstGeom>
          <a:noFill/>
          <a:ln w="12700">
            <a:solidFill>
              <a:srgbClr val="D3BDA6"/>
            </a:solidFill>
            <a:prstDash val="solid"/>
            <a:headEnd type="none"/>
            <a:tailEnd type="none"/>
          </a:ln>
        </p:spPr>
      </p:sp>
      <p:sp>
        <p:nvSpPr>
          <p:cNvPr id="5" name="Shape 2"/>
          <p:cNvSpPr/>
          <p:nvPr/>
        </p:nvSpPr>
        <p:spPr>
          <a:xfrm>
            <a:off x="5259479" y="3335667"/>
            <a:ext cx="6386478" cy="20433"/>
          </a:xfrm>
          <a:prstGeom prst="line">
            <a:avLst/>
          </a:prstGeom>
          <a:noFill/>
          <a:ln w="12700">
            <a:solidFill>
              <a:srgbClr val="D3BDA6"/>
            </a:solidFill>
            <a:prstDash val="solid"/>
            <a:headEnd type="none"/>
            <a:tailEnd type="none"/>
          </a:ln>
        </p:spPr>
      </p:sp>
      <p:sp>
        <p:nvSpPr>
          <p:cNvPr id="6" name="Shape 3"/>
          <p:cNvSpPr/>
          <p:nvPr/>
        </p:nvSpPr>
        <p:spPr>
          <a:xfrm>
            <a:off x="5259479" y="4107574"/>
            <a:ext cx="6386478" cy="20433"/>
          </a:xfrm>
          <a:prstGeom prst="line">
            <a:avLst/>
          </a:prstGeom>
          <a:noFill/>
          <a:ln w="12700">
            <a:solidFill>
              <a:srgbClr val="D3BDA6"/>
            </a:solidFill>
            <a:prstDash val="solid"/>
            <a:headEnd type="none"/>
            <a:tailEnd type="none"/>
          </a:ln>
        </p:spPr>
      </p:sp>
      <p:sp>
        <p:nvSpPr>
          <p:cNvPr id="7" name="Shape 4"/>
          <p:cNvSpPr/>
          <p:nvPr/>
        </p:nvSpPr>
        <p:spPr>
          <a:xfrm>
            <a:off x="5259479" y="4879480"/>
            <a:ext cx="6386478" cy="20433"/>
          </a:xfrm>
          <a:prstGeom prst="line">
            <a:avLst/>
          </a:prstGeom>
          <a:noFill/>
          <a:ln w="12700">
            <a:solidFill>
              <a:srgbClr val="D3BDA6"/>
            </a:solidFill>
            <a:prstDash val="solid"/>
            <a:headEnd type="none"/>
            <a:tailEnd type="none"/>
          </a:ln>
        </p:spPr>
      </p:sp>
      <p:sp>
        <p:nvSpPr>
          <p:cNvPr id="9" name="Text 6"/>
          <p:cNvSpPr/>
          <p:nvPr/>
        </p:nvSpPr>
        <p:spPr>
          <a:xfrm>
            <a:off x="1827530" y="3183890"/>
            <a:ext cx="2230120" cy="368300"/>
          </a:xfrm>
          <a:prstGeom prst="rect">
            <a:avLst/>
          </a:prstGeom>
          <a:noFill/>
          <a:ln/>
        </p:spPr>
        <p:txBody>
          <a:bodyPr wrap="square" lIns="91440" tIns="45720" rIns="91440" bIns="45720" rtlCol="0" anchor="t">
            <a:spAutoFit/>
          </a:bodyPr>
          <a:lstStyle/>
          <a:p>
            <a:pPr>
              <a:lnSpc>
                <a:spcPct val="100000"/>
              </a:lnSpc>
            </a:pPr>
            <a:r>
              <a:rPr lang="en-US" sz="2400" b="1" dirty="0">
                <a:solidFill>
                  <a:srgbClr val="FFFFFF">
                    <a:alpha val="55000"/>
                  </a:srgbClr>
                </a:solidFill>
                <a:latin typeface="MiSans" pitchFamily="34" charset="0"/>
                <a:ea typeface="MiSans" pitchFamily="34" charset="-122"/>
                <a:cs typeface="MiSans" pitchFamily="34" charset="-120"/>
              </a:rPr>
              <a:t>CONTENTS</a:t>
            </a:r>
            <a:endParaRPr lang="en-US" sz="1600" dirty="0"/>
          </a:p>
        </p:txBody>
      </p:sp>
      <p:sp>
        <p:nvSpPr>
          <p:cNvPr id="10" name="Text 7"/>
          <p:cNvSpPr/>
          <p:nvPr/>
        </p:nvSpPr>
        <p:spPr>
          <a:xfrm>
            <a:off x="5184775" y="1186815"/>
            <a:ext cx="841800" cy="453495"/>
          </a:xfrm>
          <a:prstGeom prst="rect">
            <a:avLst/>
          </a:prstGeom>
          <a:noFill/>
          <a:ln/>
        </p:spPr>
        <p:txBody>
          <a:bodyPr wrap="square" lIns="91440" tIns="45720" rIns="91440" bIns="45720" rtlCol="0" anchor="t"/>
          <a:lstStyle/>
          <a:p>
            <a:pPr>
              <a:lnSpc>
                <a:spcPct val="100000"/>
              </a:lnSpc>
            </a:pPr>
            <a:r>
              <a:rPr lang="en-US" sz="2800" b="1" dirty="0">
                <a:solidFill>
                  <a:srgbClr val="D3BDA6"/>
                </a:solidFill>
                <a:latin typeface="MiSans" pitchFamily="34" charset="0"/>
                <a:ea typeface="MiSans" pitchFamily="34" charset="-122"/>
                <a:cs typeface="MiSans" pitchFamily="34" charset="-120"/>
              </a:rPr>
              <a:t>01</a:t>
            </a:r>
            <a:endParaRPr lang="en-US" sz="1600" dirty="0"/>
          </a:p>
        </p:txBody>
      </p:sp>
      <p:sp>
        <p:nvSpPr>
          <p:cNvPr id="11" name="Text 8"/>
          <p:cNvSpPr/>
          <p:nvPr/>
        </p:nvSpPr>
        <p:spPr>
          <a:xfrm>
            <a:off x="6048018" y="1236762"/>
            <a:ext cx="5324025" cy="306784"/>
          </a:xfrm>
          <a:prstGeom prst="rect">
            <a:avLst/>
          </a:prstGeom>
          <a:noFill/>
          <a:ln/>
        </p:spPr>
        <p:txBody>
          <a:bodyPr wrap="square" lIns="91440" tIns="45720" rIns="91440" bIns="45720" rtlCol="0" anchor="t">
            <a:spAutoFit/>
          </a:bodyPr>
          <a:lstStyle/>
          <a:p>
            <a:pPr>
              <a:lnSpc>
                <a:spcPct val="100000"/>
              </a:lnSpc>
            </a:pPr>
            <a:r>
              <a:rPr lang="en-US" sz="2000" b="1" dirty="0">
                <a:solidFill>
                  <a:srgbClr val="1A1A1A"/>
                </a:solidFill>
                <a:latin typeface="MiSans" pitchFamily="34" charset="0"/>
                <a:ea typeface="MiSans" pitchFamily="34" charset="-122"/>
                <a:cs typeface="MiSans" pitchFamily="34" charset="-120"/>
              </a:rPr>
              <a:t>Classical Search to RL</a:t>
            </a:r>
            <a:endParaRPr lang="en-US" sz="1600" dirty="0"/>
          </a:p>
        </p:txBody>
      </p:sp>
      <p:sp>
        <p:nvSpPr>
          <p:cNvPr id="12" name="Text 9"/>
          <p:cNvSpPr/>
          <p:nvPr/>
        </p:nvSpPr>
        <p:spPr>
          <a:xfrm>
            <a:off x="5184775" y="1958722"/>
            <a:ext cx="841800" cy="453495"/>
          </a:xfrm>
          <a:prstGeom prst="rect">
            <a:avLst/>
          </a:prstGeom>
          <a:noFill/>
          <a:ln/>
        </p:spPr>
        <p:txBody>
          <a:bodyPr wrap="square" lIns="91440" tIns="45720" rIns="91440" bIns="45720" rtlCol="0" anchor="t"/>
          <a:lstStyle/>
          <a:p>
            <a:pPr>
              <a:lnSpc>
                <a:spcPct val="100000"/>
              </a:lnSpc>
            </a:pPr>
            <a:r>
              <a:rPr lang="en-US" sz="2800" b="1" dirty="0">
                <a:solidFill>
                  <a:srgbClr val="D3BDA6"/>
                </a:solidFill>
                <a:latin typeface="MiSans" pitchFamily="34" charset="0"/>
                <a:ea typeface="MiSans" pitchFamily="34" charset="-122"/>
                <a:cs typeface="MiSans" pitchFamily="34" charset="-120"/>
              </a:rPr>
              <a:t>02</a:t>
            </a:r>
            <a:endParaRPr lang="en-US" sz="1600" dirty="0"/>
          </a:p>
        </p:txBody>
      </p:sp>
      <p:sp>
        <p:nvSpPr>
          <p:cNvPr id="13" name="Text 10"/>
          <p:cNvSpPr/>
          <p:nvPr/>
        </p:nvSpPr>
        <p:spPr>
          <a:xfrm>
            <a:off x="6048018" y="2008669"/>
            <a:ext cx="5324025" cy="306784"/>
          </a:xfrm>
          <a:prstGeom prst="rect">
            <a:avLst/>
          </a:prstGeom>
          <a:noFill/>
          <a:ln/>
        </p:spPr>
        <p:txBody>
          <a:bodyPr wrap="square" lIns="91440" tIns="45720" rIns="91440" bIns="45720" rtlCol="0" anchor="t">
            <a:spAutoFit/>
          </a:bodyPr>
          <a:lstStyle/>
          <a:p>
            <a:pPr>
              <a:lnSpc>
                <a:spcPct val="100000"/>
              </a:lnSpc>
            </a:pPr>
            <a:r>
              <a:rPr lang="en-US" sz="2000" b="1" dirty="0">
                <a:solidFill>
                  <a:srgbClr val="1A1A1A"/>
                </a:solidFill>
                <a:latin typeface="MiSans" pitchFamily="34" charset="0"/>
                <a:ea typeface="MiSans" pitchFamily="34" charset="-122"/>
                <a:cs typeface="MiSans" pitchFamily="34" charset="-120"/>
              </a:rPr>
              <a:t>Tabular Q-Learning</a:t>
            </a:r>
            <a:endParaRPr lang="en-US" sz="1600" dirty="0"/>
          </a:p>
        </p:txBody>
      </p:sp>
      <p:sp>
        <p:nvSpPr>
          <p:cNvPr id="14" name="Text 11"/>
          <p:cNvSpPr/>
          <p:nvPr/>
        </p:nvSpPr>
        <p:spPr>
          <a:xfrm>
            <a:off x="5184775" y="2730628"/>
            <a:ext cx="841800" cy="453495"/>
          </a:xfrm>
          <a:prstGeom prst="rect">
            <a:avLst/>
          </a:prstGeom>
          <a:noFill/>
          <a:ln/>
        </p:spPr>
        <p:txBody>
          <a:bodyPr wrap="square" lIns="91440" tIns="45720" rIns="91440" bIns="45720" rtlCol="0" anchor="t"/>
          <a:lstStyle/>
          <a:p>
            <a:pPr>
              <a:lnSpc>
                <a:spcPct val="100000"/>
              </a:lnSpc>
            </a:pPr>
            <a:r>
              <a:rPr lang="en-US" sz="2800" b="1" dirty="0">
                <a:solidFill>
                  <a:srgbClr val="D3BDA6"/>
                </a:solidFill>
                <a:latin typeface="MiSans" pitchFamily="34" charset="0"/>
                <a:ea typeface="MiSans" pitchFamily="34" charset="-122"/>
                <a:cs typeface="MiSans" pitchFamily="34" charset="-120"/>
              </a:rPr>
              <a:t>03</a:t>
            </a:r>
            <a:endParaRPr lang="en-US" sz="1600" dirty="0"/>
          </a:p>
        </p:txBody>
      </p:sp>
      <p:sp>
        <p:nvSpPr>
          <p:cNvPr id="15" name="Text 12"/>
          <p:cNvSpPr/>
          <p:nvPr/>
        </p:nvSpPr>
        <p:spPr>
          <a:xfrm>
            <a:off x="6048018" y="2780575"/>
            <a:ext cx="5324025" cy="306784"/>
          </a:xfrm>
          <a:prstGeom prst="rect">
            <a:avLst/>
          </a:prstGeom>
          <a:noFill/>
          <a:ln/>
        </p:spPr>
        <p:txBody>
          <a:bodyPr wrap="square" lIns="91440" tIns="45720" rIns="91440" bIns="45720" rtlCol="0" anchor="t">
            <a:spAutoFit/>
          </a:bodyPr>
          <a:lstStyle/>
          <a:p>
            <a:pPr>
              <a:lnSpc>
                <a:spcPct val="100000"/>
              </a:lnSpc>
            </a:pPr>
            <a:r>
              <a:rPr lang="en-US" sz="2000" b="1" dirty="0">
                <a:solidFill>
                  <a:srgbClr val="1A1A1A"/>
                </a:solidFill>
                <a:latin typeface="MiSans" pitchFamily="34" charset="0"/>
                <a:ea typeface="MiSans" pitchFamily="34" charset="-122"/>
                <a:cs typeface="MiSans" pitchFamily="34" charset="-120"/>
              </a:rPr>
              <a:t>Deep Q-Networks</a:t>
            </a:r>
            <a:endParaRPr lang="en-US" sz="1600" dirty="0"/>
          </a:p>
        </p:txBody>
      </p:sp>
      <p:sp>
        <p:nvSpPr>
          <p:cNvPr id="16" name="Text 13"/>
          <p:cNvSpPr/>
          <p:nvPr/>
        </p:nvSpPr>
        <p:spPr>
          <a:xfrm>
            <a:off x="5184775" y="3502535"/>
            <a:ext cx="841800" cy="453495"/>
          </a:xfrm>
          <a:prstGeom prst="rect">
            <a:avLst/>
          </a:prstGeom>
          <a:noFill/>
          <a:ln/>
        </p:spPr>
        <p:txBody>
          <a:bodyPr wrap="square" lIns="91440" tIns="45720" rIns="91440" bIns="45720" rtlCol="0" anchor="t"/>
          <a:lstStyle/>
          <a:p>
            <a:pPr>
              <a:lnSpc>
                <a:spcPct val="100000"/>
              </a:lnSpc>
            </a:pPr>
            <a:r>
              <a:rPr lang="en-US" sz="2800" b="1" dirty="0">
                <a:solidFill>
                  <a:srgbClr val="D3BDA6"/>
                </a:solidFill>
                <a:latin typeface="MiSans" pitchFamily="34" charset="0"/>
                <a:ea typeface="MiSans" pitchFamily="34" charset="-122"/>
                <a:cs typeface="MiSans" pitchFamily="34" charset="-120"/>
              </a:rPr>
              <a:t>04</a:t>
            </a:r>
            <a:endParaRPr lang="en-US" sz="1600" dirty="0"/>
          </a:p>
        </p:txBody>
      </p:sp>
      <p:sp>
        <p:nvSpPr>
          <p:cNvPr id="17" name="Text 14"/>
          <p:cNvSpPr/>
          <p:nvPr/>
        </p:nvSpPr>
        <p:spPr>
          <a:xfrm>
            <a:off x="6048018" y="3552482"/>
            <a:ext cx="5324025" cy="306784"/>
          </a:xfrm>
          <a:prstGeom prst="rect">
            <a:avLst/>
          </a:prstGeom>
          <a:noFill/>
          <a:ln/>
        </p:spPr>
        <p:txBody>
          <a:bodyPr wrap="square" lIns="91440" tIns="45720" rIns="91440" bIns="45720" rtlCol="0" anchor="t">
            <a:spAutoFit/>
          </a:bodyPr>
          <a:lstStyle/>
          <a:p>
            <a:pPr>
              <a:lnSpc>
                <a:spcPct val="100000"/>
              </a:lnSpc>
            </a:pPr>
            <a:r>
              <a:rPr lang="en-US" sz="2000" b="1" dirty="0">
                <a:solidFill>
                  <a:srgbClr val="1A1A1A"/>
                </a:solidFill>
                <a:latin typeface="MiSans" pitchFamily="34" charset="0"/>
                <a:ea typeface="MiSans" pitchFamily="34" charset="-122"/>
                <a:cs typeface="MiSans" pitchFamily="34" charset="-120"/>
              </a:rPr>
              <a:t>Policy Gradient Methods</a:t>
            </a:r>
            <a:endParaRPr lang="en-US" sz="1600" dirty="0"/>
          </a:p>
        </p:txBody>
      </p:sp>
      <p:sp>
        <p:nvSpPr>
          <p:cNvPr id="18" name="Text 15"/>
          <p:cNvSpPr/>
          <p:nvPr/>
        </p:nvSpPr>
        <p:spPr>
          <a:xfrm>
            <a:off x="5184775" y="4274442"/>
            <a:ext cx="841800" cy="453495"/>
          </a:xfrm>
          <a:prstGeom prst="rect">
            <a:avLst/>
          </a:prstGeom>
          <a:noFill/>
          <a:ln/>
        </p:spPr>
        <p:txBody>
          <a:bodyPr wrap="square" lIns="91440" tIns="45720" rIns="91440" bIns="45720" rtlCol="0" anchor="t"/>
          <a:lstStyle/>
          <a:p>
            <a:pPr>
              <a:lnSpc>
                <a:spcPct val="100000"/>
              </a:lnSpc>
            </a:pPr>
            <a:r>
              <a:rPr lang="en-US" sz="2800" b="1" dirty="0">
                <a:solidFill>
                  <a:srgbClr val="D3BDA6"/>
                </a:solidFill>
                <a:latin typeface="MiSans" pitchFamily="34" charset="0"/>
                <a:ea typeface="MiSans" pitchFamily="34" charset="-122"/>
                <a:cs typeface="MiSans" pitchFamily="34" charset="-120"/>
              </a:rPr>
              <a:t>05</a:t>
            </a:r>
            <a:endParaRPr lang="en-US" sz="1600" dirty="0"/>
          </a:p>
        </p:txBody>
      </p:sp>
      <p:sp>
        <p:nvSpPr>
          <p:cNvPr id="19" name="Text 16"/>
          <p:cNvSpPr/>
          <p:nvPr/>
        </p:nvSpPr>
        <p:spPr>
          <a:xfrm>
            <a:off x="6048018" y="4324389"/>
            <a:ext cx="5324025" cy="400110"/>
          </a:xfrm>
          <a:prstGeom prst="rect">
            <a:avLst/>
          </a:prstGeom>
          <a:noFill/>
          <a:ln/>
        </p:spPr>
        <p:txBody>
          <a:bodyPr wrap="square" lIns="91440" tIns="45720" rIns="91440" bIns="45720" rtlCol="0" anchor="t">
            <a:spAutoFit/>
          </a:bodyPr>
          <a:lstStyle/>
          <a:p>
            <a:pPr>
              <a:lnSpc>
                <a:spcPct val="100000"/>
              </a:lnSpc>
            </a:pPr>
            <a:r>
              <a:rPr lang="en-US" altLang="zh-CN" sz="2000" b="1" dirty="0">
                <a:solidFill>
                  <a:srgbClr val="212931"/>
                </a:solidFill>
                <a:latin typeface="MiSans" pitchFamily="34" charset="0"/>
                <a:ea typeface="MiSans" pitchFamily="34" charset="-122"/>
                <a:cs typeface="MiSans" pitchFamily="34" charset="-120"/>
              </a:rPr>
              <a:t>Conclusion</a:t>
            </a:r>
            <a:endParaRPr lang="en-US" altLang="zh-CN" sz="9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6:31:08-d2sksj61bb2p4onbqi6g.png"/>
          <p:cNvPicPr>
            <a:picLocks noChangeAspect="1"/>
          </p:cNvPicPr>
          <p:nvPr/>
        </p:nvPicPr>
        <p:blipFill>
          <a:blip r:embed="rId3"/>
          <a:srcRect l="5" r="5"/>
          <a:stretch/>
        </p:blipFill>
        <p:spPr>
          <a:xfrm>
            <a:off x="-9525" y="-22225"/>
            <a:ext cx="12214860" cy="6910070"/>
          </a:xfrm>
          <a:prstGeom prst="rect">
            <a:avLst/>
          </a:prstGeom>
        </p:spPr>
      </p:pic>
      <p:sp>
        <p:nvSpPr>
          <p:cNvPr id="3" name="Shape 0"/>
          <p:cNvSpPr/>
          <p:nvPr/>
        </p:nvSpPr>
        <p:spPr>
          <a:xfrm>
            <a:off x="5172075" y="1997710"/>
            <a:ext cx="988695" cy="760730"/>
          </a:xfrm>
          <a:prstGeom prst="rect">
            <a:avLst/>
          </a:prstGeom>
          <a:solidFill>
            <a:srgbClr val="FFFFFF"/>
          </a:solidFill>
          <a:ln/>
        </p:spPr>
      </p:sp>
      <p:sp>
        <p:nvSpPr>
          <p:cNvPr id="4" name="Text 1"/>
          <p:cNvSpPr/>
          <p:nvPr/>
        </p:nvSpPr>
        <p:spPr>
          <a:xfrm>
            <a:off x="5172075" y="1997710"/>
            <a:ext cx="988695" cy="760730"/>
          </a:xfrm>
          <a:prstGeom prst="rect">
            <a:avLst/>
          </a:prstGeom>
          <a:noFill/>
          <a:ln/>
        </p:spPr>
        <p:txBody>
          <a:bodyPr wrap="square" lIns="45720" tIns="91440" rIns="91440" bIns="45720" rtlCol="0" anchor="ctr"/>
          <a:lstStyle/>
          <a:p>
            <a:pPr>
              <a:lnSpc>
                <a:spcPct val="100000"/>
              </a:lnSpc>
            </a:pPr>
            <a:endParaRPr lang="en-US" sz="1600" dirty="0"/>
          </a:p>
        </p:txBody>
      </p:sp>
      <p:sp>
        <p:nvSpPr>
          <p:cNvPr id="5" name="Text 2"/>
          <p:cNvSpPr/>
          <p:nvPr/>
        </p:nvSpPr>
        <p:spPr>
          <a:xfrm>
            <a:off x="5092065" y="2949575"/>
            <a:ext cx="6986905" cy="1015365"/>
          </a:xfrm>
          <a:prstGeom prst="rect">
            <a:avLst/>
          </a:prstGeom>
          <a:noFill/>
          <a:ln/>
        </p:spPr>
        <p:txBody>
          <a:bodyPr wrap="square" lIns="91440" tIns="45720" rIns="91440" bIns="45720" rtlCol="0" anchor="t"/>
          <a:lstStyle/>
          <a:p>
            <a:pPr>
              <a:lnSpc>
                <a:spcPct val="100000"/>
              </a:lnSpc>
            </a:pPr>
            <a:r>
              <a:rPr lang="en-US" sz="4400" b="1" dirty="0">
                <a:solidFill>
                  <a:srgbClr val="212931"/>
                </a:solidFill>
                <a:latin typeface="MiSans" pitchFamily="34" charset="0"/>
                <a:ea typeface="MiSans" pitchFamily="34" charset="-122"/>
                <a:cs typeface="MiSans" pitchFamily="34" charset="-120"/>
              </a:rPr>
              <a:t>Classical Search to RL</a:t>
            </a:r>
            <a:endParaRPr lang="en-US" sz="1600" dirty="0"/>
          </a:p>
        </p:txBody>
      </p:sp>
      <p:sp>
        <p:nvSpPr>
          <p:cNvPr id="6" name="Text 3"/>
          <p:cNvSpPr/>
          <p:nvPr/>
        </p:nvSpPr>
        <p:spPr>
          <a:xfrm>
            <a:off x="254000" y="2086610"/>
            <a:ext cx="3128010" cy="862965"/>
          </a:xfrm>
          <a:prstGeom prst="rect">
            <a:avLst/>
          </a:prstGeom>
          <a:noFill/>
          <a:ln/>
        </p:spPr>
        <p:txBody>
          <a:bodyPr wrap="square" lIns="91440" tIns="45720" rIns="91440" bIns="45720" rtlCol="0" anchor="t"/>
          <a:lstStyle/>
          <a:p>
            <a:pPr>
              <a:lnSpc>
                <a:spcPct val="100000"/>
              </a:lnSpc>
            </a:pPr>
            <a:r>
              <a:rPr lang="en-US" sz="16600" b="1" dirty="0">
                <a:solidFill>
                  <a:srgbClr val="FFFFFF"/>
                </a:solidFill>
                <a:latin typeface="MiSans" pitchFamily="34" charset="0"/>
                <a:ea typeface="MiSans" pitchFamily="34" charset="-122"/>
                <a:cs typeface="MiSans" pitchFamily="34" charset="-120"/>
              </a:rPr>
              <a:t>01</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8100000" flipH="1" flipV="1">
            <a:off x="457835" y="315595"/>
            <a:ext cx="525780" cy="525780"/>
          </a:xfrm>
          <a:prstGeom prst="ellipse">
            <a:avLst/>
          </a:prstGeom>
          <a:gradFill flip="none" rotWithShape="1">
            <a:gsLst>
              <a:gs pos="0">
                <a:srgbClr val="D3BDA6">
                  <a:alpha val="0"/>
                </a:srgbClr>
              </a:gs>
              <a:gs pos="100000">
                <a:srgbClr val="B48E67">
                  <a:alpha val="67000"/>
                </a:srgbClr>
              </a:gs>
            </a:gsLst>
            <a:lin ang="16200000" scaled="1"/>
          </a:gradFill>
          <a:ln/>
        </p:spPr>
      </p:sp>
      <p:sp>
        <p:nvSpPr>
          <p:cNvPr id="3" name="Text 1"/>
          <p:cNvSpPr/>
          <p:nvPr/>
        </p:nvSpPr>
        <p:spPr>
          <a:xfrm rot="8100000">
            <a:off x="457835" y="315595"/>
            <a:ext cx="525780" cy="525780"/>
          </a:xfrm>
          <a:prstGeom prst="rect">
            <a:avLst/>
          </a:prstGeom>
          <a:noFill/>
          <a:ln/>
        </p:spPr>
        <p:txBody>
          <a:bodyPr wrap="square" lIns="45720" tIns="91440" rIns="91440" bIns="45720" rtlCol="0" anchor="ctr"/>
          <a:lstStyle/>
          <a:p>
            <a:pPr>
              <a:lnSpc>
                <a:spcPct val="100000"/>
              </a:lnSpc>
            </a:pPr>
            <a:endParaRPr lang="en-US" sz="1600" dirty="0"/>
          </a:p>
        </p:txBody>
      </p:sp>
      <p:pic>
        <p:nvPicPr>
          <p:cNvPr id="4" name="Image 0" descr="https://kimi-img.moonshot.cn/pub/slides/slides_tmpl/image/25-09-04-16:31:20-d2sksm61bb2p4onbqit0.jpeg"/>
          <p:cNvPicPr>
            <a:picLocks noChangeAspect="1"/>
          </p:cNvPicPr>
          <p:nvPr/>
        </p:nvPicPr>
        <p:blipFill>
          <a:blip r:embed="rId3"/>
          <a:srcRect l="28012" t="7813" r="22500" b="7813"/>
          <a:stretch/>
        </p:blipFill>
        <p:spPr>
          <a:xfrm>
            <a:off x="7106508" y="0"/>
            <a:ext cx="6033547" cy="6858000"/>
          </a:xfrm>
          <a:prstGeom prst="rect">
            <a:avLst/>
          </a:prstGeom>
        </p:spPr>
      </p:pic>
      <p:sp>
        <p:nvSpPr>
          <p:cNvPr id="5" name="Shape 2"/>
          <p:cNvSpPr/>
          <p:nvPr/>
        </p:nvSpPr>
        <p:spPr>
          <a:xfrm>
            <a:off x="7106508" y="0"/>
            <a:ext cx="6033600" cy="6858000"/>
          </a:xfrm>
          <a:prstGeom prst="rect">
            <a:avLst/>
          </a:prstGeom>
          <a:solidFill>
            <a:srgbClr val="D3BDA6">
              <a:alpha val="90980"/>
            </a:srgbClr>
          </a:solidFill>
          <a:ln/>
        </p:spPr>
      </p:sp>
      <p:sp>
        <p:nvSpPr>
          <p:cNvPr id="6" name="Text 3"/>
          <p:cNvSpPr/>
          <p:nvPr/>
        </p:nvSpPr>
        <p:spPr>
          <a:xfrm>
            <a:off x="7106508" y="0"/>
            <a:ext cx="6033600"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7" name="Shape 4"/>
          <p:cNvSpPr/>
          <p:nvPr/>
        </p:nvSpPr>
        <p:spPr>
          <a:xfrm>
            <a:off x="6553688" y="3986823"/>
            <a:ext cx="1014730" cy="1014730"/>
          </a:xfrm>
          <a:prstGeom prst="ellipse">
            <a:avLst/>
          </a:prstGeom>
          <a:solidFill>
            <a:srgbClr val="865F24"/>
          </a:solidFill>
          <a:ln w="31750">
            <a:solidFill>
              <a:srgbClr val="FFFFFF"/>
            </a:solidFill>
            <a:prstDash val="solid"/>
          </a:ln>
        </p:spPr>
      </p:sp>
      <p:sp>
        <p:nvSpPr>
          <p:cNvPr id="8" name="Text 5"/>
          <p:cNvSpPr/>
          <p:nvPr/>
        </p:nvSpPr>
        <p:spPr>
          <a:xfrm>
            <a:off x="6553688" y="3986823"/>
            <a:ext cx="1014730" cy="1014730"/>
          </a:xfrm>
          <a:prstGeom prst="rect">
            <a:avLst/>
          </a:prstGeom>
          <a:noFill/>
          <a:ln/>
        </p:spPr>
        <p:txBody>
          <a:bodyPr wrap="square" lIns="45720" tIns="91440" rIns="91440" bIns="45720" rtlCol="0" anchor="ctr"/>
          <a:lstStyle/>
          <a:p>
            <a:pPr>
              <a:lnSpc>
                <a:spcPct val="100000"/>
              </a:lnSpc>
            </a:pPr>
            <a:endParaRPr lang="en-US" sz="1600" dirty="0"/>
          </a:p>
        </p:txBody>
      </p:sp>
      <p:sp>
        <p:nvSpPr>
          <p:cNvPr id="9" name="Shape 6"/>
          <p:cNvSpPr/>
          <p:nvPr/>
        </p:nvSpPr>
        <p:spPr>
          <a:xfrm rot="5400000">
            <a:off x="7563875" y="4431183"/>
            <a:ext cx="146173" cy="126011"/>
          </a:xfrm>
          <a:prstGeom prst="triangle">
            <a:avLst>
              <a:gd name="adj" fmla="val 50000"/>
            </a:avLst>
          </a:prstGeom>
          <a:solidFill>
            <a:srgbClr val="FFFFFF"/>
          </a:solidFill>
          <a:ln/>
        </p:spPr>
      </p:sp>
      <p:sp>
        <p:nvSpPr>
          <p:cNvPr id="10" name="Text 7"/>
          <p:cNvSpPr/>
          <p:nvPr/>
        </p:nvSpPr>
        <p:spPr>
          <a:xfrm rot="5400000">
            <a:off x="7563875" y="4431183"/>
            <a:ext cx="146173" cy="126011"/>
          </a:xfrm>
          <a:prstGeom prst="rect">
            <a:avLst/>
          </a:prstGeom>
          <a:noFill/>
          <a:ln/>
        </p:spPr>
        <p:txBody>
          <a:bodyPr wrap="square" lIns="45720" tIns="91440" rIns="91440" bIns="45720" rtlCol="0" anchor="ctr"/>
          <a:lstStyle/>
          <a:p>
            <a:pPr>
              <a:lnSpc>
                <a:spcPct val="100000"/>
              </a:lnSpc>
            </a:pPr>
            <a:endParaRPr lang="en-US" sz="1600" dirty="0"/>
          </a:p>
        </p:txBody>
      </p:sp>
      <p:sp>
        <p:nvSpPr>
          <p:cNvPr id="11" name="Shape 8"/>
          <p:cNvSpPr/>
          <p:nvPr/>
        </p:nvSpPr>
        <p:spPr>
          <a:xfrm>
            <a:off x="6548608" y="1288553"/>
            <a:ext cx="1014730" cy="1014730"/>
          </a:xfrm>
          <a:prstGeom prst="ellipse">
            <a:avLst/>
          </a:prstGeom>
          <a:solidFill>
            <a:srgbClr val="865F24"/>
          </a:solidFill>
          <a:ln w="31750">
            <a:solidFill>
              <a:srgbClr val="FFFFFF"/>
            </a:solidFill>
            <a:prstDash val="solid"/>
          </a:ln>
        </p:spPr>
      </p:sp>
      <p:sp>
        <p:nvSpPr>
          <p:cNvPr id="12" name="Text 9"/>
          <p:cNvSpPr/>
          <p:nvPr/>
        </p:nvSpPr>
        <p:spPr>
          <a:xfrm>
            <a:off x="6548608" y="1288553"/>
            <a:ext cx="1014730" cy="1014730"/>
          </a:xfrm>
          <a:prstGeom prst="rect">
            <a:avLst/>
          </a:prstGeom>
          <a:noFill/>
          <a:ln/>
        </p:spPr>
        <p:txBody>
          <a:bodyPr wrap="square" lIns="45720" tIns="91440" rIns="91440" bIns="45720" rtlCol="0" anchor="ctr"/>
          <a:lstStyle/>
          <a:p>
            <a:pPr>
              <a:lnSpc>
                <a:spcPct val="100000"/>
              </a:lnSpc>
            </a:pPr>
            <a:endParaRPr lang="en-US" sz="1600" dirty="0"/>
          </a:p>
        </p:txBody>
      </p:sp>
      <p:sp>
        <p:nvSpPr>
          <p:cNvPr id="13" name="Shape 10"/>
          <p:cNvSpPr/>
          <p:nvPr/>
        </p:nvSpPr>
        <p:spPr>
          <a:xfrm rot="5400000">
            <a:off x="7558795" y="1732913"/>
            <a:ext cx="146173" cy="126011"/>
          </a:xfrm>
          <a:prstGeom prst="triangle">
            <a:avLst>
              <a:gd name="adj" fmla="val 50000"/>
            </a:avLst>
          </a:prstGeom>
          <a:solidFill>
            <a:srgbClr val="FFFFFF"/>
          </a:solidFill>
          <a:ln/>
        </p:spPr>
      </p:sp>
      <p:sp>
        <p:nvSpPr>
          <p:cNvPr id="14" name="Text 11"/>
          <p:cNvSpPr/>
          <p:nvPr/>
        </p:nvSpPr>
        <p:spPr>
          <a:xfrm rot="5400000">
            <a:off x="7558795" y="1732913"/>
            <a:ext cx="146173" cy="126011"/>
          </a:xfrm>
          <a:prstGeom prst="rect">
            <a:avLst/>
          </a:prstGeom>
          <a:noFill/>
          <a:ln/>
        </p:spPr>
        <p:txBody>
          <a:bodyPr wrap="square" lIns="45720" tIns="91440" rIns="91440" bIns="45720" rtlCol="0" anchor="ctr"/>
          <a:lstStyle/>
          <a:p>
            <a:pPr>
              <a:lnSpc>
                <a:spcPct val="100000"/>
              </a:lnSpc>
            </a:pPr>
            <a:endParaRPr lang="en-US" sz="1600" dirty="0"/>
          </a:p>
        </p:txBody>
      </p:sp>
      <p:sp>
        <p:nvSpPr>
          <p:cNvPr id="15" name="Shape 12"/>
          <p:cNvSpPr/>
          <p:nvPr/>
        </p:nvSpPr>
        <p:spPr>
          <a:xfrm>
            <a:off x="6864089" y="1621539"/>
            <a:ext cx="359932" cy="359932"/>
          </a:xfrm>
          <a:custGeom>
            <a:avLst/>
            <a:gdLst/>
            <a:ahLst/>
            <a:cxnLst/>
            <a:rect l="l" t="t" r="r" b="b"/>
            <a:pathLst>
              <a:path w="359932" h="359932">
                <a:moveTo>
                  <a:pt x="197963" y="323939"/>
                </a:moveTo>
                <a:cubicBezTo>
                  <a:pt x="197963" y="359932"/>
                  <a:pt x="197963" y="359932"/>
                  <a:pt x="197963" y="359932"/>
                </a:cubicBezTo>
                <a:cubicBezTo>
                  <a:pt x="161969" y="359932"/>
                  <a:pt x="161969" y="359932"/>
                  <a:pt x="161969" y="359932"/>
                </a:cubicBezTo>
                <a:cubicBezTo>
                  <a:pt x="161969" y="323939"/>
                  <a:pt x="161969" y="323939"/>
                  <a:pt x="161969" y="323939"/>
                </a:cubicBezTo>
                <a:cubicBezTo>
                  <a:pt x="17997" y="323939"/>
                  <a:pt x="17997" y="323939"/>
                  <a:pt x="17997" y="323939"/>
                </a:cubicBezTo>
                <a:cubicBezTo>
                  <a:pt x="8998" y="323939"/>
                  <a:pt x="0" y="314941"/>
                  <a:pt x="0" y="305942"/>
                </a:cubicBezTo>
                <a:cubicBezTo>
                  <a:pt x="0" y="53990"/>
                  <a:pt x="0" y="53990"/>
                  <a:pt x="0" y="53990"/>
                </a:cubicBezTo>
                <a:cubicBezTo>
                  <a:pt x="359932" y="53990"/>
                  <a:pt x="359932" y="53990"/>
                  <a:pt x="359932" y="53990"/>
                </a:cubicBezTo>
                <a:cubicBezTo>
                  <a:pt x="359932" y="305942"/>
                  <a:pt x="359932" y="305942"/>
                  <a:pt x="359932" y="305942"/>
                </a:cubicBezTo>
                <a:cubicBezTo>
                  <a:pt x="359932" y="314941"/>
                  <a:pt x="350934" y="323939"/>
                  <a:pt x="341935" y="323939"/>
                </a:cubicBezTo>
                <a:lnTo>
                  <a:pt x="197963" y="323939"/>
                </a:lnTo>
                <a:close/>
                <a:moveTo>
                  <a:pt x="35993" y="287946"/>
                </a:moveTo>
                <a:cubicBezTo>
                  <a:pt x="323939" y="287946"/>
                  <a:pt x="323939" y="287946"/>
                  <a:pt x="323939" y="287946"/>
                </a:cubicBezTo>
                <a:cubicBezTo>
                  <a:pt x="323939" y="89983"/>
                  <a:pt x="323939" y="89983"/>
                  <a:pt x="323939" y="89983"/>
                </a:cubicBezTo>
                <a:cubicBezTo>
                  <a:pt x="35993" y="89983"/>
                  <a:pt x="35993" y="89983"/>
                  <a:pt x="35993" y="89983"/>
                </a:cubicBezTo>
                <a:lnTo>
                  <a:pt x="35993" y="287946"/>
                </a:lnTo>
                <a:close/>
                <a:moveTo>
                  <a:pt x="197963" y="125976"/>
                </a:moveTo>
                <a:cubicBezTo>
                  <a:pt x="287946" y="125976"/>
                  <a:pt x="287946" y="125976"/>
                  <a:pt x="287946" y="125976"/>
                </a:cubicBezTo>
                <a:cubicBezTo>
                  <a:pt x="287946" y="161969"/>
                  <a:pt x="287946" y="161969"/>
                  <a:pt x="287946" y="161969"/>
                </a:cubicBezTo>
                <a:cubicBezTo>
                  <a:pt x="197963" y="161969"/>
                  <a:pt x="197963" y="161969"/>
                  <a:pt x="197963" y="161969"/>
                </a:cubicBezTo>
                <a:lnTo>
                  <a:pt x="197963" y="125976"/>
                </a:lnTo>
                <a:close/>
                <a:moveTo>
                  <a:pt x="197963" y="197963"/>
                </a:moveTo>
                <a:cubicBezTo>
                  <a:pt x="287946" y="197963"/>
                  <a:pt x="287946" y="197963"/>
                  <a:pt x="287946" y="197963"/>
                </a:cubicBezTo>
                <a:cubicBezTo>
                  <a:pt x="287946" y="233956"/>
                  <a:pt x="287946" y="233956"/>
                  <a:pt x="287946" y="233956"/>
                </a:cubicBezTo>
                <a:cubicBezTo>
                  <a:pt x="197963" y="233956"/>
                  <a:pt x="197963" y="233956"/>
                  <a:pt x="197963" y="233956"/>
                </a:cubicBezTo>
                <a:lnTo>
                  <a:pt x="197963" y="197963"/>
                </a:lnTo>
                <a:close/>
                <a:moveTo>
                  <a:pt x="125976" y="125976"/>
                </a:moveTo>
                <a:cubicBezTo>
                  <a:pt x="125976" y="179966"/>
                  <a:pt x="125976" y="179966"/>
                  <a:pt x="125976" y="179966"/>
                </a:cubicBezTo>
                <a:cubicBezTo>
                  <a:pt x="179966" y="179966"/>
                  <a:pt x="179966" y="179966"/>
                  <a:pt x="179966" y="179966"/>
                </a:cubicBezTo>
                <a:cubicBezTo>
                  <a:pt x="179966" y="211460"/>
                  <a:pt x="157470" y="233956"/>
                  <a:pt x="125976" y="233956"/>
                </a:cubicBezTo>
                <a:cubicBezTo>
                  <a:pt x="94482" y="233956"/>
                  <a:pt x="71986" y="211460"/>
                  <a:pt x="71986" y="179966"/>
                </a:cubicBezTo>
                <a:cubicBezTo>
                  <a:pt x="71986" y="148472"/>
                  <a:pt x="94482" y="125976"/>
                  <a:pt x="125976" y="125976"/>
                </a:cubicBezTo>
                <a:close/>
                <a:moveTo>
                  <a:pt x="0" y="0"/>
                </a:moveTo>
                <a:cubicBezTo>
                  <a:pt x="359932" y="0"/>
                  <a:pt x="359932" y="0"/>
                  <a:pt x="359932" y="0"/>
                </a:cubicBezTo>
                <a:cubicBezTo>
                  <a:pt x="359932" y="35993"/>
                  <a:pt x="359932" y="35993"/>
                  <a:pt x="359932" y="35993"/>
                </a:cubicBezTo>
                <a:cubicBezTo>
                  <a:pt x="0" y="35993"/>
                  <a:pt x="0" y="35993"/>
                  <a:pt x="0" y="35993"/>
                </a:cubicBezTo>
                <a:lnTo>
                  <a:pt x="0" y="0"/>
                </a:lnTo>
                <a:close/>
              </a:path>
            </a:pathLst>
          </a:custGeom>
          <a:solidFill>
            <a:srgbClr val="FFFFFF"/>
          </a:solidFill>
          <a:ln/>
        </p:spPr>
      </p:sp>
      <p:sp>
        <p:nvSpPr>
          <p:cNvPr id="16" name="Text 13"/>
          <p:cNvSpPr/>
          <p:nvPr/>
        </p:nvSpPr>
        <p:spPr>
          <a:xfrm>
            <a:off x="6864089" y="1621539"/>
            <a:ext cx="359932" cy="359932"/>
          </a:xfrm>
          <a:prstGeom prst="rect">
            <a:avLst/>
          </a:prstGeom>
          <a:noFill/>
          <a:ln/>
        </p:spPr>
        <p:txBody>
          <a:bodyPr wrap="square" lIns="45720" tIns="91440" rIns="91440" bIns="45720" rtlCol="0" anchor="t"/>
          <a:lstStyle/>
          <a:p>
            <a:pPr>
              <a:lnSpc>
                <a:spcPct val="100000"/>
              </a:lnSpc>
            </a:pPr>
            <a:endParaRPr lang="en-US" sz="1600" dirty="0"/>
          </a:p>
        </p:txBody>
      </p:sp>
      <p:pic>
        <p:nvPicPr>
          <p:cNvPr id="17" name="Image 1" descr="https://kimi-img.moonshot.cn/pub/slides/slides_tmpl/image/25-09-04-16:31:13-d2skske1bb2p4onbqigg.png"/>
          <p:cNvPicPr>
            <a:picLocks noChangeAspect="1"/>
          </p:cNvPicPr>
          <p:nvPr/>
        </p:nvPicPr>
        <p:blipFill>
          <a:blip r:embed="rId4"/>
          <a:stretch>
            <a:fillRect/>
          </a:stretch>
        </p:blipFill>
        <p:spPr>
          <a:xfrm>
            <a:off x="6911449" y="4306259"/>
            <a:ext cx="335280" cy="335280"/>
          </a:xfrm>
          <a:prstGeom prst="rect">
            <a:avLst/>
          </a:prstGeom>
        </p:spPr>
      </p:pic>
      <p:sp>
        <p:nvSpPr>
          <p:cNvPr id="18" name="Text 14"/>
          <p:cNvSpPr/>
          <p:nvPr/>
        </p:nvSpPr>
        <p:spPr>
          <a:xfrm>
            <a:off x="667385" y="524510"/>
            <a:ext cx="6272530" cy="1049734"/>
          </a:xfrm>
          <a:prstGeom prst="rect">
            <a:avLst/>
          </a:prstGeom>
          <a:noFill/>
          <a:ln/>
        </p:spPr>
        <p:txBody>
          <a:bodyPr wrap="square" lIns="91440" tIns="45720" rIns="91440" bIns="45720" rtlCol="0" anchor="t">
            <a:spAutoFit/>
          </a:bodyPr>
          <a:lstStyle/>
          <a:p>
            <a:pPr>
              <a:lnSpc>
                <a:spcPct val="100000"/>
              </a:lnSpc>
            </a:pPr>
            <a:r>
              <a:rPr lang="en-US" sz="3200" b="1" dirty="0">
                <a:solidFill>
                  <a:srgbClr val="2B2F36"/>
                </a:solidFill>
                <a:latin typeface="MiSans" pitchFamily="34" charset="0"/>
                <a:ea typeface="MiSans" pitchFamily="34" charset="-122"/>
                <a:cs typeface="MiSans" pitchFamily="34" charset="-120"/>
              </a:rPr>
              <a:t>A* Search Guarantees Optimality</a:t>
            </a:r>
            <a:endParaRPr lang="en-US" sz="1600" dirty="0"/>
          </a:p>
        </p:txBody>
      </p:sp>
      <p:pic>
        <p:nvPicPr>
          <p:cNvPr id="19" name="Image 2" descr="https://kimi-img.moonshot.cn/pub/slides/slides_tmpl/image/25-09-04-16:31:13-d2skske1bb2p4onbqih0.png"/>
          <p:cNvPicPr>
            <a:picLocks noChangeAspect="1"/>
          </p:cNvPicPr>
          <p:nvPr/>
        </p:nvPicPr>
        <p:blipFill>
          <a:blip r:embed="rId5"/>
          <a:srcRect t="116" b="116"/>
          <a:stretch/>
        </p:blipFill>
        <p:spPr>
          <a:xfrm>
            <a:off x="0" y="4958080"/>
            <a:ext cx="2065655" cy="1915795"/>
          </a:xfrm>
          <a:prstGeom prst="rect">
            <a:avLst/>
          </a:prstGeom>
        </p:spPr>
      </p:pic>
      <p:sp>
        <p:nvSpPr>
          <p:cNvPr id="20" name="Text 15"/>
          <p:cNvSpPr/>
          <p:nvPr/>
        </p:nvSpPr>
        <p:spPr>
          <a:xfrm>
            <a:off x="870585" y="1900555"/>
            <a:ext cx="5043600" cy="368300"/>
          </a:xfrm>
          <a:prstGeom prst="rect">
            <a:avLst/>
          </a:prstGeom>
          <a:noFill/>
          <a:ln/>
        </p:spPr>
        <p:txBody>
          <a:bodyPr wrap="square" lIns="91440" tIns="45720" rIns="91440" bIns="45720" rtlCol="0" anchor="t">
            <a:spAutoFit/>
          </a:bodyPr>
          <a:lstStyle/>
          <a:p>
            <a:pPr>
              <a:lnSpc>
                <a:spcPct val="100000"/>
              </a:lnSpc>
            </a:pPr>
            <a:r>
              <a:rPr lang="en-US" sz="2400" b="1" dirty="0">
                <a:solidFill>
                  <a:srgbClr val="2C3741"/>
                </a:solidFill>
                <a:latin typeface="MiSans" pitchFamily="34" charset="0"/>
                <a:ea typeface="MiSans" pitchFamily="34" charset="-122"/>
                <a:cs typeface="MiSans" pitchFamily="34" charset="-120"/>
              </a:rPr>
              <a:t>A* Core Components</a:t>
            </a:r>
            <a:endParaRPr lang="en-US" sz="1600" dirty="0"/>
          </a:p>
        </p:txBody>
      </p:sp>
      <mc:AlternateContent xmlns:mc="http://schemas.openxmlformats.org/markup-compatibility/2006">
        <mc:Choice xmlns:a14="http://schemas.microsoft.com/office/drawing/2010/main" Requires="a14">
          <p:sp>
            <p:nvSpPr>
              <p:cNvPr id="21" name="Text 16"/>
              <p:cNvSpPr/>
              <p:nvPr/>
            </p:nvSpPr>
            <p:spPr>
              <a:xfrm>
                <a:off x="870585" y="2510155"/>
                <a:ext cx="2740632" cy="3747051"/>
              </a:xfrm>
              <a:prstGeom prst="rect">
                <a:avLst/>
              </a:prstGeom>
              <a:noFill/>
              <a:ln/>
            </p:spPr>
            <p:txBody>
              <a:bodyPr wrap="square" lIns="91440" tIns="45720" rIns="91440" bIns="45720" rtlCol="0" anchor="t">
                <a:spAutoFit/>
              </a:bodyPr>
              <a:lstStyle/>
              <a:p>
                <a:pPr>
                  <a:lnSpc>
                    <a:spcPct val="150000"/>
                  </a:lnSpc>
                </a:pPr>
                <a:r>
                  <a:rPr lang="en-US" sz="1600" dirty="0">
                    <a:solidFill>
                      <a:srgbClr val="2C3741"/>
                    </a:solidFill>
                    <a:latin typeface="MiSans" pitchFamily="34" charset="0"/>
                    <a:ea typeface="MiSans" pitchFamily="34" charset="-122"/>
                    <a:cs typeface="MiSans" pitchFamily="34" charset="-120"/>
                  </a:rPr>
                  <a:t>A* search combines the actual cost g(n) from the start node to the current node with an admissible heuristic h(n) that estimates the remaining cost to the goal. The evaluation function </a:t>
                </a:r>
                <a14:m>
                  <m:oMath xmlns:m="http://schemas.openxmlformats.org/officeDocument/2006/math">
                    <m:r>
                      <a:rPr lang="en-US" sz="1600" i="1" dirty="0" smtClean="0">
                        <a:solidFill>
                          <a:srgbClr val="2C3741"/>
                        </a:solidFill>
                        <a:latin typeface="Cambria Math" panose="02040503050406030204" pitchFamily="18" charset="0"/>
                        <a:ea typeface="MiSans" pitchFamily="34" charset="-122"/>
                        <a:cs typeface="MiSans" pitchFamily="34" charset="-120"/>
                      </a:rPr>
                      <m:t>𝑓</m:t>
                    </m:r>
                    <m:r>
                      <a:rPr lang="en-US" sz="1600" i="1" dirty="0" smtClean="0">
                        <a:solidFill>
                          <a:srgbClr val="2C3741"/>
                        </a:solidFill>
                        <a:latin typeface="Cambria Math" panose="02040503050406030204" pitchFamily="18" charset="0"/>
                        <a:ea typeface="MiSans" pitchFamily="34" charset="-122"/>
                        <a:cs typeface="MiSans" pitchFamily="34" charset="-120"/>
                      </a:rPr>
                      <m:t>(</m:t>
                    </m:r>
                    <m:r>
                      <a:rPr lang="en-US" sz="1600" i="1" dirty="0" smtClean="0">
                        <a:solidFill>
                          <a:srgbClr val="2C3741"/>
                        </a:solidFill>
                        <a:latin typeface="Cambria Math" panose="02040503050406030204" pitchFamily="18" charset="0"/>
                        <a:ea typeface="MiSans" pitchFamily="34" charset="-122"/>
                        <a:cs typeface="MiSans" pitchFamily="34" charset="-120"/>
                      </a:rPr>
                      <m:t>𝑛</m:t>
                    </m:r>
                    <m:r>
                      <a:rPr lang="en-US" sz="1600" i="1" dirty="0" smtClean="0">
                        <a:solidFill>
                          <a:srgbClr val="2C3741"/>
                        </a:solidFill>
                        <a:latin typeface="Cambria Math" panose="02040503050406030204" pitchFamily="18" charset="0"/>
                        <a:ea typeface="MiSans" pitchFamily="34" charset="-122"/>
                        <a:cs typeface="MiSans" pitchFamily="34" charset="-120"/>
                      </a:rPr>
                      <m:t>) = </m:t>
                    </m:r>
                    <m:r>
                      <a:rPr lang="en-US" sz="1600" i="1" dirty="0" smtClean="0">
                        <a:solidFill>
                          <a:srgbClr val="2C3741"/>
                        </a:solidFill>
                        <a:latin typeface="Cambria Math" panose="02040503050406030204" pitchFamily="18" charset="0"/>
                        <a:ea typeface="MiSans" pitchFamily="34" charset="-122"/>
                        <a:cs typeface="MiSans" pitchFamily="34" charset="-120"/>
                      </a:rPr>
                      <m:t>𝑔</m:t>
                    </m:r>
                    <m:r>
                      <a:rPr lang="en-US" sz="1600" i="1" dirty="0" smtClean="0">
                        <a:solidFill>
                          <a:srgbClr val="2C3741"/>
                        </a:solidFill>
                        <a:latin typeface="Cambria Math" panose="02040503050406030204" pitchFamily="18" charset="0"/>
                        <a:ea typeface="MiSans" pitchFamily="34" charset="-122"/>
                        <a:cs typeface="MiSans" pitchFamily="34" charset="-120"/>
                      </a:rPr>
                      <m:t>(</m:t>
                    </m:r>
                    <m:r>
                      <a:rPr lang="en-US" sz="1600" i="1" dirty="0" smtClean="0">
                        <a:solidFill>
                          <a:srgbClr val="2C3741"/>
                        </a:solidFill>
                        <a:latin typeface="Cambria Math" panose="02040503050406030204" pitchFamily="18" charset="0"/>
                        <a:ea typeface="MiSans" pitchFamily="34" charset="-122"/>
                        <a:cs typeface="MiSans" pitchFamily="34" charset="-120"/>
                      </a:rPr>
                      <m:t>𝑛</m:t>
                    </m:r>
                    <m:r>
                      <a:rPr lang="en-US" sz="1600" i="1" dirty="0" smtClean="0">
                        <a:solidFill>
                          <a:srgbClr val="2C3741"/>
                        </a:solidFill>
                        <a:latin typeface="Cambria Math" panose="02040503050406030204" pitchFamily="18" charset="0"/>
                        <a:ea typeface="MiSans" pitchFamily="34" charset="-122"/>
                        <a:cs typeface="MiSans" pitchFamily="34" charset="-120"/>
                      </a:rPr>
                      <m:t>) + </m:t>
                    </m:r>
                    <m:r>
                      <a:rPr lang="en-US" sz="1600" i="1" dirty="0" smtClean="0">
                        <a:solidFill>
                          <a:srgbClr val="2C3741"/>
                        </a:solidFill>
                        <a:latin typeface="Cambria Math" panose="02040503050406030204" pitchFamily="18" charset="0"/>
                        <a:ea typeface="MiSans" pitchFamily="34" charset="-122"/>
                        <a:cs typeface="MiSans" pitchFamily="34" charset="-120"/>
                      </a:rPr>
                      <m:t>h</m:t>
                    </m:r>
                    <m:r>
                      <a:rPr lang="en-US" sz="1600" i="1" dirty="0" smtClean="0">
                        <a:solidFill>
                          <a:srgbClr val="2C3741"/>
                        </a:solidFill>
                        <a:latin typeface="Cambria Math" panose="02040503050406030204" pitchFamily="18" charset="0"/>
                        <a:ea typeface="MiSans" pitchFamily="34" charset="-122"/>
                        <a:cs typeface="MiSans" pitchFamily="34" charset="-120"/>
                      </a:rPr>
                      <m:t>(</m:t>
                    </m:r>
                    <m:r>
                      <a:rPr lang="en-US" sz="1600" i="1" dirty="0" smtClean="0">
                        <a:solidFill>
                          <a:srgbClr val="2C3741"/>
                        </a:solidFill>
                        <a:latin typeface="Cambria Math" panose="02040503050406030204" pitchFamily="18" charset="0"/>
                        <a:ea typeface="MiSans" pitchFamily="34" charset="-122"/>
                        <a:cs typeface="MiSans" pitchFamily="34" charset="-120"/>
                      </a:rPr>
                      <m:t>𝑛</m:t>
                    </m:r>
                    <m:r>
                      <a:rPr lang="en-US" sz="1600" i="1" dirty="0" smtClean="0">
                        <a:solidFill>
                          <a:srgbClr val="2C3741"/>
                        </a:solidFill>
                        <a:latin typeface="Cambria Math" panose="02040503050406030204" pitchFamily="18" charset="0"/>
                        <a:ea typeface="MiSans" pitchFamily="34" charset="-122"/>
                        <a:cs typeface="MiSans" pitchFamily="34" charset="-120"/>
                      </a:rPr>
                      <m:t>) </m:t>
                    </m:r>
                  </m:oMath>
                </a14:m>
                <a:r>
                  <a:rPr lang="en-US" sz="1600" dirty="0">
                    <a:solidFill>
                      <a:srgbClr val="2C3741"/>
                    </a:solidFill>
                    <a:latin typeface="MiSans" pitchFamily="34" charset="0"/>
                    <a:ea typeface="MiSans" pitchFamily="34" charset="-122"/>
                    <a:cs typeface="MiSans" pitchFamily="34" charset="-120"/>
                  </a:rPr>
                  <a:t>guides node expansion.</a:t>
                </a:r>
                <a:endParaRPr lang="en-US" sz="1600" dirty="0"/>
              </a:p>
            </p:txBody>
          </p:sp>
        </mc:Choice>
        <mc:Fallback>
          <p:sp>
            <p:nvSpPr>
              <p:cNvPr id="21" name="Text 16"/>
              <p:cNvSpPr>
                <a:spLocks noRot="1" noChangeAspect="1" noMove="1" noResize="1" noEditPoints="1" noAdjustHandles="1" noChangeArrowheads="1" noChangeShapeType="1" noTextEdit="1"/>
              </p:cNvSpPr>
              <p:nvPr/>
            </p:nvSpPr>
            <p:spPr>
              <a:xfrm>
                <a:off x="870585" y="2510155"/>
                <a:ext cx="2740632" cy="3747051"/>
              </a:xfrm>
              <a:prstGeom prst="rect">
                <a:avLst/>
              </a:prstGeom>
              <a:blipFill>
                <a:blip r:embed="rId6"/>
                <a:stretch>
                  <a:fillRect l="-1336" b="-1140"/>
                </a:stretch>
              </a:blipFill>
              <a:ln/>
            </p:spPr>
            <p:txBody>
              <a:bodyPr/>
              <a:lstStyle/>
              <a:p>
                <a:r>
                  <a:rPr lang="zh-CN" altLang="en-US">
                    <a:noFill/>
                  </a:rPr>
                  <a:t> </a:t>
                </a:r>
              </a:p>
            </p:txBody>
          </p:sp>
        </mc:Fallback>
      </mc:AlternateContent>
      <p:sp>
        <p:nvSpPr>
          <p:cNvPr id="22" name="Text 17"/>
          <p:cNvSpPr/>
          <p:nvPr/>
        </p:nvSpPr>
        <p:spPr>
          <a:xfrm>
            <a:off x="7865745" y="1288415"/>
            <a:ext cx="4763770" cy="623570"/>
          </a:xfrm>
          <a:prstGeom prst="rect">
            <a:avLst/>
          </a:prstGeom>
          <a:noFill/>
          <a:ln/>
        </p:spPr>
        <p:txBody>
          <a:bodyPr wrap="square" lIns="91440" tIns="45720" rIns="91440" bIns="45720" rtlCol="0" anchor="t"/>
          <a:lstStyle/>
          <a:p>
            <a:pPr>
              <a:lnSpc>
                <a:spcPct val="100000"/>
              </a:lnSpc>
            </a:pPr>
            <a:r>
              <a:rPr lang="en-US" sz="2400" b="1" dirty="0">
                <a:solidFill>
                  <a:srgbClr val="FFFFFF"/>
                </a:solidFill>
                <a:latin typeface="MiSans" pitchFamily="34" charset="0"/>
                <a:ea typeface="MiSans" pitchFamily="34" charset="-122"/>
                <a:cs typeface="MiSans" pitchFamily="34" charset="-120"/>
              </a:rPr>
              <a:t>Optimality Guarantee</a:t>
            </a:r>
            <a:endParaRPr lang="en-US" sz="1600" dirty="0"/>
          </a:p>
        </p:txBody>
      </p:sp>
      <p:sp>
        <p:nvSpPr>
          <p:cNvPr id="23" name="Text 18"/>
          <p:cNvSpPr/>
          <p:nvPr/>
        </p:nvSpPr>
        <p:spPr>
          <a:xfrm>
            <a:off x="7865745" y="1760220"/>
            <a:ext cx="4763770" cy="1982470"/>
          </a:xfrm>
          <a:prstGeom prst="rect">
            <a:avLst/>
          </a:prstGeom>
          <a:noFill/>
          <a:ln/>
        </p:spPr>
        <p:txBody>
          <a:bodyPr wrap="square" lIns="91440" tIns="45720" rIns="91440" bIns="45720" rtlCol="0" anchor="t"/>
          <a:lstStyle/>
          <a:p>
            <a:pPr>
              <a:lnSpc>
                <a:spcPct val="150000"/>
              </a:lnSpc>
            </a:pPr>
            <a:r>
              <a:rPr lang="en-US" sz="1400" dirty="0">
                <a:solidFill>
                  <a:srgbClr val="FFFFFF"/>
                </a:solidFill>
                <a:latin typeface="MiSans" pitchFamily="34" charset="0"/>
                <a:ea typeface="MiSans" pitchFamily="34" charset="-122"/>
                <a:cs typeface="MiSans" pitchFamily="34" charset="-120"/>
              </a:rPr>
              <a:t>If the heuristic h(n) is admissible, meaning it never overestimates the true cost, A* guarantees finding the optimal solution. This makes it highly effective for deterministic pathfinding problems.</a:t>
            </a:r>
            <a:endParaRPr lang="en-US" sz="1600" dirty="0"/>
          </a:p>
        </p:txBody>
      </p:sp>
      <p:sp>
        <p:nvSpPr>
          <p:cNvPr id="24" name="Text 19"/>
          <p:cNvSpPr/>
          <p:nvPr/>
        </p:nvSpPr>
        <p:spPr>
          <a:xfrm>
            <a:off x="7931785" y="3986530"/>
            <a:ext cx="4763770" cy="623570"/>
          </a:xfrm>
          <a:prstGeom prst="rect">
            <a:avLst/>
          </a:prstGeom>
          <a:noFill/>
          <a:ln/>
        </p:spPr>
        <p:txBody>
          <a:bodyPr wrap="square" lIns="91440" tIns="45720" rIns="91440" bIns="45720" rtlCol="0" anchor="t"/>
          <a:lstStyle/>
          <a:p>
            <a:pPr>
              <a:lnSpc>
                <a:spcPct val="100000"/>
              </a:lnSpc>
            </a:pPr>
            <a:r>
              <a:rPr lang="en-US" sz="2400" b="1" dirty="0">
                <a:solidFill>
                  <a:srgbClr val="FFFFFF"/>
                </a:solidFill>
                <a:latin typeface="MiSans" pitchFamily="34" charset="0"/>
                <a:ea typeface="MiSans" pitchFamily="34" charset="-122"/>
                <a:cs typeface="MiSans" pitchFamily="34" charset="-120"/>
              </a:rPr>
              <a:t>Limitations of A*</a:t>
            </a:r>
            <a:endParaRPr lang="en-US" sz="1600" dirty="0"/>
          </a:p>
        </p:txBody>
      </p:sp>
      <p:sp>
        <p:nvSpPr>
          <p:cNvPr id="25" name="Text 20"/>
          <p:cNvSpPr/>
          <p:nvPr/>
        </p:nvSpPr>
        <p:spPr>
          <a:xfrm>
            <a:off x="7931785" y="4458335"/>
            <a:ext cx="4763770" cy="1982470"/>
          </a:xfrm>
          <a:prstGeom prst="rect">
            <a:avLst/>
          </a:prstGeom>
          <a:noFill/>
          <a:ln/>
        </p:spPr>
        <p:txBody>
          <a:bodyPr wrap="square" lIns="91440" tIns="45720" rIns="91440" bIns="45720" rtlCol="0" anchor="t"/>
          <a:lstStyle/>
          <a:p>
            <a:pPr>
              <a:lnSpc>
                <a:spcPct val="150000"/>
              </a:lnSpc>
            </a:pPr>
            <a:r>
              <a:rPr lang="en-US" sz="1400" dirty="0">
                <a:solidFill>
                  <a:srgbClr val="FFFFFF"/>
                </a:solidFill>
                <a:latin typeface="MiSans" pitchFamily="34" charset="0"/>
                <a:ea typeface="MiSans" pitchFamily="34" charset="-122"/>
                <a:cs typeface="MiSans" pitchFamily="34" charset="-120"/>
              </a:rPr>
              <a:t>However, A* requires a complete environmental model and cannot handle randomness, partial observability, or high-dimensional state spaces, which limits its applicability in more complex scenarios.</a:t>
            </a:r>
            <a:endParaRPr lang="en-US" sz="1600" dirty="0"/>
          </a:p>
        </p:txBody>
      </p:sp>
      <p:pic>
        <p:nvPicPr>
          <p:cNvPr id="2050" name="Picture 2" descr="A*算法项目实践之三：优化A*的方法——不只是双向A*_a星算法优化的实例-CSDN博客">
            <a:extLst>
              <a:ext uri="{FF2B5EF4-FFF2-40B4-BE49-F238E27FC236}">
                <a16:creationId xmlns:a16="http://schemas.microsoft.com/office/drawing/2014/main" id="{9BDF117F-98AC-6019-B7F2-57E89BEB80D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11217" y="2569079"/>
            <a:ext cx="4325342" cy="33468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8100000" flipH="1" flipV="1">
            <a:off x="457835" y="315595"/>
            <a:ext cx="525780" cy="525780"/>
          </a:xfrm>
          <a:prstGeom prst="ellipse">
            <a:avLst/>
          </a:prstGeom>
          <a:gradFill flip="none" rotWithShape="1">
            <a:gsLst>
              <a:gs pos="0">
                <a:srgbClr val="D3BDA6">
                  <a:alpha val="0"/>
                </a:srgbClr>
              </a:gs>
              <a:gs pos="100000">
                <a:srgbClr val="B48E67">
                  <a:alpha val="67000"/>
                </a:srgbClr>
              </a:gs>
            </a:gsLst>
            <a:lin ang="16200000" scaled="1"/>
          </a:gradFill>
          <a:ln/>
        </p:spPr>
      </p:sp>
      <p:sp>
        <p:nvSpPr>
          <p:cNvPr id="3" name="Text 1"/>
          <p:cNvSpPr/>
          <p:nvPr/>
        </p:nvSpPr>
        <p:spPr>
          <a:xfrm rot="8100000">
            <a:off x="457835" y="315595"/>
            <a:ext cx="525780" cy="52578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11456035" y="592138"/>
            <a:ext cx="351155" cy="43815"/>
          </a:xfrm>
          <a:prstGeom prst="roundRect">
            <a:avLst>
              <a:gd name="adj" fmla="val 50000"/>
            </a:avLst>
          </a:prstGeom>
          <a:solidFill>
            <a:srgbClr val="D3BDA6"/>
          </a:solidFill>
          <a:ln/>
        </p:spPr>
      </p:sp>
      <p:sp>
        <p:nvSpPr>
          <p:cNvPr id="5" name="Text 3"/>
          <p:cNvSpPr/>
          <p:nvPr/>
        </p:nvSpPr>
        <p:spPr>
          <a:xfrm>
            <a:off x="11456035" y="592138"/>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11456035" y="712153"/>
            <a:ext cx="351155" cy="43815"/>
          </a:xfrm>
          <a:prstGeom prst="roundRect">
            <a:avLst>
              <a:gd name="adj" fmla="val 50000"/>
            </a:avLst>
          </a:prstGeom>
          <a:solidFill>
            <a:srgbClr val="D3BDA6"/>
          </a:solidFill>
          <a:ln/>
        </p:spPr>
      </p:sp>
      <p:sp>
        <p:nvSpPr>
          <p:cNvPr id="7" name="Text 5"/>
          <p:cNvSpPr/>
          <p:nvPr/>
        </p:nvSpPr>
        <p:spPr>
          <a:xfrm>
            <a:off x="11456035" y="712153"/>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11456035" y="832168"/>
            <a:ext cx="351155" cy="43815"/>
          </a:xfrm>
          <a:prstGeom prst="roundRect">
            <a:avLst>
              <a:gd name="adj" fmla="val 50000"/>
            </a:avLst>
          </a:prstGeom>
          <a:solidFill>
            <a:srgbClr val="D3BDA6"/>
          </a:solidFill>
          <a:ln/>
        </p:spPr>
      </p:sp>
      <p:sp>
        <p:nvSpPr>
          <p:cNvPr id="9" name="Text 7"/>
          <p:cNvSpPr/>
          <p:nvPr/>
        </p:nvSpPr>
        <p:spPr>
          <a:xfrm>
            <a:off x="11456035" y="832168"/>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8"/>
          <p:cNvSpPr/>
          <p:nvPr/>
        </p:nvSpPr>
        <p:spPr>
          <a:xfrm>
            <a:off x="11456035" y="592138"/>
            <a:ext cx="351155" cy="43815"/>
          </a:xfrm>
          <a:prstGeom prst="roundRect">
            <a:avLst>
              <a:gd name="adj" fmla="val 50000"/>
            </a:avLst>
          </a:prstGeom>
          <a:solidFill>
            <a:srgbClr val="D3BDA6"/>
          </a:solidFill>
          <a:ln/>
        </p:spPr>
      </p:sp>
      <p:sp>
        <p:nvSpPr>
          <p:cNvPr id="11" name="Text 9"/>
          <p:cNvSpPr/>
          <p:nvPr/>
        </p:nvSpPr>
        <p:spPr>
          <a:xfrm>
            <a:off x="11456035" y="592138"/>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10"/>
          <p:cNvSpPr/>
          <p:nvPr/>
        </p:nvSpPr>
        <p:spPr>
          <a:xfrm>
            <a:off x="11456035" y="712153"/>
            <a:ext cx="351155" cy="43815"/>
          </a:xfrm>
          <a:prstGeom prst="roundRect">
            <a:avLst>
              <a:gd name="adj" fmla="val 50000"/>
            </a:avLst>
          </a:prstGeom>
          <a:solidFill>
            <a:srgbClr val="D3BDA6"/>
          </a:solidFill>
          <a:ln/>
        </p:spPr>
      </p:sp>
      <p:sp>
        <p:nvSpPr>
          <p:cNvPr id="13" name="Text 11"/>
          <p:cNvSpPr/>
          <p:nvPr/>
        </p:nvSpPr>
        <p:spPr>
          <a:xfrm>
            <a:off x="11456035" y="712153"/>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2"/>
          <p:cNvSpPr/>
          <p:nvPr/>
        </p:nvSpPr>
        <p:spPr>
          <a:xfrm>
            <a:off x="11456035" y="832168"/>
            <a:ext cx="351155" cy="43815"/>
          </a:xfrm>
          <a:prstGeom prst="roundRect">
            <a:avLst>
              <a:gd name="adj" fmla="val 50000"/>
            </a:avLst>
          </a:prstGeom>
          <a:solidFill>
            <a:srgbClr val="D3BDA6"/>
          </a:solidFill>
          <a:ln/>
        </p:spPr>
      </p:sp>
      <p:sp>
        <p:nvSpPr>
          <p:cNvPr id="15" name="Text 13"/>
          <p:cNvSpPr/>
          <p:nvPr/>
        </p:nvSpPr>
        <p:spPr>
          <a:xfrm>
            <a:off x="11456035" y="832168"/>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16" name="Text 14"/>
          <p:cNvSpPr/>
          <p:nvPr/>
        </p:nvSpPr>
        <p:spPr>
          <a:xfrm>
            <a:off x="667385" y="524510"/>
            <a:ext cx="6272530" cy="1049734"/>
          </a:xfrm>
          <a:prstGeom prst="rect">
            <a:avLst/>
          </a:prstGeom>
          <a:noFill/>
          <a:ln/>
        </p:spPr>
        <p:txBody>
          <a:bodyPr wrap="square" lIns="91440" tIns="45720" rIns="91440" bIns="45720" rtlCol="0" anchor="t">
            <a:spAutoFit/>
          </a:bodyPr>
          <a:lstStyle/>
          <a:p>
            <a:pPr>
              <a:lnSpc>
                <a:spcPct val="100000"/>
              </a:lnSpc>
            </a:pPr>
            <a:r>
              <a:rPr lang="en-US" sz="3200" b="1" dirty="0">
                <a:solidFill>
                  <a:srgbClr val="2B2F36"/>
                </a:solidFill>
                <a:latin typeface="MiSans" pitchFamily="34" charset="0"/>
                <a:ea typeface="MiSans" pitchFamily="34" charset="-122"/>
                <a:cs typeface="MiSans" pitchFamily="34" charset="-120"/>
              </a:rPr>
              <a:t>Markov Decision Processes Formalize RL</a:t>
            </a:r>
            <a:endParaRPr lang="en-US" sz="1600" dirty="0"/>
          </a:p>
        </p:txBody>
      </p:sp>
      <p:sp>
        <p:nvSpPr>
          <p:cNvPr id="17" name="Shape 15"/>
          <p:cNvSpPr/>
          <p:nvPr/>
        </p:nvSpPr>
        <p:spPr>
          <a:xfrm>
            <a:off x="-16510" y="6572885"/>
            <a:ext cx="12221210" cy="285115"/>
          </a:xfrm>
          <a:prstGeom prst="rect">
            <a:avLst/>
          </a:prstGeom>
          <a:gradFill flip="none" rotWithShape="1">
            <a:gsLst>
              <a:gs pos="0">
                <a:srgbClr val="D3BDA6"/>
              </a:gs>
              <a:gs pos="100000">
                <a:srgbClr val="BFA492"/>
              </a:gs>
            </a:gsLst>
            <a:lin ang="2700000" scaled="1"/>
          </a:gradFill>
          <a:ln/>
        </p:spPr>
      </p:sp>
      <p:sp>
        <p:nvSpPr>
          <p:cNvPr id="18" name="Text 16"/>
          <p:cNvSpPr/>
          <p:nvPr/>
        </p:nvSpPr>
        <p:spPr>
          <a:xfrm>
            <a:off x="-16510" y="6572885"/>
            <a:ext cx="12221210" cy="285115"/>
          </a:xfrm>
          <a:prstGeom prst="rect">
            <a:avLst/>
          </a:prstGeom>
          <a:noFill/>
          <a:ln/>
        </p:spPr>
        <p:txBody>
          <a:bodyPr wrap="square" lIns="45720" tIns="91440" rIns="91440" bIns="45720" rtlCol="0" anchor="ctr"/>
          <a:lstStyle/>
          <a:p>
            <a:pPr>
              <a:lnSpc>
                <a:spcPct val="100000"/>
              </a:lnSpc>
            </a:pPr>
            <a:endParaRPr lang="en-US" sz="1600" dirty="0"/>
          </a:p>
        </p:txBody>
      </p:sp>
      <p:sp>
        <p:nvSpPr>
          <p:cNvPr id="19" name="Shape 17"/>
          <p:cNvSpPr/>
          <p:nvPr/>
        </p:nvSpPr>
        <p:spPr>
          <a:xfrm>
            <a:off x="765493" y="1574244"/>
            <a:ext cx="3020695" cy="4759246"/>
          </a:xfrm>
          <a:prstGeom prst="roundRect">
            <a:avLst>
              <a:gd name="adj" fmla="val 3466"/>
            </a:avLst>
          </a:prstGeom>
          <a:gradFill flip="none" rotWithShape="1">
            <a:gsLst>
              <a:gs pos="0">
                <a:srgbClr val="D3BDA6"/>
              </a:gs>
              <a:gs pos="100000">
                <a:srgbClr val="BFA492"/>
              </a:gs>
            </a:gsLst>
            <a:lin ang="2700000" scaled="1"/>
          </a:gradFill>
          <a:ln w="19050">
            <a:solidFill>
              <a:srgbClr val="D3BDA6"/>
            </a:solidFill>
            <a:prstDash val="solid"/>
          </a:ln>
        </p:spPr>
      </p:sp>
      <p:sp>
        <p:nvSpPr>
          <p:cNvPr id="20" name="Text 18"/>
          <p:cNvSpPr/>
          <p:nvPr/>
        </p:nvSpPr>
        <p:spPr>
          <a:xfrm>
            <a:off x="765493" y="1757680"/>
            <a:ext cx="3020695" cy="4250690"/>
          </a:xfrm>
          <a:prstGeom prst="rect">
            <a:avLst/>
          </a:prstGeom>
          <a:noFill/>
          <a:ln/>
        </p:spPr>
        <p:txBody>
          <a:bodyPr wrap="square" lIns="45720" tIns="91440" rIns="91440" bIns="45720" rtlCol="0" anchor="ctr"/>
          <a:lstStyle/>
          <a:p>
            <a:pPr>
              <a:lnSpc>
                <a:spcPct val="100000"/>
              </a:lnSpc>
            </a:pPr>
            <a:endParaRPr lang="en-US" sz="1600" dirty="0"/>
          </a:p>
        </p:txBody>
      </p:sp>
      <p:sp>
        <p:nvSpPr>
          <p:cNvPr id="21" name="Shape 19"/>
          <p:cNvSpPr/>
          <p:nvPr/>
        </p:nvSpPr>
        <p:spPr>
          <a:xfrm>
            <a:off x="8406448" y="1757680"/>
            <a:ext cx="3020695" cy="4250690"/>
          </a:xfrm>
          <a:prstGeom prst="roundRect">
            <a:avLst>
              <a:gd name="adj" fmla="val 3466"/>
            </a:avLst>
          </a:prstGeom>
          <a:gradFill flip="none" rotWithShape="1">
            <a:gsLst>
              <a:gs pos="0">
                <a:srgbClr val="D3BDA6"/>
              </a:gs>
              <a:gs pos="100000">
                <a:srgbClr val="BFA492"/>
              </a:gs>
            </a:gsLst>
            <a:lin ang="2700000" scaled="1"/>
          </a:gradFill>
          <a:ln w="19050">
            <a:solidFill>
              <a:srgbClr val="D3BDA6"/>
            </a:solidFill>
            <a:prstDash val="solid"/>
          </a:ln>
        </p:spPr>
      </p:sp>
      <p:sp>
        <p:nvSpPr>
          <p:cNvPr id="22" name="Text 20"/>
          <p:cNvSpPr/>
          <p:nvPr/>
        </p:nvSpPr>
        <p:spPr>
          <a:xfrm>
            <a:off x="8406448" y="1757680"/>
            <a:ext cx="3020695" cy="4250690"/>
          </a:xfrm>
          <a:prstGeom prst="rect">
            <a:avLst/>
          </a:prstGeom>
          <a:noFill/>
          <a:ln/>
        </p:spPr>
        <p:txBody>
          <a:bodyPr wrap="square" lIns="45720" tIns="91440" rIns="91440" bIns="45720" rtlCol="0" anchor="ctr"/>
          <a:lstStyle/>
          <a:p>
            <a:pPr>
              <a:lnSpc>
                <a:spcPct val="100000"/>
              </a:lnSpc>
            </a:pPr>
            <a:endParaRPr lang="en-US" sz="1600" dirty="0"/>
          </a:p>
        </p:txBody>
      </p:sp>
      <p:sp>
        <p:nvSpPr>
          <p:cNvPr id="24" name="Text 21"/>
          <p:cNvSpPr/>
          <p:nvPr/>
        </p:nvSpPr>
        <p:spPr>
          <a:xfrm>
            <a:off x="872173" y="1771836"/>
            <a:ext cx="2807970" cy="306784"/>
          </a:xfrm>
          <a:prstGeom prst="rect">
            <a:avLst/>
          </a:prstGeom>
          <a:noFill/>
          <a:ln/>
        </p:spPr>
        <p:txBody>
          <a:bodyPr wrap="square" lIns="91440" tIns="45720" rIns="91440" bIns="45720" rtlCol="0" anchor="t">
            <a:spAutoFit/>
          </a:bodyPr>
          <a:lstStyle/>
          <a:p>
            <a:pPr>
              <a:lnSpc>
                <a:spcPct val="100000"/>
              </a:lnSpc>
            </a:pPr>
            <a:r>
              <a:rPr lang="en-US" sz="2000" b="1" dirty="0">
                <a:solidFill>
                  <a:srgbClr val="FFFFFF"/>
                </a:solidFill>
                <a:latin typeface="MiSans" pitchFamily="34" charset="0"/>
                <a:ea typeface="MiSans" pitchFamily="34" charset="-122"/>
                <a:cs typeface="MiSans" pitchFamily="34" charset="-120"/>
              </a:rPr>
              <a:t>MDP Definition</a:t>
            </a:r>
            <a:endParaRPr lang="en-US" sz="1600" dirty="0"/>
          </a:p>
        </p:txBody>
      </p:sp>
      <mc:AlternateContent xmlns:mc="http://schemas.openxmlformats.org/markup-compatibility/2006">
        <mc:Choice xmlns:a14="http://schemas.microsoft.com/office/drawing/2010/main" Requires="a14">
          <p:sp>
            <p:nvSpPr>
              <p:cNvPr id="25" name="Text 22"/>
              <p:cNvSpPr/>
              <p:nvPr/>
            </p:nvSpPr>
            <p:spPr>
              <a:xfrm>
                <a:off x="872173" y="2246035"/>
                <a:ext cx="2807970" cy="3907095"/>
              </a:xfrm>
              <a:prstGeom prst="rect">
                <a:avLst/>
              </a:prstGeom>
              <a:noFill/>
              <a:ln/>
            </p:spPr>
            <p:txBody>
              <a:bodyPr wrap="square" lIns="91440" tIns="45720" rIns="91440" bIns="45720" rtlCol="0" anchor="t">
                <a:spAutoFit/>
              </a:bodyPr>
              <a:lstStyle/>
              <a:p>
                <a:pPr>
                  <a:lnSpc>
                    <a:spcPct val="130000"/>
                  </a:lnSpc>
                </a:pPr>
                <a14:m>
                  <m:oMathPara xmlns:m="http://schemas.openxmlformats.org/officeDocument/2006/math">
                    <m:oMathParaPr>
                      <m:jc m:val="centerGroup"/>
                    </m:oMathParaPr>
                    <m:oMath xmlns:m="http://schemas.openxmlformats.org/officeDocument/2006/math">
                      <m:r>
                        <m:rPr>
                          <m:lit/>
                        </m:rPr>
                        <a:rPr lang="pt-BR" sz="1600" i="1" dirty="0" smtClean="0">
                          <a:solidFill>
                            <a:srgbClr val="FFFFFF"/>
                          </a:solidFill>
                          <a:latin typeface="Cambria Math" panose="02040503050406030204" pitchFamily="18" charset="0"/>
                          <a:ea typeface="MiSans" pitchFamily="34" charset="-122"/>
                          <a:cs typeface="MiSans" pitchFamily="34" charset="-120"/>
                        </a:rPr>
                        <m:t>(</m:t>
                      </m:r>
                      <m:r>
                        <a:rPr lang="pt-BR" sz="1600" i="1" dirty="0" smtClean="0">
                          <a:solidFill>
                            <a:srgbClr val="FFFFFF"/>
                          </a:solidFill>
                          <a:latin typeface="Cambria Math" panose="02040503050406030204" pitchFamily="18" charset="0"/>
                          <a:ea typeface="MiSans" pitchFamily="34" charset="-122"/>
                          <a:cs typeface="MiSans" pitchFamily="34" charset="-120"/>
                        </a:rPr>
                        <m:t>ℳ</m:t>
                      </m:r>
                      <m:r>
                        <a:rPr lang="pt-BR" sz="1600" i="1" dirty="0" smtClean="0">
                          <a:solidFill>
                            <a:srgbClr val="FFFFFF"/>
                          </a:solidFill>
                          <a:latin typeface="Cambria Math" panose="02040503050406030204" pitchFamily="18" charset="0"/>
                          <a:ea typeface="MiSans" pitchFamily="34" charset="-122"/>
                          <a:cs typeface="MiSans" pitchFamily="34" charset="-120"/>
                        </a:rPr>
                        <m:t>=</m:t>
                      </m:r>
                      <m:d>
                        <m:dPr>
                          <m:begChr m:val="⟨"/>
                          <m:endChr m:val="⟩"/>
                          <m:ctrlPr>
                            <a:rPr lang="pt-BR" sz="1600" i="1" dirty="0" smtClean="0">
                              <a:solidFill>
                                <a:srgbClr val="FFFFFF"/>
                              </a:solidFill>
                              <a:latin typeface="Cambria Math" panose="02040503050406030204" pitchFamily="18" charset="0"/>
                              <a:ea typeface="MiSans" pitchFamily="34" charset="-122"/>
                              <a:cs typeface="MiSans" pitchFamily="34" charset="-120"/>
                            </a:rPr>
                          </m:ctrlPr>
                        </m:dPr>
                        <m:e>
                          <m:r>
                            <a:rPr lang="pt-BR" sz="1600" i="1" dirty="0" smtClean="0">
                              <a:solidFill>
                                <a:srgbClr val="FFFFFF"/>
                              </a:solidFill>
                              <a:latin typeface="Cambria Math" panose="02040503050406030204" pitchFamily="18" charset="0"/>
                              <a:ea typeface="MiSans" pitchFamily="34" charset="-122"/>
                              <a:cs typeface="MiSans" pitchFamily="34" charset="-120"/>
                            </a:rPr>
                            <m:t>𝑆</m:t>
                          </m:r>
                          <m:r>
                            <a:rPr lang="pt-BR" sz="1600" i="1" dirty="0" smtClean="0">
                              <a:solidFill>
                                <a:srgbClr val="FFFFFF"/>
                              </a:solidFill>
                              <a:latin typeface="Cambria Math" panose="02040503050406030204" pitchFamily="18" charset="0"/>
                              <a:ea typeface="MiSans" pitchFamily="34" charset="-122"/>
                              <a:cs typeface="MiSans" pitchFamily="34" charset="-120"/>
                            </a:rPr>
                            <m:t>,</m:t>
                          </m:r>
                          <m:r>
                            <a:rPr lang="pt-BR" sz="1600" i="1" dirty="0" smtClean="0">
                              <a:solidFill>
                                <a:srgbClr val="FFFFFF"/>
                              </a:solidFill>
                              <a:latin typeface="Cambria Math" panose="02040503050406030204" pitchFamily="18" charset="0"/>
                              <a:ea typeface="MiSans" pitchFamily="34" charset="-122"/>
                              <a:cs typeface="MiSans" pitchFamily="34" charset="-120"/>
                            </a:rPr>
                            <m:t>𝐴</m:t>
                          </m:r>
                          <m:r>
                            <a:rPr lang="pt-BR" sz="1600" i="1" dirty="0" smtClean="0">
                              <a:solidFill>
                                <a:srgbClr val="FFFFFF"/>
                              </a:solidFill>
                              <a:latin typeface="Cambria Math" panose="02040503050406030204" pitchFamily="18" charset="0"/>
                              <a:ea typeface="MiSans" pitchFamily="34" charset="-122"/>
                              <a:cs typeface="MiSans" pitchFamily="34" charset="-120"/>
                            </a:rPr>
                            <m:t>,</m:t>
                          </m:r>
                          <m:r>
                            <a:rPr lang="pt-BR" sz="1600" i="1" dirty="0" smtClean="0">
                              <a:solidFill>
                                <a:srgbClr val="FFFFFF"/>
                              </a:solidFill>
                              <a:latin typeface="Cambria Math" panose="02040503050406030204" pitchFamily="18" charset="0"/>
                              <a:ea typeface="MiSans" pitchFamily="34" charset="-122"/>
                              <a:cs typeface="MiSans" pitchFamily="34" charset="-120"/>
                            </a:rPr>
                            <m:t>𝑃</m:t>
                          </m:r>
                          <m:r>
                            <a:rPr lang="pt-BR" sz="1600" i="1" dirty="0" smtClean="0">
                              <a:solidFill>
                                <a:srgbClr val="FFFFFF"/>
                              </a:solidFill>
                              <a:latin typeface="Cambria Math" panose="02040503050406030204" pitchFamily="18" charset="0"/>
                              <a:ea typeface="MiSans" pitchFamily="34" charset="-122"/>
                              <a:cs typeface="MiSans" pitchFamily="34" charset="-120"/>
                            </a:rPr>
                            <m:t>,</m:t>
                          </m:r>
                          <m:r>
                            <a:rPr lang="pt-BR" sz="1600" i="1" dirty="0" smtClean="0">
                              <a:solidFill>
                                <a:srgbClr val="FFFFFF"/>
                              </a:solidFill>
                              <a:latin typeface="Cambria Math" panose="02040503050406030204" pitchFamily="18" charset="0"/>
                              <a:ea typeface="MiSans" pitchFamily="34" charset="-122"/>
                              <a:cs typeface="MiSans" pitchFamily="34" charset="-120"/>
                            </a:rPr>
                            <m:t>𝑅</m:t>
                          </m:r>
                          <m:r>
                            <a:rPr lang="pt-BR" sz="1600" i="1" dirty="0" smtClean="0">
                              <a:solidFill>
                                <a:srgbClr val="FFFFFF"/>
                              </a:solidFill>
                              <a:latin typeface="Cambria Math" panose="02040503050406030204" pitchFamily="18" charset="0"/>
                              <a:ea typeface="MiSans" pitchFamily="34" charset="-122"/>
                              <a:cs typeface="MiSans" pitchFamily="34" charset="-120"/>
                            </a:rPr>
                            <m:t>,</m:t>
                          </m:r>
                          <m:r>
                            <a:rPr lang="pt-BR" sz="1600" i="1" dirty="0" smtClean="0">
                              <a:solidFill>
                                <a:srgbClr val="FFFFFF"/>
                              </a:solidFill>
                              <a:latin typeface="Cambria Math" panose="02040503050406030204" pitchFamily="18" charset="0"/>
                              <a:ea typeface="MiSans" pitchFamily="34" charset="-122"/>
                              <a:cs typeface="MiSans" pitchFamily="34" charset="-120"/>
                            </a:rPr>
                            <m:t>𝛾</m:t>
                          </m:r>
                        </m:e>
                      </m:d>
                      <m:r>
                        <m:rPr>
                          <m:lit/>
                        </m:rPr>
                        <a:rPr lang="pt-BR" sz="1600" i="1" dirty="0" smtClean="0">
                          <a:solidFill>
                            <a:srgbClr val="FFFFFF"/>
                          </a:solidFill>
                          <a:latin typeface="Cambria Math" panose="02040503050406030204" pitchFamily="18" charset="0"/>
                          <a:ea typeface="MiSans" pitchFamily="34" charset="-122"/>
                          <a:cs typeface="MiSans" pitchFamily="34" charset="-120"/>
                        </a:rPr>
                        <m:t>)</m:t>
                      </m:r>
                    </m:oMath>
                  </m:oMathPara>
                </a14:m>
                <a:endParaRPr lang="en-US" sz="1600" dirty="0">
                  <a:solidFill>
                    <a:srgbClr val="FFFFFF"/>
                  </a:solidFill>
                  <a:latin typeface="MiSans" pitchFamily="34" charset="0"/>
                  <a:ea typeface="MiSans" pitchFamily="34" charset="-122"/>
                  <a:cs typeface="MiSans" pitchFamily="34" charset="-120"/>
                </a:endParaRPr>
              </a:p>
              <a:p>
                <a:pPr>
                  <a:lnSpc>
                    <a:spcPct val="130000"/>
                  </a:lnSpc>
                </a:pPr>
                <a:r>
                  <a:rPr lang="en-US" sz="1600" dirty="0">
                    <a:solidFill>
                      <a:srgbClr val="FFFFFF"/>
                    </a:solidFill>
                    <a:latin typeface="MiSans" pitchFamily="34" charset="0"/>
                    <a:ea typeface="MiSans" pitchFamily="34" charset="-122"/>
                    <a:cs typeface="MiSans" pitchFamily="34" charset="-120"/>
                  </a:rPr>
                  <a:t>Reinforcement learning is formalized through Markov Decision Processes (MDPs), defined by the five-tuple ⟨S, A, P, R, γ⟩. States (S) represent situations, actions (A) change states through stochastic transitions P, and rewards (R) quantify immediate desirability.</a:t>
                </a:r>
                <a:endParaRPr lang="en-US" sz="1600" dirty="0"/>
              </a:p>
            </p:txBody>
          </p:sp>
        </mc:Choice>
        <mc:Fallback>
          <p:sp>
            <p:nvSpPr>
              <p:cNvPr id="25" name="Text 22"/>
              <p:cNvSpPr>
                <a:spLocks noRot="1" noChangeAspect="1" noMove="1" noResize="1" noEditPoints="1" noAdjustHandles="1" noChangeArrowheads="1" noChangeShapeType="1" noTextEdit="1"/>
              </p:cNvSpPr>
              <p:nvPr/>
            </p:nvSpPr>
            <p:spPr>
              <a:xfrm>
                <a:off x="872173" y="2246035"/>
                <a:ext cx="2807970" cy="3907095"/>
              </a:xfrm>
              <a:prstGeom prst="rect">
                <a:avLst/>
              </a:prstGeom>
              <a:blipFill>
                <a:blip r:embed="rId3"/>
                <a:stretch>
                  <a:fillRect l="-1085" r="-2169" b="-936"/>
                </a:stretch>
              </a:blipFill>
              <a:ln/>
            </p:spPr>
            <p:txBody>
              <a:bodyPr/>
              <a:lstStyle/>
              <a:p>
                <a:r>
                  <a:rPr lang="zh-CN" altLang="en-US">
                    <a:noFill/>
                  </a:rPr>
                  <a:t> </a:t>
                </a:r>
              </a:p>
            </p:txBody>
          </p:sp>
        </mc:Fallback>
      </mc:AlternateContent>
      <p:sp>
        <p:nvSpPr>
          <p:cNvPr id="26" name="Text 23"/>
          <p:cNvSpPr/>
          <p:nvPr/>
        </p:nvSpPr>
        <p:spPr>
          <a:xfrm>
            <a:off x="8513128" y="2066290"/>
            <a:ext cx="2807970" cy="306784"/>
          </a:xfrm>
          <a:prstGeom prst="rect">
            <a:avLst/>
          </a:prstGeom>
          <a:noFill/>
          <a:ln/>
        </p:spPr>
        <p:txBody>
          <a:bodyPr wrap="square" lIns="91440" tIns="45720" rIns="91440" bIns="45720" rtlCol="0" anchor="t">
            <a:spAutoFit/>
          </a:bodyPr>
          <a:lstStyle/>
          <a:p>
            <a:pPr>
              <a:lnSpc>
                <a:spcPct val="100000"/>
              </a:lnSpc>
            </a:pPr>
            <a:r>
              <a:rPr lang="en-US" sz="2000" b="1" dirty="0">
                <a:solidFill>
                  <a:srgbClr val="FFFFFF"/>
                </a:solidFill>
                <a:latin typeface="MiSans" pitchFamily="34" charset="0"/>
                <a:ea typeface="MiSans" pitchFamily="34" charset="-122"/>
                <a:cs typeface="MiSans" pitchFamily="34" charset="-120"/>
              </a:rPr>
              <a:t>Objective in MDPs</a:t>
            </a:r>
            <a:endParaRPr lang="en-US" sz="1600" dirty="0"/>
          </a:p>
        </p:txBody>
      </p:sp>
      <p:sp>
        <p:nvSpPr>
          <p:cNvPr id="27" name="Text 24"/>
          <p:cNvSpPr/>
          <p:nvPr/>
        </p:nvSpPr>
        <p:spPr>
          <a:xfrm>
            <a:off x="8513128" y="2838450"/>
            <a:ext cx="2807970" cy="2535634"/>
          </a:xfrm>
          <a:prstGeom prst="rect">
            <a:avLst/>
          </a:prstGeom>
          <a:noFill/>
          <a:ln/>
        </p:spPr>
        <p:txBody>
          <a:bodyPr wrap="square" lIns="91440" tIns="45720" rIns="91440" bIns="45720" rtlCol="0" anchor="t">
            <a:spAutoFit/>
          </a:bodyPr>
          <a:lstStyle/>
          <a:p>
            <a:pPr>
              <a:lnSpc>
                <a:spcPct val="130000"/>
              </a:lnSpc>
            </a:pPr>
            <a:r>
              <a:rPr lang="en-US" sz="1600" dirty="0">
                <a:solidFill>
                  <a:srgbClr val="FFFFFF"/>
                </a:solidFill>
                <a:latin typeface="MiSans" pitchFamily="34" charset="0"/>
                <a:ea typeface="MiSans" pitchFamily="34" charset="-122"/>
                <a:cs typeface="MiSans" pitchFamily="34" charset="-120"/>
              </a:rPr>
              <a:t>The objective in an MDP is to maximize the expected cumulative reward, expressed as the sum of discounted rewards over time. This framework allows agents to learn optimal policies through interaction.</a:t>
            </a:r>
            <a:endParaRPr lang="en-US" sz="1600" dirty="0"/>
          </a:p>
        </p:txBody>
      </p:sp>
      <p:pic>
        <p:nvPicPr>
          <p:cNvPr id="1028" name="Picture 4" descr="增强学习之马尔科夫链 - 知乎">
            <a:extLst>
              <a:ext uri="{FF2B5EF4-FFF2-40B4-BE49-F238E27FC236}">
                <a16:creationId xmlns:a16="http://schemas.microsoft.com/office/drawing/2014/main" id="{F4EA8D0E-6999-CF87-3EBE-4C1DF54011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8331" y="1822307"/>
            <a:ext cx="4111527" cy="38785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6:31:08-d2sksj61bb2p4onbqi6g.png"/>
          <p:cNvPicPr>
            <a:picLocks noChangeAspect="1"/>
          </p:cNvPicPr>
          <p:nvPr/>
        </p:nvPicPr>
        <p:blipFill>
          <a:blip r:embed="rId3"/>
          <a:srcRect l="5" r="5"/>
          <a:stretch/>
        </p:blipFill>
        <p:spPr>
          <a:xfrm>
            <a:off x="-9525" y="-22225"/>
            <a:ext cx="12214860" cy="6910070"/>
          </a:xfrm>
          <a:prstGeom prst="rect">
            <a:avLst/>
          </a:prstGeom>
        </p:spPr>
      </p:pic>
      <p:sp>
        <p:nvSpPr>
          <p:cNvPr id="3" name="Shape 0"/>
          <p:cNvSpPr/>
          <p:nvPr/>
        </p:nvSpPr>
        <p:spPr>
          <a:xfrm>
            <a:off x="5172075" y="1997710"/>
            <a:ext cx="988695" cy="760730"/>
          </a:xfrm>
          <a:prstGeom prst="rect">
            <a:avLst/>
          </a:prstGeom>
          <a:solidFill>
            <a:srgbClr val="FFFFFF"/>
          </a:solidFill>
          <a:ln/>
        </p:spPr>
      </p:sp>
      <p:sp>
        <p:nvSpPr>
          <p:cNvPr id="4" name="Text 1"/>
          <p:cNvSpPr/>
          <p:nvPr/>
        </p:nvSpPr>
        <p:spPr>
          <a:xfrm>
            <a:off x="5172075" y="1997710"/>
            <a:ext cx="988695" cy="760730"/>
          </a:xfrm>
          <a:prstGeom prst="rect">
            <a:avLst/>
          </a:prstGeom>
          <a:noFill/>
          <a:ln/>
        </p:spPr>
        <p:txBody>
          <a:bodyPr wrap="square" lIns="45720" tIns="91440" rIns="91440" bIns="45720" rtlCol="0" anchor="ctr"/>
          <a:lstStyle/>
          <a:p>
            <a:pPr>
              <a:lnSpc>
                <a:spcPct val="100000"/>
              </a:lnSpc>
            </a:pPr>
            <a:endParaRPr lang="en-US" sz="1600" dirty="0"/>
          </a:p>
        </p:txBody>
      </p:sp>
      <p:sp>
        <p:nvSpPr>
          <p:cNvPr id="5" name="Text 2"/>
          <p:cNvSpPr/>
          <p:nvPr/>
        </p:nvSpPr>
        <p:spPr>
          <a:xfrm>
            <a:off x="5092065" y="2949575"/>
            <a:ext cx="6986905" cy="1015365"/>
          </a:xfrm>
          <a:prstGeom prst="rect">
            <a:avLst/>
          </a:prstGeom>
          <a:noFill/>
          <a:ln/>
        </p:spPr>
        <p:txBody>
          <a:bodyPr wrap="square" lIns="91440" tIns="45720" rIns="91440" bIns="45720" rtlCol="0" anchor="t"/>
          <a:lstStyle/>
          <a:p>
            <a:pPr>
              <a:lnSpc>
                <a:spcPct val="100000"/>
              </a:lnSpc>
            </a:pPr>
            <a:r>
              <a:rPr lang="en-US" sz="4400" b="1" dirty="0">
                <a:solidFill>
                  <a:srgbClr val="212931"/>
                </a:solidFill>
                <a:latin typeface="MiSans" pitchFamily="34" charset="0"/>
                <a:ea typeface="MiSans" pitchFamily="34" charset="-122"/>
                <a:cs typeface="MiSans" pitchFamily="34" charset="-120"/>
              </a:rPr>
              <a:t>Tabular Q-Learning</a:t>
            </a:r>
            <a:endParaRPr lang="en-US" sz="1600" dirty="0"/>
          </a:p>
        </p:txBody>
      </p:sp>
      <p:sp>
        <p:nvSpPr>
          <p:cNvPr id="6" name="Text 3"/>
          <p:cNvSpPr/>
          <p:nvPr/>
        </p:nvSpPr>
        <p:spPr>
          <a:xfrm>
            <a:off x="254000" y="2086610"/>
            <a:ext cx="3128010" cy="862965"/>
          </a:xfrm>
          <a:prstGeom prst="rect">
            <a:avLst/>
          </a:prstGeom>
          <a:noFill/>
          <a:ln/>
        </p:spPr>
        <p:txBody>
          <a:bodyPr wrap="square" lIns="91440" tIns="45720" rIns="91440" bIns="45720" rtlCol="0" anchor="t"/>
          <a:lstStyle/>
          <a:p>
            <a:pPr>
              <a:lnSpc>
                <a:spcPct val="100000"/>
              </a:lnSpc>
            </a:pPr>
            <a:r>
              <a:rPr lang="en-US" sz="16600" b="1" dirty="0">
                <a:solidFill>
                  <a:srgbClr val="FFFFFF"/>
                </a:solidFill>
                <a:latin typeface="MiSans" pitchFamily="34" charset="0"/>
                <a:ea typeface="MiSans" pitchFamily="34" charset="-122"/>
                <a:cs typeface="MiSans" pitchFamily="34" charset="-120"/>
              </a:rPr>
              <a:t>02</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8100000" flipH="1" flipV="1">
            <a:off x="457835" y="315595"/>
            <a:ext cx="525780" cy="525780"/>
          </a:xfrm>
          <a:prstGeom prst="ellipse">
            <a:avLst/>
          </a:prstGeom>
          <a:gradFill flip="none" rotWithShape="1">
            <a:gsLst>
              <a:gs pos="0">
                <a:srgbClr val="D3BDA6">
                  <a:alpha val="0"/>
                </a:srgbClr>
              </a:gs>
              <a:gs pos="100000">
                <a:srgbClr val="B48E67">
                  <a:alpha val="67000"/>
                </a:srgbClr>
              </a:gs>
            </a:gsLst>
            <a:lin ang="16200000" scaled="1"/>
          </a:gradFill>
          <a:ln/>
        </p:spPr>
      </p:sp>
      <p:sp>
        <p:nvSpPr>
          <p:cNvPr id="3" name="Text 1"/>
          <p:cNvSpPr/>
          <p:nvPr/>
        </p:nvSpPr>
        <p:spPr>
          <a:xfrm rot="8100000">
            <a:off x="457835" y="315595"/>
            <a:ext cx="525780" cy="52578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11456035" y="592138"/>
            <a:ext cx="351155" cy="43815"/>
          </a:xfrm>
          <a:prstGeom prst="roundRect">
            <a:avLst>
              <a:gd name="adj" fmla="val 50000"/>
            </a:avLst>
          </a:prstGeom>
          <a:solidFill>
            <a:srgbClr val="D3BDA6"/>
          </a:solidFill>
          <a:ln/>
        </p:spPr>
      </p:sp>
      <p:sp>
        <p:nvSpPr>
          <p:cNvPr id="5" name="Text 3"/>
          <p:cNvSpPr/>
          <p:nvPr/>
        </p:nvSpPr>
        <p:spPr>
          <a:xfrm>
            <a:off x="11456035" y="592138"/>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11456035" y="712153"/>
            <a:ext cx="351155" cy="43815"/>
          </a:xfrm>
          <a:prstGeom prst="roundRect">
            <a:avLst>
              <a:gd name="adj" fmla="val 50000"/>
            </a:avLst>
          </a:prstGeom>
          <a:solidFill>
            <a:srgbClr val="D3BDA6"/>
          </a:solidFill>
          <a:ln/>
        </p:spPr>
      </p:sp>
      <p:sp>
        <p:nvSpPr>
          <p:cNvPr id="7" name="Text 5"/>
          <p:cNvSpPr/>
          <p:nvPr/>
        </p:nvSpPr>
        <p:spPr>
          <a:xfrm>
            <a:off x="11456035" y="712153"/>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11456035" y="832168"/>
            <a:ext cx="351155" cy="43815"/>
          </a:xfrm>
          <a:prstGeom prst="roundRect">
            <a:avLst>
              <a:gd name="adj" fmla="val 50000"/>
            </a:avLst>
          </a:prstGeom>
          <a:solidFill>
            <a:srgbClr val="D3BDA6"/>
          </a:solidFill>
          <a:ln/>
        </p:spPr>
      </p:sp>
      <p:sp>
        <p:nvSpPr>
          <p:cNvPr id="9" name="Text 7"/>
          <p:cNvSpPr/>
          <p:nvPr/>
        </p:nvSpPr>
        <p:spPr>
          <a:xfrm>
            <a:off x="11456035" y="832168"/>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8"/>
          <p:cNvSpPr/>
          <p:nvPr/>
        </p:nvSpPr>
        <p:spPr>
          <a:xfrm>
            <a:off x="7248525" y="-25400"/>
            <a:ext cx="4956175" cy="6883400"/>
          </a:xfrm>
          <a:prstGeom prst="rect">
            <a:avLst/>
          </a:prstGeom>
          <a:gradFill flip="none" rotWithShape="1">
            <a:gsLst>
              <a:gs pos="0">
                <a:srgbClr val="D3BDA6"/>
              </a:gs>
              <a:gs pos="100000">
                <a:srgbClr val="BFA492"/>
              </a:gs>
            </a:gsLst>
            <a:lin ang="2700000" scaled="1"/>
          </a:gradFill>
          <a:ln/>
        </p:spPr>
      </p:sp>
      <p:sp>
        <p:nvSpPr>
          <p:cNvPr id="11" name="Text 9"/>
          <p:cNvSpPr/>
          <p:nvPr/>
        </p:nvSpPr>
        <p:spPr>
          <a:xfrm>
            <a:off x="7248525" y="-25400"/>
            <a:ext cx="4956175" cy="688340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10"/>
          <p:cNvSpPr/>
          <p:nvPr/>
        </p:nvSpPr>
        <p:spPr>
          <a:xfrm>
            <a:off x="11456035" y="592138"/>
            <a:ext cx="351155" cy="43815"/>
          </a:xfrm>
          <a:prstGeom prst="roundRect">
            <a:avLst>
              <a:gd name="adj" fmla="val 50000"/>
            </a:avLst>
          </a:prstGeom>
          <a:solidFill>
            <a:srgbClr val="FFFFFF"/>
          </a:solidFill>
          <a:ln/>
        </p:spPr>
      </p:sp>
      <p:sp>
        <p:nvSpPr>
          <p:cNvPr id="13" name="Text 11"/>
          <p:cNvSpPr/>
          <p:nvPr/>
        </p:nvSpPr>
        <p:spPr>
          <a:xfrm>
            <a:off x="11456035" y="592138"/>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2"/>
          <p:cNvSpPr/>
          <p:nvPr/>
        </p:nvSpPr>
        <p:spPr>
          <a:xfrm>
            <a:off x="11456035" y="712153"/>
            <a:ext cx="351155" cy="43815"/>
          </a:xfrm>
          <a:prstGeom prst="roundRect">
            <a:avLst>
              <a:gd name="adj" fmla="val 50000"/>
            </a:avLst>
          </a:prstGeom>
          <a:solidFill>
            <a:srgbClr val="FFFFFF"/>
          </a:solidFill>
          <a:ln/>
        </p:spPr>
      </p:sp>
      <p:sp>
        <p:nvSpPr>
          <p:cNvPr id="15" name="Text 13"/>
          <p:cNvSpPr/>
          <p:nvPr/>
        </p:nvSpPr>
        <p:spPr>
          <a:xfrm>
            <a:off x="11456035" y="712153"/>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4"/>
          <p:cNvSpPr/>
          <p:nvPr/>
        </p:nvSpPr>
        <p:spPr>
          <a:xfrm>
            <a:off x="11456035" y="832168"/>
            <a:ext cx="351155" cy="43815"/>
          </a:xfrm>
          <a:prstGeom prst="roundRect">
            <a:avLst>
              <a:gd name="adj" fmla="val 50000"/>
            </a:avLst>
          </a:prstGeom>
          <a:solidFill>
            <a:srgbClr val="FFFFFF"/>
          </a:solidFill>
          <a:ln/>
        </p:spPr>
      </p:sp>
      <p:sp>
        <p:nvSpPr>
          <p:cNvPr id="17" name="Text 15"/>
          <p:cNvSpPr/>
          <p:nvPr/>
        </p:nvSpPr>
        <p:spPr>
          <a:xfrm>
            <a:off x="11456035" y="832168"/>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18" name="Text 16"/>
          <p:cNvSpPr/>
          <p:nvPr/>
        </p:nvSpPr>
        <p:spPr>
          <a:xfrm>
            <a:off x="667385" y="524510"/>
            <a:ext cx="9686925" cy="499467"/>
          </a:xfrm>
          <a:prstGeom prst="rect">
            <a:avLst/>
          </a:prstGeom>
          <a:noFill/>
          <a:ln/>
        </p:spPr>
        <p:txBody>
          <a:bodyPr wrap="square" lIns="91440" tIns="45720" rIns="91440" bIns="45720" rtlCol="0" anchor="t">
            <a:spAutoFit/>
          </a:bodyPr>
          <a:lstStyle/>
          <a:p>
            <a:pPr>
              <a:lnSpc>
                <a:spcPct val="100000"/>
              </a:lnSpc>
            </a:pPr>
            <a:r>
              <a:rPr lang="en-US" sz="3200" b="1" dirty="0">
                <a:solidFill>
                  <a:srgbClr val="2B2F36"/>
                </a:solidFill>
                <a:latin typeface="MiSans" pitchFamily="34" charset="0"/>
                <a:ea typeface="MiSans" pitchFamily="34" charset="-122"/>
                <a:cs typeface="MiSans" pitchFamily="34" charset="-120"/>
              </a:rPr>
              <a:t>Bellman Optimality Equation</a:t>
            </a:r>
            <a:endParaRPr lang="en-US" sz="1600" dirty="0"/>
          </a:p>
        </p:txBody>
      </p:sp>
      <p:sp>
        <p:nvSpPr>
          <p:cNvPr id="20" name="Text 17"/>
          <p:cNvSpPr/>
          <p:nvPr/>
        </p:nvSpPr>
        <p:spPr>
          <a:xfrm>
            <a:off x="7442200" y="1240155"/>
            <a:ext cx="4512310" cy="1021715"/>
          </a:xfrm>
          <a:prstGeom prst="rect">
            <a:avLst/>
          </a:prstGeom>
          <a:noFill/>
          <a:ln/>
        </p:spPr>
        <p:txBody>
          <a:bodyPr wrap="square" lIns="91440" tIns="45720" rIns="91440" bIns="45720" rtlCol="0" anchor="b"/>
          <a:lstStyle/>
          <a:p>
            <a:pPr>
              <a:lnSpc>
                <a:spcPct val="100000"/>
              </a:lnSpc>
            </a:pPr>
            <a:r>
              <a:rPr lang="en-US" sz="2400" b="1" dirty="0">
                <a:solidFill>
                  <a:srgbClr val="FFFFFF"/>
                </a:solidFill>
                <a:latin typeface="MiSans" pitchFamily="34" charset="0"/>
                <a:ea typeface="MiSans" pitchFamily="34" charset="-122"/>
                <a:cs typeface="MiSans" pitchFamily="34" charset="-120"/>
              </a:rPr>
              <a:t>Bellman Optimality</a:t>
            </a:r>
            <a:endParaRPr lang="en-US" sz="1600" dirty="0"/>
          </a:p>
        </p:txBody>
      </p:sp>
      <mc:AlternateContent xmlns:mc="http://schemas.openxmlformats.org/markup-compatibility/2006">
        <mc:Choice xmlns:a14="http://schemas.microsoft.com/office/drawing/2010/main" Requires="a14">
          <p:sp>
            <p:nvSpPr>
              <p:cNvPr id="21" name="Text 18"/>
              <p:cNvSpPr/>
              <p:nvPr/>
            </p:nvSpPr>
            <p:spPr>
              <a:xfrm>
                <a:off x="7442199" y="2438400"/>
                <a:ext cx="4663661" cy="3124200"/>
              </a:xfrm>
              <a:prstGeom prst="rect">
                <a:avLst/>
              </a:prstGeom>
              <a:noFill/>
              <a:ln/>
            </p:spPr>
            <p:txBody>
              <a:bodyPr wrap="square" lIns="91440" tIns="45720" rIns="91440" bIns="45720" rtlCol="0" anchor="t"/>
              <a:lstStyle/>
              <a:p>
                <a:pPr algn="ctr">
                  <a:lnSpc>
                    <a:spcPct val="130000"/>
                  </a:lnSpc>
                </a:pPr>
                <a:r>
                  <a:rPr lang="en-US" sz="1800" dirty="0">
                    <a:solidFill>
                      <a:srgbClr val="FFFFFF"/>
                    </a:solidFill>
                    <a:latin typeface="MiSans" pitchFamily="34" charset="0"/>
                    <a:ea typeface="MiSans" pitchFamily="34" charset="-122"/>
                    <a:cs typeface="MiSans" pitchFamily="34" charset="-120"/>
                  </a:rPr>
                  <a:t> </a:t>
                </a:r>
                <a14:m>
                  <m:oMath xmlns:m="http://schemas.openxmlformats.org/officeDocument/2006/math">
                    <m:sSup>
                      <m:sSupPr>
                        <m:ctrlPr>
                          <a:rPr lang="en-US" sz="1800" i="1" dirty="0" smtClean="0">
                            <a:solidFill>
                              <a:srgbClr val="FFFFFF"/>
                            </a:solidFill>
                            <a:latin typeface="Cambria Math" panose="02040503050406030204" pitchFamily="18" charset="0"/>
                            <a:ea typeface="MiSans" pitchFamily="34" charset="-122"/>
                            <a:cs typeface="MiSans" pitchFamily="34" charset="-120"/>
                          </a:rPr>
                        </m:ctrlPr>
                      </m:sSupPr>
                      <m:e>
                        <m:r>
                          <a:rPr lang="en-US" sz="1800" i="1" dirty="0" smtClean="0">
                            <a:solidFill>
                              <a:srgbClr val="FFFFFF"/>
                            </a:solidFill>
                            <a:latin typeface="Cambria Math" panose="02040503050406030204" pitchFamily="18" charset="0"/>
                            <a:ea typeface="MiSans" pitchFamily="34" charset="-122"/>
                            <a:cs typeface="MiSans" pitchFamily="34" charset="-120"/>
                          </a:rPr>
                          <m:t>𝑄</m:t>
                        </m:r>
                      </m:e>
                      <m:sup>
                        <m:r>
                          <a:rPr lang="en-US" sz="1800" i="1" dirty="0" smtClean="0">
                            <a:solidFill>
                              <a:srgbClr val="FFFFFF"/>
                            </a:solidFill>
                            <a:latin typeface="Cambria Math" panose="02040503050406030204" pitchFamily="18" charset="0"/>
                            <a:ea typeface="MiSans" pitchFamily="34" charset="-122"/>
                            <a:cs typeface="MiSans" pitchFamily="34" charset="-120"/>
                          </a:rPr>
                          <m:t>∗</m:t>
                        </m:r>
                      </m:sup>
                    </m:sSup>
                    <m:d>
                      <m:dPr>
                        <m:ctrlPr>
                          <a:rPr lang="en-US" sz="1800" i="1" dirty="0" smtClean="0">
                            <a:solidFill>
                              <a:srgbClr val="FFFFFF"/>
                            </a:solidFill>
                            <a:latin typeface="Cambria Math" panose="02040503050406030204" pitchFamily="18" charset="0"/>
                            <a:ea typeface="MiSans" pitchFamily="34" charset="-122"/>
                            <a:cs typeface="MiSans" pitchFamily="34" charset="-120"/>
                          </a:rPr>
                        </m:ctrlPr>
                      </m:dPr>
                      <m:e>
                        <m:r>
                          <a:rPr lang="en-US" sz="1800" i="1" dirty="0" smtClean="0">
                            <a:solidFill>
                              <a:srgbClr val="FFFFFF"/>
                            </a:solidFill>
                            <a:latin typeface="Cambria Math" panose="02040503050406030204" pitchFamily="18" charset="0"/>
                            <a:ea typeface="MiSans" pitchFamily="34" charset="-122"/>
                            <a:cs typeface="MiSans" pitchFamily="34" charset="-120"/>
                          </a:rPr>
                          <m:t>𝑠</m:t>
                        </m:r>
                        <m:r>
                          <a:rPr lang="en-US" sz="1800" i="1" dirty="0" smtClean="0">
                            <a:solidFill>
                              <a:srgbClr val="FFFFFF"/>
                            </a:solidFill>
                            <a:latin typeface="Cambria Math" panose="02040503050406030204" pitchFamily="18" charset="0"/>
                            <a:ea typeface="MiSans" pitchFamily="34" charset="-122"/>
                            <a:cs typeface="MiSans" pitchFamily="34" charset="-120"/>
                          </a:rPr>
                          <m:t>,</m:t>
                        </m:r>
                        <m:r>
                          <a:rPr lang="en-US" sz="1800" i="1" dirty="0" smtClean="0">
                            <a:solidFill>
                              <a:srgbClr val="FFFFFF"/>
                            </a:solidFill>
                            <a:latin typeface="Cambria Math" panose="02040503050406030204" pitchFamily="18" charset="0"/>
                            <a:ea typeface="MiSans" pitchFamily="34" charset="-122"/>
                            <a:cs typeface="MiSans" pitchFamily="34" charset="-120"/>
                          </a:rPr>
                          <m:t>𝑎</m:t>
                        </m:r>
                      </m:e>
                    </m:d>
                    <m:r>
                      <a:rPr lang="en-US" sz="1800" i="1" dirty="0" smtClean="0">
                        <a:solidFill>
                          <a:srgbClr val="FFFFFF"/>
                        </a:solidFill>
                        <a:latin typeface="Cambria Math" panose="02040503050406030204" pitchFamily="18" charset="0"/>
                        <a:ea typeface="MiSans" pitchFamily="34" charset="-122"/>
                        <a:cs typeface="MiSans" pitchFamily="34" charset="-120"/>
                      </a:rPr>
                      <m:t>=</m:t>
                    </m:r>
                    <m:sSub>
                      <m:sSubPr>
                        <m:ctrlPr>
                          <a:rPr lang="en-US" sz="1800" i="1" dirty="0" smtClean="0">
                            <a:solidFill>
                              <a:srgbClr val="FFFFFF"/>
                            </a:solidFill>
                            <a:latin typeface="Cambria Math" panose="02040503050406030204" pitchFamily="18" charset="0"/>
                            <a:ea typeface="MiSans" pitchFamily="34" charset="-122"/>
                            <a:cs typeface="MiSans" pitchFamily="34" charset="-120"/>
                          </a:rPr>
                        </m:ctrlPr>
                      </m:sSubPr>
                      <m:e>
                        <m:r>
                          <a:rPr lang="en-US" sz="1800" i="1" dirty="0" smtClean="0">
                            <a:solidFill>
                              <a:srgbClr val="FFFFFF"/>
                            </a:solidFill>
                            <a:latin typeface="Cambria Math" panose="02040503050406030204" pitchFamily="18" charset="0"/>
                            <a:ea typeface="MiSans" pitchFamily="34" charset="-122"/>
                            <a:cs typeface="MiSans" pitchFamily="34" charset="-120"/>
                          </a:rPr>
                          <m:t>𝐸</m:t>
                        </m:r>
                      </m:e>
                      <m:sub>
                        <m:sSup>
                          <m:sSupPr>
                            <m:ctrlPr>
                              <a:rPr lang="en-US" sz="1800" i="1" dirty="0" smtClean="0">
                                <a:solidFill>
                                  <a:srgbClr val="FFFFFF"/>
                                </a:solidFill>
                                <a:latin typeface="Cambria Math" panose="02040503050406030204" pitchFamily="18" charset="0"/>
                                <a:ea typeface="MiSans" pitchFamily="34" charset="-122"/>
                                <a:cs typeface="MiSans" pitchFamily="34" charset="-120"/>
                              </a:rPr>
                            </m:ctrlPr>
                          </m:sSupPr>
                          <m:e>
                            <m:r>
                              <a:rPr lang="en-US" sz="1800" i="1" dirty="0" smtClean="0">
                                <a:solidFill>
                                  <a:srgbClr val="FFFFFF"/>
                                </a:solidFill>
                                <a:latin typeface="Cambria Math" panose="02040503050406030204" pitchFamily="18" charset="0"/>
                                <a:ea typeface="MiSans" pitchFamily="34" charset="-122"/>
                                <a:cs typeface="MiSans" pitchFamily="34" charset="-120"/>
                              </a:rPr>
                              <m:t>𝑠</m:t>
                            </m:r>
                          </m:e>
                          <m:sup>
                            <m:r>
                              <a:rPr lang="en-US" sz="1800" i="1" dirty="0" smtClean="0">
                                <a:solidFill>
                                  <a:srgbClr val="FFFFFF"/>
                                </a:solidFill>
                                <a:latin typeface="Cambria Math" panose="02040503050406030204" pitchFamily="18" charset="0"/>
                                <a:ea typeface="MiSans" pitchFamily="34" charset="-122"/>
                                <a:cs typeface="MiSans" pitchFamily="34" charset="-120"/>
                              </a:rPr>
                              <m:t>′</m:t>
                            </m:r>
                          </m:sup>
                        </m:sSup>
                        <m:r>
                          <a:rPr lang="en-US" sz="1800" i="1" dirty="0" smtClean="0">
                            <a:solidFill>
                              <a:srgbClr val="FFFFFF"/>
                            </a:solidFill>
                            <a:latin typeface="Cambria Math" panose="02040503050406030204" pitchFamily="18" charset="0"/>
                            <a:ea typeface="MiSans" pitchFamily="34" charset="-122"/>
                            <a:cs typeface="MiSans" pitchFamily="34" charset="-120"/>
                          </a:rPr>
                          <m:t>∼</m:t>
                        </m:r>
                        <m:r>
                          <a:rPr lang="en-US" sz="1800" i="1" dirty="0" smtClean="0">
                            <a:solidFill>
                              <a:srgbClr val="FFFFFF"/>
                            </a:solidFill>
                            <a:latin typeface="Cambria Math" panose="02040503050406030204" pitchFamily="18" charset="0"/>
                            <a:ea typeface="MiSans" pitchFamily="34" charset="-122"/>
                            <a:cs typeface="MiSans" pitchFamily="34" charset="-120"/>
                          </a:rPr>
                          <m:t>𝑃</m:t>
                        </m:r>
                        <m:d>
                          <m:dPr>
                            <m:ctrlPr>
                              <a:rPr lang="en-US" sz="1800" i="1" dirty="0" smtClean="0">
                                <a:solidFill>
                                  <a:srgbClr val="FFFFFF"/>
                                </a:solidFill>
                                <a:latin typeface="Cambria Math" panose="02040503050406030204" pitchFamily="18" charset="0"/>
                                <a:ea typeface="MiSans" pitchFamily="34" charset="-122"/>
                                <a:cs typeface="MiSans" pitchFamily="34" charset="-120"/>
                              </a:rPr>
                            </m:ctrlPr>
                          </m:dPr>
                          <m:e>
                            <m:r>
                              <a:rPr lang="en-US" sz="1800" i="1" dirty="0" smtClean="0">
                                <a:solidFill>
                                  <a:srgbClr val="FFFFFF"/>
                                </a:solidFill>
                                <a:latin typeface="Cambria Math" panose="02040503050406030204" pitchFamily="18" charset="0"/>
                                <a:ea typeface="MiSans" pitchFamily="34" charset="-122"/>
                                <a:cs typeface="MiSans" pitchFamily="34" charset="-120"/>
                              </a:rPr>
                              <m:t>⋅</m:t>
                            </m:r>
                          </m:e>
                          <m:e>
                            <m:r>
                              <a:rPr lang="en-US" sz="1800" i="1" dirty="0" err="1" smtClean="0">
                                <a:solidFill>
                                  <a:srgbClr val="FFFFFF"/>
                                </a:solidFill>
                                <a:latin typeface="Cambria Math" panose="02040503050406030204" pitchFamily="18" charset="0"/>
                                <a:ea typeface="MiSans" pitchFamily="34" charset="-122"/>
                                <a:cs typeface="MiSans" pitchFamily="34" charset="-120"/>
                              </a:rPr>
                              <m:t>𝑠</m:t>
                            </m:r>
                            <m:r>
                              <a:rPr lang="en-US" sz="1800" i="1" dirty="0" err="1" smtClean="0">
                                <a:solidFill>
                                  <a:srgbClr val="FFFFFF"/>
                                </a:solidFill>
                                <a:latin typeface="Cambria Math" panose="02040503050406030204" pitchFamily="18" charset="0"/>
                                <a:ea typeface="MiSans" pitchFamily="34" charset="-122"/>
                                <a:cs typeface="MiSans" pitchFamily="34" charset="-120"/>
                              </a:rPr>
                              <m:t>,</m:t>
                            </m:r>
                            <m:r>
                              <a:rPr lang="en-US" sz="1800" i="1" dirty="0" err="1" smtClean="0">
                                <a:solidFill>
                                  <a:srgbClr val="FFFFFF"/>
                                </a:solidFill>
                                <a:latin typeface="Cambria Math" panose="02040503050406030204" pitchFamily="18" charset="0"/>
                                <a:ea typeface="MiSans" pitchFamily="34" charset="-122"/>
                                <a:cs typeface="MiSans" pitchFamily="34" charset="-120"/>
                              </a:rPr>
                              <m:t>𝑎</m:t>
                            </m:r>
                          </m:e>
                        </m:d>
                      </m:sub>
                    </m:sSub>
                    <m:d>
                      <m:dPr>
                        <m:begChr m:val="["/>
                        <m:endChr m:val="]"/>
                        <m:ctrlPr>
                          <a:rPr lang="en-US" sz="1800" i="1" dirty="0" smtClean="0">
                            <a:solidFill>
                              <a:srgbClr val="FFFFFF"/>
                            </a:solidFill>
                            <a:latin typeface="Cambria Math" panose="02040503050406030204" pitchFamily="18" charset="0"/>
                            <a:ea typeface="MiSans" pitchFamily="34" charset="-122"/>
                            <a:cs typeface="MiSans" pitchFamily="34" charset="-120"/>
                          </a:rPr>
                        </m:ctrlPr>
                      </m:dPr>
                      <m:e>
                        <m:r>
                          <a:rPr lang="en-US" sz="1800" i="1" dirty="0" smtClean="0">
                            <a:solidFill>
                              <a:srgbClr val="FFFFFF"/>
                            </a:solidFill>
                            <a:latin typeface="Cambria Math" panose="02040503050406030204" pitchFamily="18" charset="0"/>
                            <a:ea typeface="MiSans" pitchFamily="34" charset="-122"/>
                            <a:cs typeface="MiSans" pitchFamily="34" charset="-120"/>
                          </a:rPr>
                          <m:t>𝑅</m:t>
                        </m:r>
                        <m:d>
                          <m:dPr>
                            <m:ctrlPr>
                              <a:rPr lang="en-US" sz="1800" i="1" dirty="0" smtClean="0">
                                <a:solidFill>
                                  <a:srgbClr val="FFFFFF"/>
                                </a:solidFill>
                                <a:latin typeface="Cambria Math" panose="02040503050406030204" pitchFamily="18" charset="0"/>
                                <a:ea typeface="MiSans" pitchFamily="34" charset="-122"/>
                                <a:cs typeface="MiSans" pitchFamily="34" charset="-120"/>
                              </a:rPr>
                            </m:ctrlPr>
                          </m:dPr>
                          <m:e>
                            <m:r>
                              <a:rPr lang="en-US" sz="1800" i="1" dirty="0" err="1" smtClean="0">
                                <a:solidFill>
                                  <a:srgbClr val="FFFFFF"/>
                                </a:solidFill>
                                <a:latin typeface="Cambria Math" panose="02040503050406030204" pitchFamily="18" charset="0"/>
                                <a:ea typeface="MiSans" pitchFamily="34" charset="-122"/>
                                <a:cs typeface="MiSans" pitchFamily="34" charset="-120"/>
                              </a:rPr>
                              <m:t>𝑠</m:t>
                            </m:r>
                            <m:r>
                              <a:rPr lang="en-US" sz="1800" i="1" dirty="0" err="1" smtClean="0">
                                <a:solidFill>
                                  <a:srgbClr val="FFFFFF"/>
                                </a:solidFill>
                                <a:latin typeface="Cambria Math" panose="02040503050406030204" pitchFamily="18" charset="0"/>
                                <a:ea typeface="MiSans" pitchFamily="34" charset="-122"/>
                                <a:cs typeface="MiSans" pitchFamily="34" charset="-120"/>
                              </a:rPr>
                              <m:t>,</m:t>
                            </m:r>
                            <m:r>
                              <a:rPr lang="en-US" sz="1800" i="1" dirty="0" err="1" smtClean="0">
                                <a:solidFill>
                                  <a:srgbClr val="FFFFFF"/>
                                </a:solidFill>
                                <a:latin typeface="Cambria Math" panose="02040503050406030204" pitchFamily="18" charset="0"/>
                                <a:ea typeface="MiSans" pitchFamily="34" charset="-122"/>
                                <a:cs typeface="MiSans" pitchFamily="34" charset="-120"/>
                              </a:rPr>
                              <m:t>𝑎</m:t>
                            </m:r>
                            <m:r>
                              <a:rPr lang="en-US" sz="1800" i="1" dirty="0" err="1" smtClean="0">
                                <a:solidFill>
                                  <a:srgbClr val="FFFFFF"/>
                                </a:solidFill>
                                <a:latin typeface="Cambria Math" panose="02040503050406030204" pitchFamily="18" charset="0"/>
                                <a:ea typeface="MiSans" pitchFamily="34" charset="-122"/>
                                <a:cs typeface="MiSans" pitchFamily="34" charset="-120"/>
                              </a:rPr>
                              <m:t>,</m:t>
                            </m:r>
                            <m:sSup>
                              <m:sSupPr>
                                <m:ctrlPr>
                                  <a:rPr lang="en-US" sz="1800" i="1" dirty="0" smtClean="0">
                                    <a:solidFill>
                                      <a:srgbClr val="FFFFFF"/>
                                    </a:solidFill>
                                    <a:latin typeface="Cambria Math" panose="02040503050406030204" pitchFamily="18" charset="0"/>
                                    <a:ea typeface="MiSans" pitchFamily="34" charset="-122"/>
                                    <a:cs typeface="MiSans" pitchFamily="34" charset="-120"/>
                                  </a:rPr>
                                </m:ctrlPr>
                              </m:sSupPr>
                              <m:e>
                                <m:r>
                                  <a:rPr lang="en-US" sz="1800" i="1" dirty="0" err="1" smtClean="0">
                                    <a:solidFill>
                                      <a:srgbClr val="FFFFFF"/>
                                    </a:solidFill>
                                    <a:latin typeface="Cambria Math" panose="02040503050406030204" pitchFamily="18" charset="0"/>
                                    <a:ea typeface="MiSans" pitchFamily="34" charset="-122"/>
                                    <a:cs typeface="MiSans" pitchFamily="34" charset="-120"/>
                                  </a:rPr>
                                  <m:t>𝑠</m:t>
                                </m:r>
                              </m:e>
                              <m:sup>
                                <m:r>
                                  <a:rPr lang="en-US" sz="1800" i="1" dirty="0" smtClean="0">
                                    <a:solidFill>
                                      <a:srgbClr val="FFFFFF"/>
                                    </a:solidFill>
                                    <a:latin typeface="Cambria Math" panose="02040503050406030204" pitchFamily="18" charset="0"/>
                                    <a:ea typeface="MiSans" pitchFamily="34" charset="-122"/>
                                    <a:cs typeface="MiSans" pitchFamily="34" charset="-120"/>
                                  </a:rPr>
                                  <m:t>′</m:t>
                                </m:r>
                              </m:sup>
                            </m:sSup>
                          </m:e>
                        </m:d>
                        <m:r>
                          <a:rPr lang="en-US" sz="1800" i="1" dirty="0" smtClean="0">
                            <a:solidFill>
                              <a:srgbClr val="FFFFFF"/>
                            </a:solidFill>
                            <a:latin typeface="Cambria Math" panose="02040503050406030204" pitchFamily="18" charset="0"/>
                            <a:ea typeface="MiSans" pitchFamily="34" charset="-122"/>
                            <a:cs typeface="MiSans" pitchFamily="34" charset="-120"/>
                          </a:rPr>
                          <m:t>+</m:t>
                        </m:r>
                        <m:r>
                          <a:rPr lang="en-US" sz="1800" i="1" dirty="0" smtClean="0">
                            <a:solidFill>
                              <a:srgbClr val="FFFFFF"/>
                            </a:solidFill>
                            <a:latin typeface="Cambria Math" panose="02040503050406030204" pitchFamily="18" charset="0"/>
                            <a:ea typeface="MiSans" pitchFamily="34" charset="-122"/>
                            <a:cs typeface="MiSans" pitchFamily="34" charset="-120"/>
                          </a:rPr>
                          <m:t>𝛾</m:t>
                        </m:r>
                        <m:func>
                          <m:funcPr>
                            <m:ctrlPr>
                              <a:rPr lang="en-US" sz="1800" i="1" dirty="0" smtClean="0">
                                <a:solidFill>
                                  <a:srgbClr val="FFFFFF"/>
                                </a:solidFill>
                                <a:latin typeface="Cambria Math" panose="02040503050406030204" pitchFamily="18" charset="0"/>
                                <a:ea typeface="MiSans" pitchFamily="34" charset="-122"/>
                                <a:cs typeface="MiSans" pitchFamily="34" charset="-120"/>
                              </a:rPr>
                            </m:ctrlPr>
                          </m:funcPr>
                          <m:fName>
                            <m:limLow>
                              <m:limLowPr>
                                <m:ctrlPr>
                                  <a:rPr lang="en-US" sz="1800" i="1" dirty="0" smtClean="0">
                                    <a:solidFill>
                                      <a:srgbClr val="FFFFFF"/>
                                    </a:solidFill>
                                    <a:latin typeface="Cambria Math" panose="02040503050406030204" pitchFamily="18" charset="0"/>
                                    <a:ea typeface="MiSans" pitchFamily="34" charset="-122"/>
                                    <a:cs typeface="MiSans" pitchFamily="34" charset="-120"/>
                                  </a:rPr>
                                </m:ctrlPr>
                              </m:limLowPr>
                              <m:e>
                                <m:r>
                                  <m:rPr>
                                    <m:sty m:val="p"/>
                                  </m:rPr>
                                  <a:rPr lang="en-US" sz="1800" i="0" dirty="0" smtClean="0">
                                    <a:solidFill>
                                      <a:srgbClr val="FFFFFF"/>
                                    </a:solidFill>
                                    <a:latin typeface="Cambria Math" panose="02040503050406030204" pitchFamily="18" charset="0"/>
                                    <a:ea typeface="MiSans" pitchFamily="34" charset="-122"/>
                                    <a:cs typeface="MiSans" pitchFamily="34" charset="-120"/>
                                  </a:rPr>
                                  <m:t>max</m:t>
                                </m:r>
                              </m:e>
                              <m:lim>
                                <m:sSup>
                                  <m:sSupPr>
                                    <m:ctrlPr>
                                      <a:rPr lang="en-US" sz="1800" i="1" dirty="0" smtClean="0">
                                        <a:solidFill>
                                          <a:srgbClr val="FFFFFF"/>
                                        </a:solidFill>
                                        <a:latin typeface="Cambria Math" panose="02040503050406030204" pitchFamily="18" charset="0"/>
                                        <a:ea typeface="MiSans" pitchFamily="34" charset="-122"/>
                                        <a:cs typeface="MiSans" pitchFamily="34" charset="-120"/>
                                      </a:rPr>
                                    </m:ctrlPr>
                                  </m:sSupPr>
                                  <m:e>
                                    <m:r>
                                      <a:rPr lang="en-US" sz="1800" i="1" dirty="0" smtClean="0">
                                        <a:solidFill>
                                          <a:srgbClr val="FFFFFF"/>
                                        </a:solidFill>
                                        <a:latin typeface="Cambria Math" panose="02040503050406030204" pitchFamily="18" charset="0"/>
                                        <a:ea typeface="MiSans" pitchFamily="34" charset="-122"/>
                                        <a:cs typeface="MiSans" pitchFamily="34" charset="-120"/>
                                      </a:rPr>
                                      <m:t>𝑎</m:t>
                                    </m:r>
                                  </m:e>
                                  <m:sup>
                                    <m:r>
                                      <a:rPr lang="en-US" sz="1800" i="1" dirty="0" smtClean="0">
                                        <a:solidFill>
                                          <a:srgbClr val="FFFFFF"/>
                                        </a:solidFill>
                                        <a:latin typeface="Cambria Math" panose="02040503050406030204" pitchFamily="18" charset="0"/>
                                        <a:ea typeface="MiSans" pitchFamily="34" charset="-122"/>
                                        <a:cs typeface="MiSans" pitchFamily="34" charset="-120"/>
                                      </a:rPr>
                                      <m:t>′</m:t>
                                    </m:r>
                                  </m:sup>
                                </m:sSup>
                              </m:lim>
                            </m:limLow>
                          </m:fName>
                          <m:e>
                            <m:sSup>
                              <m:sSupPr>
                                <m:ctrlPr>
                                  <a:rPr lang="en-US" sz="1800" i="1" dirty="0" smtClean="0">
                                    <a:solidFill>
                                      <a:srgbClr val="FFFFFF"/>
                                    </a:solidFill>
                                    <a:latin typeface="Cambria Math" panose="02040503050406030204" pitchFamily="18" charset="0"/>
                                    <a:ea typeface="MiSans" pitchFamily="34" charset="-122"/>
                                    <a:cs typeface="MiSans" pitchFamily="34" charset="-120"/>
                                  </a:rPr>
                                </m:ctrlPr>
                              </m:sSupPr>
                              <m:e>
                                <m:r>
                                  <a:rPr lang="en-US" sz="1800" i="1" dirty="0" smtClean="0">
                                    <a:solidFill>
                                      <a:srgbClr val="FFFFFF"/>
                                    </a:solidFill>
                                    <a:latin typeface="Cambria Math" panose="02040503050406030204" pitchFamily="18" charset="0"/>
                                    <a:ea typeface="MiSans" pitchFamily="34" charset="-122"/>
                                    <a:cs typeface="MiSans" pitchFamily="34" charset="-120"/>
                                  </a:rPr>
                                  <m:t>𝑄</m:t>
                                </m:r>
                              </m:e>
                              <m:sup>
                                <m:r>
                                  <a:rPr lang="en-US" sz="1800" i="1" dirty="0" smtClean="0">
                                    <a:solidFill>
                                      <a:srgbClr val="FFFFFF"/>
                                    </a:solidFill>
                                    <a:latin typeface="Cambria Math" panose="02040503050406030204" pitchFamily="18" charset="0"/>
                                    <a:ea typeface="MiSans" pitchFamily="34" charset="-122"/>
                                    <a:cs typeface="MiSans" pitchFamily="34" charset="-120"/>
                                  </a:rPr>
                                  <m:t>∗</m:t>
                                </m:r>
                              </m:sup>
                            </m:sSup>
                          </m:e>
                        </m:func>
                        <m:d>
                          <m:dPr>
                            <m:ctrlPr>
                              <a:rPr lang="en-US" sz="1800" i="1" dirty="0" smtClean="0">
                                <a:solidFill>
                                  <a:srgbClr val="FFFFFF"/>
                                </a:solidFill>
                                <a:latin typeface="Cambria Math" panose="02040503050406030204" pitchFamily="18" charset="0"/>
                                <a:ea typeface="MiSans" pitchFamily="34" charset="-122"/>
                                <a:cs typeface="MiSans" pitchFamily="34" charset="-120"/>
                              </a:rPr>
                            </m:ctrlPr>
                          </m:dPr>
                          <m:e>
                            <m:sSup>
                              <m:sSupPr>
                                <m:ctrlPr>
                                  <a:rPr lang="en-US" sz="1800" i="1" dirty="0" smtClean="0">
                                    <a:solidFill>
                                      <a:srgbClr val="FFFFFF"/>
                                    </a:solidFill>
                                    <a:latin typeface="Cambria Math" panose="02040503050406030204" pitchFamily="18" charset="0"/>
                                    <a:ea typeface="MiSans" pitchFamily="34" charset="-122"/>
                                    <a:cs typeface="MiSans" pitchFamily="34" charset="-120"/>
                                  </a:rPr>
                                </m:ctrlPr>
                              </m:sSupPr>
                              <m:e>
                                <m:r>
                                  <a:rPr lang="en-US" sz="1800" i="1" dirty="0" smtClean="0">
                                    <a:solidFill>
                                      <a:srgbClr val="FFFFFF"/>
                                    </a:solidFill>
                                    <a:latin typeface="Cambria Math" panose="02040503050406030204" pitchFamily="18" charset="0"/>
                                    <a:ea typeface="MiSans" pitchFamily="34" charset="-122"/>
                                    <a:cs typeface="MiSans" pitchFamily="34" charset="-120"/>
                                  </a:rPr>
                                  <m:t>𝑠</m:t>
                                </m:r>
                              </m:e>
                              <m:sup>
                                <m:r>
                                  <a:rPr lang="en-US" sz="1800" i="1" dirty="0" smtClean="0">
                                    <a:solidFill>
                                      <a:srgbClr val="FFFFFF"/>
                                    </a:solidFill>
                                    <a:latin typeface="Cambria Math" panose="02040503050406030204" pitchFamily="18" charset="0"/>
                                    <a:ea typeface="MiSans" pitchFamily="34" charset="-122"/>
                                    <a:cs typeface="MiSans" pitchFamily="34" charset="-120"/>
                                  </a:rPr>
                                  <m:t>′</m:t>
                                </m:r>
                              </m:sup>
                            </m:sSup>
                            <m:r>
                              <a:rPr lang="en-US" sz="1800" i="1" dirty="0" smtClean="0">
                                <a:solidFill>
                                  <a:srgbClr val="FFFFFF"/>
                                </a:solidFill>
                                <a:latin typeface="Cambria Math" panose="02040503050406030204" pitchFamily="18" charset="0"/>
                                <a:ea typeface="MiSans" pitchFamily="34" charset="-122"/>
                                <a:cs typeface="MiSans" pitchFamily="34" charset="-120"/>
                              </a:rPr>
                              <m:t>,</m:t>
                            </m:r>
                            <m:sSup>
                              <m:sSupPr>
                                <m:ctrlPr>
                                  <a:rPr lang="en-US" sz="1800" i="1" dirty="0" smtClean="0">
                                    <a:solidFill>
                                      <a:srgbClr val="FFFFFF"/>
                                    </a:solidFill>
                                    <a:latin typeface="Cambria Math" panose="02040503050406030204" pitchFamily="18" charset="0"/>
                                    <a:ea typeface="MiSans" pitchFamily="34" charset="-122"/>
                                    <a:cs typeface="MiSans" pitchFamily="34" charset="-120"/>
                                  </a:rPr>
                                </m:ctrlPr>
                              </m:sSupPr>
                              <m:e>
                                <m:r>
                                  <a:rPr lang="en-US" sz="1800" i="1" dirty="0" smtClean="0">
                                    <a:solidFill>
                                      <a:srgbClr val="FFFFFF"/>
                                    </a:solidFill>
                                    <a:latin typeface="Cambria Math" panose="02040503050406030204" pitchFamily="18" charset="0"/>
                                    <a:ea typeface="MiSans" pitchFamily="34" charset="-122"/>
                                    <a:cs typeface="MiSans" pitchFamily="34" charset="-120"/>
                                  </a:rPr>
                                  <m:t>𝑎</m:t>
                                </m:r>
                              </m:e>
                              <m:sup>
                                <m:r>
                                  <a:rPr lang="en-US" sz="1800" i="1" dirty="0" smtClean="0">
                                    <a:solidFill>
                                      <a:srgbClr val="FFFFFF"/>
                                    </a:solidFill>
                                    <a:latin typeface="Cambria Math" panose="02040503050406030204" pitchFamily="18" charset="0"/>
                                    <a:ea typeface="MiSans" pitchFamily="34" charset="-122"/>
                                    <a:cs typeface="MiSans" pitchFamily="34" charset="-120"/>
                                  </a:rPr>
                                  <m:t>′</m:t>
                                </m:r>
                              </m:sup>
                            </m:sSup>
                          </m:e>
                        </m:d>
                      </m:e>
                    </m:d>
                  </m:oMath>
                </a14:m>
                <a:endParaRPr lang="en-US" sz="1800" dirty="0">
                  <a:solidFill>
                    <a:srgbClr val="FFFFFF"/>
                  </a:solidFill>
                  <a:latin typeface="MiSans" pitchFamily="34" charset="0"/>
                  <a:ea typeface="MiSans" pitchFamily="34" charset="-122"/>
                  <a:cs typeface="MiSans" pitchFamily="34" charset="-120"/>
                </a:endParaRPr>
              </a:p>
              <a:p>
                <a:pPr>
                  <a:lnSpc>
                    <a:spcPct val="130000"/>
                  </a:lnSpc>
                </a:pPr>
                <a:r>
                  <a:rPr lang="en-US" sz="1800" dirty="0">
                    <a:solidFill>
                      <a:srgbClr val="FFFFFF"/>
                    </a:solidFill>
                    <a:latin typeface="MiSans" pitchFamily="34" charset="0"/>
                    <a:ea typeface="MiSans" pitchFamily="34" charset="-122"/>
                    <a:cs typeface="MiSans" pitchFamily="34" charset="-120"/>
                  </a:rPr>
                  <a:t>The Bellman optimality equation states that the optimal action-value Q*(s, a) equals the immediate reward plus the maximum value of the next state, discounted by γ. This recursive relationship underpins value-based reinforcement learning.</a:t>
                </a:r>
                <a:endParaRPr lang="en-US" sz="1600" dirty="0"/>
              </a:p>
            </p:txBody>
          </p:sp>
        </mc:Choice>
        <mc:Fallback>
          <p:sp>
            <p:nvSpPr>
              <p:cNvPr id="21" name="Text 18"/>
              <p:cNvSpPr>
                <a:spLocks noRot="1" noChangeAspect="1" noMove="1" noResize="1" noEditPoints="1" noAdjustHandles="1" noChangeArrowheads="1" noChangeShapeType="1" noTextEdit="1"/>
              </p:cNvSpPr>
              <p:nvPr/>
            </p:nvSpPr>
            <p:spPr>
              <a:xfrm>
                <a:off x="7442199" y="2438400"/>
                <a:ext cx="4663661" cy="3124200"/>
              </a:xfrm>
              <a:prstGeom prst="rect">
                <a:avLst/>
              </a:prstGeom>
              <a:blipFill>
                <a:blip r:embed="rId3"/>
                <a:stretch>
                  <a:fillRect l="-1176" t="-12671" b="-9162"/>
                </a:stretch>
              </a:blipFill>
              <a:ln/>
            </p:spPr>
            <p:txBody>
              <a:bodyPr/>
              <a:lstStyle/>
              <a:p>
                <a:r>
                  <a:rPr lang="zh-CN" altLang="en-US">
                    <a:noFill/>
                  </a:rPr>
                  <a:t> </a:t>
                </a:r>
              </a:p>
            </p:txBody>
          </p:sp>
        </mc:Fallback>
      </mc:AlternateContent>
      <p:pic>
        <p:nvPicPr>
          <p:cNvPr id="23" name="图片 22">
            <a:extLst>
              <a:ext uri="{FF2B5EF4-FFF2-40B4-BE49-F238E27FC236}">
                <a16:creationId xmlns:a16="http://schemas.microsoft.com/office/drawing/2014/main" id="{CCC3188B-B5F5-BABB-7D21-F4E684E82091}"/>
              </a:ext>
            </a:extLst>
          </p:cNvPr>
          <p:cNvPicPr>
            <a:picLocks noChangeAspect="1"/>
          </p:cNvPicPr>
          <p:nvPr/>
        </p:nvPicPr>
        <p:blipFill>
          <a:blip r:embed="rId4"/>
          <a:stretch>
            <a:fillRect/>
          </a:stretch>
        </p:blipFill>
        <p:spPr>
          <a:xfrm>
            <a:off x="237490" y="1923636"/>
            <a:ext cx="6596640" cy="3701912"/>
          </a:xfrm>
          <a:prstGeom prst="rect">
            <a:avLst/>
          </a:prstGeom>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8100000" flipH="1" flipV="1">
            <a:off x="457835" y="315595"/>
            <a:ext cx="525780" cy="525780"/>
          </a:xfrm>
          <a:prstGeom prst="ellipse">
            <a:avLst/>
          </a:prstGeom>
          <a:gradFill flip="none" rotWithShape="1">
            <a:gsLst>
              <a:gs pos="0">
                <a:srgbClr val="D3BDA6">
                  <a:alpha val="0"/>
                </a:srgbClr>
              </a:gs>
              <a:gs pos="100000">
                <a:srgbClr val="B48E67">
                  <a:alpha val="67000"/>
                </a:srgbClr>
              </a:gs>
            </a:gsLst>
            <a:lin ang="16200000" scaled="1"/>
          </a:gradFill>
          <a:ln/>
        </p:spPr>
      </p:sp>
      <p:sp>
        <p:nvSpPr>
          <p:cNvPr id="3" name="Text 1"/>
          <p:cNvSpPr/>
          <p:nvPr/>
        </p:nvSpPr>
        <p:spPr>
          <a:xfrm rot="8100000">
            <a:off x="457835" y="315595"/>
            <a:ext cx="525780" cy="525780"/>
          </a:xfrm>
          <a:prstGeom prst="rect">
            <a:avLst/>
          </a:prstGeom>
          <a:noFill/>
          <a:ln/>
        </p:spPr>
        <p:txBody>
          <a:bodyPr wrap="square" lIns="45720" tIns="91440" rIns="91440" bIns="45720" rtlCol="0" anchor="ctr"/>
          <a:lstStyle/>
          <a:p>
            <a:pPr>
              <a:lnSpc>
                <a:spcPct val="100000"/>
              </a:lnSpc>
            </a:pPr>
            <a:endParaRPr lang="en-US" sz="1600" dirty="0"/>
          </a:p>
        </p:txBody>
      </p:sp>
      <p:pic>
        <p:nvPicPr>
          <p:cNvPr id="4" name="Image 0" descr="https://kimi-img.moonshot.cn/pub/slides/slides_tmpl/image/25-09-04-16:31:14-d2skskm1bb2p4onbqiig.png"/>
          <p:cNvPicPr>
            <a:picLocks noChangeAspect="1"/>
          </p:cNvPicPr>
          <p:nvPr/>
        </p:nvPicPr>
        <p:blipFill>
          <a:blip r:embed="rId3"/>
          <a:srcRect l="5" r="5"/>
          <a:stretch/>
        </p:blipFill>
        <p:spPr>
          <a:xfrm>
            <a:off x="-9525" y="-19685"/>
            <a:ext cx="12197080" cy="6890385"/>
          </a:xfrm>
          <a:prstGeom prst="rect">
            <a:avLst/>
          </a:prstGeom>
        </p:spPr>
      </p:pic>
      <p:sp>
        <p:nvSpPr>
          <p:cNvPr id="5" name="Text 2"/>
          <p:cNvSpPr/>
          <p:nvPr/>
        </p:nvSpPr>
        <p:spPr>
          <a:xfrm>
            <a:off x="667385" y="524510"/>
            <a:ext cx="6272530" cy="499467"/>
          </a:xfrm>
          <a:prstGeom prst="rect">
            <a:avLst/>
          </a:prstGeom>
          <a:noFill/>
          <a:ln/>
        </p:spPr>
        <p:txBody>
          <a:bodyPr wrap="square" lIns="91440" tIns="45720" rIns="91440" bIns="45720" rtlCol="0" anchor="t">
            <a:spAutoFit/>
          </a:bodyPr>
          <a:lstStyle/>
          <a:p>
            <a:pPr>
              <a:lnSpc>
                <a:spcPct val="100000"/>
              </a:lnSpc>
            </a:pPr>
            <a:r>
              <a:rPr lang="en-US" sz="3200" b="1" dirty="0">
                <a:solidFill>
                  <a:srgbClr val="2B2F36"/>
                </a:solidFill>
                <a:latin typeface="MiSans" pitchFamily="34" charset="0"/>
                <a:ea typeface="MiSans" pitchFamily="34" charset="-122"/>
                <a:cs typeface="MiSans" pitchFamily="34" charset="-120"/>
              </a:rPr>
              <a:t>Q-Learning Update Rule</a:t>
            </a:r>
            <a:endParaRPr lang="en-US" sz="1600" dirty="0"/>
          </a:p>
        </p:txBody>
      </p:sp>
      <p:sp>
        <p:nvSpPr>
          <p:cNvPr id="6" name="Shape 3"/>
          <p:cNvSpPr/>
          <p:nvPr/>
        </p:nvSpPr>
        <p:spPr>
          <a:xfrm>
            <a:off x="991235" y="1871345"/>
            <a:ext cx="3147695" cy="4275455"/>
          </a:xfrm>
          <a:prstGeom prst="roundRect">
            <a:avLst>
              <a:gd name="adj" fmla="val 7796"/>
            </a:avLst>
          </a:prstGeom>
          <a:solidFill>
            <a:srgbClr val="FFFFFF"/>
          </a:solidFill>
          <a:ln w="19050">
            <a:solidFill>
              <a:srgbClr val="D3BDA6"/>
            </a:solidFill>
            <a:prstDash val="solid"/>
          </a:ln>
        </p:spPr>
      </p:sp>
      <p:sp>
        <p:nvSpPr>
          <p:cNvPr id="7" name="Text 4"/>
          <p:cNvSpPr/>
          <p:nvPr/>
        </p:nvSpPr>
        <p:spPr>
          <a:xfrm>
            <a:off x="991235" y="1871345"/>
            <a:ext cx="3147695" cy="427545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5"/>
          <p:cNvSpPr/>
          <p:nvPr/>
        </p:nvSpPr>
        <p:spPr>
          <a:xfrm>
            <a:off x="2135505" y="1508125"/>
            <a:ext cx="859790" cy="904875"/>
          </a:xfrm>
          <a:prstGeom prst="ellipse">
            <a:avLst/>
          </a:prstGeom>
          <a:gradFill flip="none" rotWithShape="1">
            <a:gsLst>
              <a:gs pos="0">
                <a:srgbClr val="D3BDA6"/>
              </a:gs>
              <a:gs pos="100000">
                <a:srgbClr val="AB8A7D"/>
              </a:gs>
            </a:gsLst>
            <a:lin ang="2700000" scaled="1"/>
          </a:gradFill>
          <a:ln/>
        </p:spPr>
      </p:sp>
      <p:sp>
        <p:nvSpPr>
          <p:cNvPr id="9" name="Text 6"/>
          <p:cNvSpPr/>
          <p:nvPr/>
        </p:nvSpPr>
        <p:spPr>
          <a:xfrm>
            <a:off x="2135505" y="1508125"/>
            <a:ext cx="859790" cy="904875"/>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7"/>
          <p:cNvSpPr/>
          <p:nvPr/>
        </p:nvSpPr>
        <p:spPr>
          <a:xfrm>
            <a:off x="4509135" y="1871345"/>
            <a:ext cx="3147695" cy="4275455"/>
          </a:xfrm>
          <a:prstGeom prst="roundRect">
            <a:avLst>
              <a:gd name="adj" fmla="val 7796"/>
            </a:avLst>
          </a:prstGeom>
          <a:solidFill>
            <a:srgbClr val="FFFFFF"/>
          </a:solidFill>
          <a:ln w="19050">
            <a:solidFill>
              <a:srgbClr val="D3BDA6"/>
            </a:solidFill>
            <a:prstDash val="solid"/>
          </a:ln>
        </p:spPr>
      </p:sp>
      <p:sp>
        <p:nvSpPr>
          <p:cNvPr id="11" name="Text 8"/>
          <p:cNvSpPr/>
          <p:nvPr/>
        </p:nvSpPr>
        <p:spPr>
          <a:xfrm>
            <a:off x="4509135" y="1871345"/>
            <a:ext cx="3147695" cy="4275455"/>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9"/>
          <p:cNvSpPr/>
          <p:nvPr/>
        </p:nvSpPr>
        <p:spPr>
          <a:xfrm>
            <a:off x="5653405" y="1508125"/>
            <a:ext cx="859790" cy="904875"/>
          </a:xfrm>
          <a:prstGeom prst="ellipse">
            <a:avLst/>
          </a:prstGeom>
          <a:gradFill flip="none" rotWithShape="1">
            <a:gsLst>
              <a:gs pos="0">
                <a:srgbClr val="D3BDA6"/>
              </a:gs>
              <a:gs pos="100000">
                <a:srgbClr val="AB8A7D"/>
              </a:gs>
            </a:gsLst>
            <a:lin ang="2700000" scaled="1"/>
          </a:gradFill>
          <a:ln/>
        </p:spPr>
      </p:sp>
      <p:sp>
        <p:nvSpPr>
          <p:cNvPr id="13" name="Text 10"/>
          <p:cNvSpPr/>
          <p:nvPr/>
        </p:nvSpPr>
        <p:spPr>
          <a:xfrm>
            <a:off x="5653405" y="1508125"/>
            <a:ext cx="859790" cy="904875"/>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1"/>
          <p:cNvSpPr/>
          <p:nvPr/>
        </p:nvSpPr>
        <p:spPr>
          <a:xfrm>
            <a:off x="8027035" y="1871345"/>
            <a:ext cx="3147695" cy="4275455"/>
          </a:xfrm>
          <a:prstGeom prst="roundRect">
            <a:avLst>
              <a:gd name="adj" fmla="val 7796"/>
            </a:avLst>
          </a:prstGeom>
          <a:solidFill>
            <a:srgbClr val="FFFFFF"/>
          </a:solidFill>
          <a:ln w="19050">
            <a:solidFill>
              <a:srgbClr val="D3BDA6"/>
            </a:solidFill>
            <a:prstDash val="solid"/>
          </a:ln>
        </p:spPr>
      </p:sp>
      <p:sp>
        <p:nvSpPr>
          <p:cNvPr id="15" name="Text 12"/>
          <p:cNvSpPr/>
          <p:nvPr/>
        </p:nvSpPr>
        <p:spPr>
          <a:xfrm>
            <a:off x="8027035" y="1871345"/>
            <a:ext cx="3147695" cy="4275455"/>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3"/>
          <p:cNvSpPr/>
          <p:nvPr/>
        </p:nvSpPr>
        <p:spPr>
          <a:xfrm>
            <a:off x="9171305" y="1508125"/>
            <a:ext cx="859790" cy="904875"/>
          </a:xfrm>
          <a:prstGeom prst="ellipse">
            <a:avLst/>
          </a:prstGeom>
          <a:gradFill flip="none" rotWithShape="1">
            <a:gsLst>
              <a:gs pos="0">
                <a:srgbClr val="D3BDA6"/>
              </a:gs>
              <a:gs pos="100000">
                <a:srgbClr val="AB8A7D"/>
              </a:gs>
            </a:gsLst>
            <a:lin ang="2700000" scaled="1"/>
          </a:gradFill>
          <a:ln/>
        </p:spPr>
      </p:sp>
      <p:sp>
        <p:nvSpPr>
          <p:cNvPr id="17" name="Text 14"/>
          <p:cNvSpPr/>
          <p:nvPr/>
        </p:nvSpPr>
        <p:spPr>
          <a:xfrm>
            <a:off x="9171305" y="1508125"/>
            <a:ext cx="859790" cy="904875"/>
          </a:xfrm>
          <a:prstGeom prst="rect">
            <a:avLst/>
          </a:prstGeom>
          <a:noFill/>
          <a:ln/>
        </p:spPr>
        <p:txBody>
          <a:bodyPr wrap="square" lIns="45720" tIns="91440" rIns="91440" bIns="45720" rtlCol="0" anchor="ctr"/>
          <a:lstStyle/>
          <a:p>
            <a:pPr>
              <a:lnSpc>
                <a:spcPct val="100000"/>
              </a:lnSpc>
            </a:pPr>
            <a:endParaRPr lang="en-US" sz="1600" dirty="0"/>
          </a:p>
        </p:txBody>
      </p:sp>
      <p:sp>
        <p:nvSpPr>
          <p:cNvPr id="18" name="Text 15"/>
          <p:cNvSpPr/>
          <p:nvPr/>
        </p:nvSpPr>
        <p:spPr>
          <a:xfrm>
            <a:off x="2209800" y="1699895"/>
            <a:ext cx="710565" cy="429617"/>
          </a:xfrm>
          <a:prstGeom prst="rect">
            <a:avLst/>
          </a:prstGeom>
          <a:noFill/>
          <a:ln/>
        </p:spPr>
        <p:txBody>
          <a:bodyPr wrap="square" lIns="91440" tIns="45720" rIns="91440" bIns="45720" rtlCol="0" anchor="t">
            <a:spAutoFit/>
          </a:bodyPr>
          <a:lstStyle/>
          <a:p>
            <a:pPr>
              <a:lnSpc>
                <a:spcPct val="100000"/>
              </a:lnSpc>
            </a:pPr>
            <a:r>
              <a:rPr lang="en-US" sz="2800" b="1" dirty="0">
                <a:solidFill>
                  <a:srgbClr val="FFFFFF"/>
                </a:solidFill>
                <a:latin typeface="MiSans" pitchFamily="34" charset="0"/>
                <a:ea typeface="MiSans" pitchFamily="34" charset="-122"/>
                <a:cs typeface="MiSans" pitchFamily="34" charset="-120"/>
              </a:rPr>
              <a:t>01</a:t>
            </a:r>
            <a:endParaRPr lang="en-US" sz="1600" dirty="0"/>
          </a:p>
        </p:txBody>
      </p:sp>
      <p:sp>
        <p:nvSpPr>
          <p:cNvPr id="19" name="Text 16"/>
          <p:cNvSpPr/>
          <p:nvPr/>
        </p:nvSpPr>
        <p:spPr>
          <a:xfrm>
            <a:off x="1151255" y="2642870"/>
            <a:ext cx="2828290" cy="284559"/>
          </a:xfrm>
          <a:prstGeom prst="rect">
            <a:avLst/>
          </a:prstGeom>
          <a:noFill/>
          <a:ln/>
        </p:spPr>
        <p:txBody>
          <a:bodyPr wrap="square" lIns="91440" tIns="45720" rIns="91440" bIns="45720" rtlCol="0" anchor="t">
            <a:spAutoFit/>
          </a:bodyPr>
          <a:lstStyle/>
          <a:p>
            <a:pPr>
              <a:lnSpc>
                <a:spcPct val="100000"/>
              </a:lnSpc>
            </a:pPr>
            <a:r>
              <a:rPr lang="en-US" sz="1800" b="1" dirty="0">
                <a:solidFill>
                  <a:srgbClr val="DBB479"/>
                </a:solidFill>
                <a:latin typeface="MiSans" pitchFamily="34" charset="0"/>
                <a:ea typeface="MiSans" pitchFamily="34" charset="-122"/>
                <a:cs typeface="MiSans" pitchFamily="34" charset="-120"/>
              </a:rPr>
              <a:t>Update Mechanism</a:t>
            </a:r>
            <a:endParaRPr lang="en-US" sz="1600" dirty="0"/>
          </a:p>
        </p:txBody>
      </p:sp>
      <p:sp>
        <p:nvSpPr>
          <p:cNvPr id="20" name="Text 17"/>
          <p:cNvSpPr/>
          <p:nvPr/>
        </p:nvSpPr>
        <p:spPr>
          <a:xfrm>
            <a:off x="1151255" y="3270250"/>
            <a:ext cx="2828290" cy="2560042"/>
          </a:xfrm>
          <a:prstGeom prst="rect">
            <a:avLst/>
          </a:prstGeom>
          <a:noFill/>
          <a:ln/>
        </p:spPr>
        <p:txBody>
          <a:bodyPr wrap="square" lIns="91440" tIns="45720" rIns="91440" bIns="45720" rtlCol="0" anchor="t">
            <a:spAutoFit/>
          </a:bodyPr>
          <a:lstStyle/>
          <a:p>
            <a:pPr>
              <a:lnSpc>
                <a:spcPct val="150000"/>
              </a:lnSpc>
            </a:pPr>
            <a:r>
              <a:rPr lang="en-US" sz="1400" dirty="0">
                <a:solidFill>
                  <a:srgbClr val="2C3741"/>
                </a:solidFill>
                <a:latin typeface="MiSans" pitchFamily="34" charset="0"/>
                <a:ea typeface="MiSans" pitchFamily="34" charset="-122"/>
                <a:cs typeface="MiSans" pitchFamily="34" charset="-120"/>
              </a:rPr>
              <a:t>Q-learning updates its action-value estimates using the temporal-difference error between the current estimate and the newly observed reward plus the best next-state value. The learning rate α controls the update step size.</a:t>
            </a:r>
            <a:endParaRPr lang="en-US" sz="1600" dirty="0"/>
          </a:p>
        </p:txBody>
      </p:sp>
      <p:sp>
        <p:nvSpPr>
          <p:cNvPr id="21" name="Text 18"/>
          <p:cNvSpPr/>
          <p:nvPr/>
        </p:nvSpPr>
        <p:spPr>
          <a:xfrm>
            <a:off x="5727700" y="1699895"/>
            <a:ext cx="710565" cy="429617"/>
          </a:xfrm>
          <a:prstGeom prst="rect">
            <a:avLst/>
          </a:prstGeom>
          <a:noFill/>
          <a:ln/>
        </p:spPr>
        <p:txBody>
          <a:bodyPr wrap="square" lIns="91440" tIns="45720" rIns="91440" bIns="45720" rtlCol="0" anchor="t">
            <a:spAutoFit/>
          </a:bodyPr>
          <a:lstStyle/>
          <a:p>
            <a:pPr>
              <a:lnSpc>
                <a:spcPct val="100000"/>
              </a:lnSpc>
            </a:pPr>
            <a:r>
              <a:rPr lang="en-US" sz="2800" b="1" dirty="0">
                <a:solidFill>
                  <a:srgbClr val="FFFFFF"/>
                </a:solidFill>
                <a:latin typeface="MiSans" pitchFamily="34" charset="0"/>
                <a:ea typeface="MiSans" pitchFamily="34" charset="-122"/>
                <a:cs typeface="MiSans" pitchFamily="34" charset="-120"/>
              </a:rPr>
              <a:t>02</a:t>
            </a:r>
            <a:endParaRPr lang="en-US" sz="1600" dirty="0"/>
          </a:p>
        </p:txBody>
      </p:sp>
      <p:sp>
        <p:nvSpPr>
          <p:cNvPr id="22" name="Text 19"/>
          <p:cNvSpPr/>
          <p:nvPr/>
        </p:nvSpPr>
        <p:spPr>
          <a:xfrm>
            <a:off x="4669155" y="2642870"/>
            <a:ext cx="2828290" cy="284559"/>
          </a:xfrm>
          <a:prstGeom prst="rect">
            <a:avLst/>
          </a:prstGeom>
          <a:noFill/>
          <a:ln/>
        </p:spPr>
        <p:txBody>
          <a:bodyPr wrap="square" lIns="91440" tIns="45720" rIns="91440" bIns="45720" rtlCol="0" anchor="t">
            <a:spAutoFit/>
          </a:bodyPr>
          <a:lstStyle/>
          <a:p>
            <a:pPr>
              <a:lnSpc>
                <a:spcPct val="100000"/>
              </a:lnSpc>
            </a:pPr>
            <a:r>
              <a:rPr lang="en-US" sz="1800" b="1" dirty="0">
                <a:solidFill>
                  <a:srgbClr val="DBB479"/>
                </a:solidFill>
                <a:latin typeface="MiSans" pitchFamily="34" charset="0"/>
                <a:ea typeface="MiSans" pitchFamily="34" charset="-122"/>
                <a:cs typeface="MiSans" pitchFamily="34" charset="-120"/>
              </a:rPr>
              <a:t>Off-policy Learning</a:t>
            </a:r>
            <a:endParaRPr lang="en-US" sz="1600" dirty="0"/>
          </a:p>
        </p:txBody>
      </p:sp>
      <p:sp>
        <p:nvSpPr>
          <p:cNvPr id="23" name="Text 20"/>
          <p:cNvSpPr/>
          <p:nvPr/>
        </p:nvSpPr>
        <p:spPr>
          <a:xfrm>
            <a:off x="4669155" y="3270250"/>
            <a:ext cx="2828290" cy="1920081"/>
          </a:xfrm>
          <a:prstGeom prst="rect">
            <a:avLst/>
          </a:prstGeom>
          <a:noFill/>
          <a:ln/>
        </p:spPr>
        <p:txBody>
          <a:bodyPr wrap="square" lIns="91440" tIns="45720" rIns="91440" bIns="45720" rtlCol="0" anchor="t">
            <a:spAutoFit/>
          </a:bodyPr>
          <a:lstStyle/>
          <a:p>
            <a:pPr>
              <a:lnSpc>
                <a:spcPct val="150000"/>
              </a:lnSpc>
            </a:pPr>
            <a:r>
              <a:rPr lang="en-US" sz="1400" dirty="0">
                <a:solidFill>
                  <a:srgbClr val="2C3741"/>
                </a:solidFill>
                <a:latin typeface="MiSans" pitchFamily="34" charset="0"/>
                <a:ea typeface="MiSans" pitchFamily="34" charset="-122"/>
                <a:cs typeface="MiSans" pitchFamily="34" charset="-120"/>
              </a:rPr>
              <a:t>A key feature of Q-learning is its off-policy nature, allowing it to learn the optimal policy even if the agent follows a different exploration policy. This flexibility enhances its applicability.</a:t>
            </a:r>
            <a:endParaRPr lang="en-US" sz="1600" dirty="0"/>
          </a:p>
        </p:txBody>
      </p:sp>
      <p:sp>
        <p:nvSpPr>
          <p:cNvPr id="24" name="Text 21"/>
          <p:cNvSpPr/>
          <p:nvPr/>
        </p:nvSpPr>
        <p:spPr>
          <a:xfrm>
            <a:off x="9245600" y="1699895"/>
            <a:ext cx="710565" cy="429617"/>
          </a:xfrm>
          <a:prstGeom prst="rect">
            <a:avLst/>
          </a:prstGeom>
          <a:noFill/>
          <a:ln/>
        </p:spPr>
        <p:txBody>
          <a:bodyPr wrap="square" lIns="91440" tIns="45720" rIns="91440" bIns="45720" rtlCol="0" anchor="t">
            <a:spAutoFit/>
          </a:bodyPr>
          <a:lstStyle/>
          <a:p>
            <a:pPr>
              <a:lnSpc>
                <a:spcPct val="100000"/>
              </a:lnSpc>
            </a:pPr>
            <a:r>
              <a:rPr lang="en-US" sz="2800" b="1" dirty="0">
                <a:solidFill>
                  <a:srgbClr val="FFFFFF"/>
                </a:solidFill>
                <a:latin typeface="MiSans" pitchFamily="34" charset="0"/>
                <a:ea typeface="MiSans" pitchFamily="34" charset="-122"/>
                <a:cs typeface="MiSans" pitchFamily="34" charset="-120"/>
              </a:rPr>
              <a:t>03</a:t>
            </a:r>
            <a:endParaRPr lang="en-US" sz="1600" dirty="0"/>
          </a:p>
        </p:txBody>
      </p:sp>
      <p:sp>
        <p:nvSpPr>
          <p:cNvPr id="25" name="Text 22"/>
          <p:cNvSpPr/>
          <p:nvPr/>
        </p:nvSpPr>
        <p:spPr>
          <a:xfrm>
            <a:off x="8187055" y="2642870"/>
            <a:ext cx="2828290" cy="284559"/>
          </a:xfrm>
          <a:prstGeom prst="rect">
            <a:avLst/>
          </a:prstGeom>
          <a:noFill/>
          <a:ln/>
        </p:spPr>
        <p:txBody>
          <a:bodyPr wrap="square" lIns="91440" tIns="45720" rIns="91440" bIns="45720" rtlCol="0" anchor="t">
            <a:spAutoFit/>
          </a:bodyPr>
          <a:lstStyle/>
          <a:p>
            <a:pPr>
              <a:lnSpc>
                <a:spcPct val="100000"/>
              </a:lnSpc>
            </a:pPr>
            <a:r>
              <a:rPr lang="en-US" sz="1800" b="1" dirty="0">
                <a:solidFill>
                  <a:srgbClr val="DBB479"/>
                </a:solidFill>
                <a:latin typeface="MiSans" pitchFamily="34" charset="0"/>
                <a:ea typeface="MiSans" pitchFamily="34" charset="-122"/>
                <a:cs typeface="MiSans" pitchFamily="34" charset="-120"/>
              </a:rPr>
              <a:t>Convergence Conditions</a:t>
            </a:r>
            <a:endParaRPr lang="en-US" sz="1600" dirty="0"/>
          </a:p>
        </p:txBody>
      </p:sp>
      <p:sp>
        <p:nvSpPr>
          <p:cNvPr id="26" name="Text 23"/>
          <p:cNvSpPr/>
          <p:nvPr/>
        </p:nvSpPr>
        <p:spPr>
          <a:xfrm>
            <a:off x="8187055" y="3270250"/>
            <a:ext cx="2828290" cy="2727029"/>
          </a:xfrm>
          <a:prstGeom prst="rect">
            <a:avLst/>
          </a:prstGeom>
          <a:noFill/>
          <a:ln/>
        </p:spPr>
        <p:txBody>
          <a:bodyPr wrap="square" lIns="91440" tIns="45720" rIns="91440" bIns="45720" rtlCol="0" anchor="t">
            <a:spAutoFit/>
          </a:bodyPr>
          <a:lstStyle/>
          <a:p>
            <a:pPr>
              <a:lnSpc>
                <a:spcPct val="150000"/>
              </a:lnSpc>
            </a:pPr>
            <a:r>
              <a:rPr lang="en-US" sz="1400" dirty="0">
                <a:solidFill>
                  <a:srgbClr val="2C3741"/>
                </a:solidFill>
                <a:latin typeface="MiSans" pitchFamily="34" charset="0"/>
                <a:ea typeface="MiSans" pitchFamily="34" charset="-122"/>
                <a:cs typeface="MiSans" pitchFamily="34" charset="-120"/>
              </a:rPr>
              <a:t>Under the Robbins-Monro conditions on the learning rate α and infinite visitation of every state-action pair, Q-learning converges to the optimal Q-function with probability one for finite MDPs.</a:t>
            </a:r>
          </a:p>
          <a:p>
            <a:pPr>
              <a:lnSpc>
                <a:spcPct val="150000"/>
              </a:lnSpc>
            </a:pPr>
            <a:r>
              <a:rPr lang="en-US" sz="1400" dirty="0">
                <a:solidFill>
                  <a:srgbClr val="2C3741"/>
                </a:solidFill>
                <a:latin typeface="MiSans" pitchFamily="34" charset="0"/>
                <a:ea typeface="MiSans" pitchFamily="34" charset="-122"/>
                <a:cs typeface="MiSans" pitchFamily="34" charset="-120"/>
              </a:rPr>
              <a:t>Result:</a:t>
            </a:r>
            <a:r>
              <a:rPr lang="zh-CN" altLang="en-US" sz="1400" dirty="0">
                <a:solidFill>
                  <a:srgbClr val="2C3741"/>
                </a:solidFill>
                <a:latin typeface="MiSans" pitchFamily="34" charset="0"/>
                <a:ea typeface="MiSans" pitchFamily="34" charset="-122"/>
                <a:cs typeface="MiSans" pitchFamily="34" charset="-120"/>
              </a:rPr>
              <a:t> </a:t>
            </a:r>
            <a:r>
              <a:rPr lang="en-US" altLang="zh-CN" sz="1600" dirty="0" err="1">
                <a:hlinkClick r:id="rId4"/>
              </a:rPr>
              <a:t>xiaziye</a:t>
            </a:r>
            <a:r>
              <a:rPr lang="en-US" altLang="zh-CN" sz="1600" dirty="0">
                <a:hlinkClick r:id="rId4"/>
              </a:rPr>
              <a:t>/</a:t>
            </a:r>
            <a:r>
              <a:rPr lang="en-US" altLang="zh-CN" sz="1600" dirty="0" err="1">
                <a:hlinkClick r:id="rId4"/>
              </a:rPr>
              <a:t>RL_for_Agent</a:t>
            </a:r>
            <a:endParaRPr lang="en-US" sz="1600" dirty="0"/>
          </a:p>
        </p:txBody>
      </p:sp>
      <mc:AlternateContent xmlns:mc="http://schemas.openxmlformats.org/markup-compatibility/2006">
        <mc:Choice xmlns:a14="http://schemas.microsoft.com/office/drawing/2010/main" Requires="a14">
          <p:sp>
            <p:nvSpPr>
              <p:cNvPr id="27" name="文本框 26">
                <a:extLst>
                  <a:ext uri="{FF2B5EF4-FFF2-40B4-BE49-F238E27FC236}">
                    <a16:creationId xmlns:a16="http://schemas.microsoft.com/office/drawing/2014/main" id="{F182CBC9-FC84-88A2-2E71-136A79BF91A2}"/>
                  </a:ext>
                </a:extLst>
              </p:cNvPr>
              <p:cNvSpPr txBox="1"/>
              <p:nvPr/>
            </p:nvSpPr>
            <p:spPr>
              <a:xfrm>
                <a:off x="5653405" y="524510"/>
                <a:ext cx="6293430" cy="524439"/>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𝑄</m:t>
                      </m:r>
                      <m:d>
                        <m:dPr>
                          <m:ctrlPr>
                            <a:rPr lang="en-US" altLang="zh-CN" i="1" dirty="0" smtClean="0">
                              <a:latin typeface="Cambria Math" panose="02040503050406030204" pitchFamily="18" charset="0"/>
                            </a:rPr>
                          </m:ctrlPr>
                        </m:dPr>
                        <m:e>
                          <m:sSub>
                            <m:sSubPr>
                              <m:ctrlPr>
                                <a:rPr lang="en-US" altLang="zh-CN" i="1" dirty="0" err="1" smtClean="0">
                                  <a:latin typeface="Cambria Math" panose="02040503050406030204" pitchFamily="18" charset="0"/>
                                </a:rPr>
                              </m:ctrlPr>
                            </m:sSubPr>
                            <m:e>
                              <m:r>
                                <a:rPr lang="en-US" altLang="zh-CN" i="1" dirty="0" err="1">
                                  <a:latin typeface="Cambria Math" panose="02040503050406030204" pitchFamily="18" charset="0"/>
                                </a:rPr>
                                <m:t>𝑠</m:t>
                              </m:r>
                            </m:e>
                            <m:sub>
                              <m:r>
                                <a:rPr lang="en-US" altLang="zh-CN" i="1" dirty="0" err="1">
                                  <a:latin typeface="Cambria Math" panose="02040503050406030204" pitchFamily="18" charset="0"/>
                                </a:rPr>
                                <m:t>𝑡</m:t>
                              </m:r>
                            </m:sub>
                          </m:sSub>
                          <m:r>
                            <a:rPr lang="en-US" altLang="zh-CN" i="1" dirty="0">
                              <a:latin typeface="Cambria Math" panose="02040503050406030204" pitchFamily="18" charset="0"/>
                            </a:rPr>
                            <m:t>,</m:t>
                          </m:r>
                          <m:sSub>
                            <m:sSubPr>
                              <m:ctrlPr>
                                <a:rPr lang="en-US" altLang="zh-CN" i="1" dirty="0" err="1">
                                  <a:latin typeface="Cambria Math" panose="02040503050406030204" pitchFamily="18" charset="0"/>
                                </a:rPr>
                              </m:ctrlPr>
                            </m:sSubPr>
                            <m:e>
                              <m:r>
                                <a:rPr lang="en-US" altLang="zh-CN" i="1" dirty="0" err="1">
                                  <a:latin typeface="Cambria Math" panose="02040503050406030204" pitchFamily="18" charset="0"/>
                                </a:rPr>
                                <m:t>𝑎</m:t>
                              </m:r>
                            </m:e>
                            <m:sub>
                              <m:r>
                                <a:rPr lang="en-US" altLang="zh-CN" i="1" dirty="0" err="1">
                                  <a:latin typeface="Cambria Math" panose="02040503050406030204" pitchFamily="18" charset="0"/>
                                </a:rPr>
                                <m:t>𝑡</m:t>
                              </m:r>
                            </m:sub>
                          </m:sSub>
                        </m:e>
                      </m:d>
                      <m:r>
                        <a:rPr lang="en-US" altLang="zh-CN" i="1" dirty="0">
                          <a:latin typeface="Cambria Math" panose="02040503050406030204" pitchFamily="18" charset="0"/>
                        </a:rPr>
                        <m:t>←</m:t>
                      </m:r>
                      <m:r>
                        <a:rPr lang="en-US" altLang="zh-CN" i="1" dirty="0">
                          <a:latin typeface="Cambria Math" panose="02040503050406030204" pitchFamily="18" charset="0"/>
                        </a:rPr>
                        <m:t>𝑄</m:t>
                      </m:r>
                      <m:d>
                        <m:dPr>
                          <m:ctrlPr>
                            <a:rPr lang="en-US" altLang="zh-CN" i="1" dirty="0">
                              <a:latin typeface="Cambria Math" panose="02040503050406030204" pitchFamily="18" charset="0"/>
                            </a:rPr>
                          </m:ctrlPr>
                        </m:dPr>
                        <m:e>
                          <m:sSub>
                            <m:sSubPr>
                              <m:ctrlPr>
                                <a:rPr lang="en-US" altLang="zh-CN" i="1" dirty="0" err="1">
                                  <a:latin typeface="Cambria Math" panose="02040503050406030204" pitchFamily="18" charset="0"/>
                                </a:rPr>
                              </m:ctrlPr>
                            </m:sSubPr>
                            <m:e>
                              <m:r>
                                <a:rPr lang="en-US" altLang="zh-CN" i="1" dirty="0" err="1">
                                  <a:latin typeface="Cambria Math" panose="02040503050406030204" pitchFamily="18" charset="0"/>
                                </a:rPr>
                                <m:t>𝑠</m:t>
                              </m:r>
                            </m:e>
                            <m:sub>
                              <m:r>
                                <a:rPr lang="en-US" altLang="zh-CN" i="1" dirty="0" err="1">
                                  <a:latin typeface="Cambria Math" panose="02040503050406030204" pitchFamily="18" charset="0"/>
                                </a:rPr>
                                <m:t>𝑡</m:t>
                              </m:r>
                            </m:sub>
                          </m:sSub>
                          <m:r>
                            <a:rPr lang="en-US" altLang="zh-CN" i="1" dirty="0">
                              <a:latin typeface="Cambria Math" panose="02040503050406030204" pitchFamily="18" charset="0"/>
                            </a:rPr>
                            <m:t>,</m:t>
                          </m:r>
                          <m:sSub>
                            <m:sSubPr>
                              <m:ctrlPr>
                                <a:rPr lang="en-US" altLang="zh-CN" i="1" dirty="0" err="1">
                                  <a:latin typeface="Cambria Math" panose="02040503050406030204" pitchFamily="18" charset="0"/>
                                </a:rPr>
                              </m:ctrlPr>
                            </m:sSubPr>
                            <m:e>
                              <m:r>
                                <a:rPr lang="en-US" altLang="zh-CN" i="1" dirty="0" err="1">
                                  <a:latin typeface="Cambria Math" panose="02040503050406030204" pitchFamily="18" charset="0"/>
                                </a:rPr>
                                <m:t>𝑎</m:t>
                              </m:r>
                            </m:e>
                            <m:sub>
                              <m:r>
                                <a:rPr lang="en-US" altLang="zh-CN" i="1" dirty="0" err="1">
                                  <a:latin typeface="Cambria Math" panose="02040503050406030204" pitchFamily="18" charset="0"/>
                                </a:rPr>
                                <m:t>𝑡</m:t>
                              </m:r>
                            </m:sub>
                          </m:sSub>
                        </m:e>
                      </m:d>
                      <m:r>
                        <a:rPr lang="en-US" altLang="zh-CN" i="1" dirty="0">
                          <a:latin typeface="Cambria Math" panose="02040503050406030204" pitchFamily="18" charset="0"/>
                        </a:rPr>
                        <m:t>+</m:t>
                      </m:r>
                      <m:r>
                        <a:rPr lang="en-US" altLang="zh-CN" i="1" dirty="0">
                          <a:latin typeface="Cambria Math" panose="02040503050406030204" pitchFamily="18" charset="0"/>
                        </a:rPr>
                        <m:t>𝛼</m:t>
                      </m:r>
                      <m:d>
                        <m:dPr>
                          <m:begChr m:val="["/>
                          <m:endChr m:val="]"/>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𝑟</m:t>
                              </m:r>
                            </m:e>
                            <m:sub>
                              <m:r>
                                <a:rPr lang="en-US" altLang="zh-CN" i="1" dirty="0">
                                  <a:latin typeface="Cambria Math" panose="02040503050406030204" pitchFamily="18" charset="0"/>
                                </a:rPr>
                                <m:t>𝑡</m:t>
                              </m:r>
                              <m:r>
                                <a:rPr lang="en-US" altLang="zh-CN" i="1" dirty="0">
                                  <a:latin typeface="Cambria Math" panose="02040503050406030204" pitchFamily="18" charset="0"/>
                                </a:rPr>
                                <m:t>+1</m:t>
                              </m:r>
                            </m:sub>
                          </m:sSub>
                          <m:r>
                            <a:rPr lang="en-US" altLang="zh-CN" i="1" dirty="0">
                              <a:latin typeface="Cambria Math" panose="02040503050406030204" pitchFamily="18" charset="0"/>
                            </a:rPr>
                            <m:t>+</m:t>
                          </m:r>
                          <m:r>
                            <a:rPr lang="en-US" altLang="zh-CN" i="1" dirty="0">
                              <a:latin typeface="Cambria Math" panose="02040503050406030204" pitchFamily="18" charset="0"/>
                            </a:rPr>
                            <m:t>𝛾</m:t>
                          </m:r>
                          <m:func>
                            <m:funcPr>
                              <m:ctrlPr>
                                <a:rPr lang="en-US" altLang="zh-CN" i="1" dirty="0">
                                  <a:latin typeface="Cambria Math" panose="02040503050406030204" pitchFamily="18" charset="0"/>
                                </a:rPr>
                              </m:ctrlPr>
                            </m:funcPr>
                            <m:fName>
                              <m:limLow>
                                <m:limLowPr>
                                  <m:ctrlPr>
                                    <a:rPr lang="en-US" altLang="zh-CN" i="1" dirty="0">
                                      <a:latin typeface="Cambria Math" panose="02040503050406030204" pitchFamily="18" charset="0"/>
                                    </a:rPr>
                                  </m:ctrlPr>
                                </m:limLowPr>
                                <m:e>
                                  <m:r>
                                    <m:rPr>
                                      <m:sty m:val="p"/>
                                    </m:rPr>
                                    <a:rPr lang="en-US" altLang="zh-CN" i="0" dirty="0">
                                      <a:latin typeface="Cambria Math" panose="02040503050406030204" pitchFamily="18" charset="0"/>
                                    </a:rPr>
                                    <m:t>max</m:t>
                                  </m:r>
                                </m:e>
                                <m:lim>
                                  <m:r>
                                    <a:rPr lang="en-US" altLang="zh-CN" i="1" dirty="0">
                                      <a:latin typeface="Cambria Math" panose="02040503050406030204" pitchFamily="18" charset="0"/>
                                    </a:rPr>
                                    <m:t>𝑎</m:t>
                                  </m:r>
                                </m:lim>
                              </m:limLow>
                            </m:fName>
                            <m:e>
                              <m:r>
                                <a:rPr lang="en-US" altLang="zh-CN" i="1" dirty="0">
                                  <a:latin typeface="Cambria Math" panose="02040503050406030204" pitchFamily="18" charset="0"/>
                                </a:rPr>
                                <m:t>𝑄</m:t>
                              </m:r>
                            </m:e>
                          </m:func>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𝑠</m:t>
                                  </m:r>
                                </m:e>
                                <m:sub>
                                  <m:r>
                                    <a:rPr lang="en-US" altLang="zh-CN" i="1" dirty="0">
                                      <a:latin typeface="Cambria Math" panose="02040503050406030204" pitchFamily="18" charset="0"/>
                                    </a:rPr>
                                    <m:t>𝑡</m:t>
                                  </m:r>
                                  <m:r>
                                    <a:rPr lang="en-US" altLang="zh-CN" i="1" dirty="0">
                                      <a:latin typeface="Cambria Math" panose="02040503050406030204" pitchFamily="18" charset="0"/>
                                    </a:rPr>
                                    <m:t>+1</m:t>
                                  </m:r>
                                </m:sub>
                              </m:sSub>
                              <m:r>
                                <a:rPr lang="en-US" altLang="zh-CN" i="1" dirty="0">
                                  <a:latin typeface="Cambria Math" panose="02040503050406030204" pitchFamily="18" charset="0"/>
                                </a:rPr>
                                <m:t>,</m:t>
                              </m:r>
                              <m:r>
                                <a:rPr lang="en-US" altLang="zh-CN" i="1" dirty="0">
                                  <a:latin typeface="Cambria Math" panose="02040503050406030204" pitchFamily="18" charset="0"/>
                                </a:rPr>
                                <m:t>𝑎</m:t>
                              </m:r>
                            </m:e>
                          </m:d>
                          <m:r>
                            <a:rPr lang="en-US" altLang="zh-CN" i="1" dirty="0">
                              <a:latin typeface="Cambria Math" panose="02040503050406030204" pitchFamily="18" charset="0"/>
                            </a:rPr>
                            <m:t>−</m:t>
                          </m:r>
                          <m:r>
                            <a:rPr lang="en-US" altLang="zh-CN" i="1" dirty="0">
                              <a:latin typeface="Cambria Math" panose="02040503050406030204" pitchFamily="18" charset="0"/>
                            </a:rPr>
                            <m:t>𝑄</m:t>
                          </m:r>
                          <m:d>
                            <m:dPr>
                              <m:ctrlPr>
                                <a:rPr lang="en-US" altLang="zh-CN" i="1" dirty="0">
                                  <a:latin typeface="Cambria Math" panose="02040503050406030204" pitchFamily="18" charset="0"/>
                                </a:rPr>
                              </m:ctrlPr>
                            </m:dPr>
                            <m:e>
                              <m:sSub>
                                <m:sSubPr>
                                  <m:ctrlPr>
                                    <a:rPr lang="en-US" altLang="zh-CN" i="1" dirty="0" err="1">
                                      <a:latin typeface="Cambria Math" panose="02040503050406030204" pitchFamily="18" charset="0"/>
                                    </a:rPr>
                                  </m:ctrlPr>
                                </m:sSubPr>
                                <m:e>
                                  <m:r>
                                    <a:rPr lang="en-US" altLang="zh-CN" i="1" dirty="0" err="1">
                                      <a:latin typeface="Cambria Math" panose="02040503050406030204" pitchFamily="18" charset="0"/>
                                    </a:rPr>
                                    <m:t>𝑠</m:t>
                                  </m:r>
                                </m:e>
                                <m:sub>
                                  <m:r>
                                    <a:rPr lang="en-US" altLang="zh-CN" i="1" dirty="0" err="1">
                                      <a:latin typeface="Cambria Math" panose="02040503050406030204" pitchFamily="18" charset="0"/>
                                    </a:rPr>
                                    <m:t>𝑡</m:t>
                                  </m:r>
                                </m:sub>
                              </m:sSub>
                              <m:r>
                                <a:rPr lang="en-US" altLang="zh-CN" i="1" dirty="0">
                                  <a:latin typeface="Cambria Math" panose="02040503050406030204" pitchFamily="18" charset="0"/>
                                </a:rPr>
                                <m:t>,</m:t>
                              </m:r>
                              <m:sSub>
                                <m:sSubPr>
                                  <m:ctrlPr>
                                    <a:rPr lang="en-US" altLang="zh-CN" i="1" dirty="0" err="1">
                                      <a:latin typeface="Cambria Math" panose="02040503050406030204" pitchFamily="18" charset="0"/>
                                    </a:rPr>
                                  </m:ctrlPr>
                                </m:sSubPr>
                                <m:e>
                                  <m:r>
                                    <a:rPr lang="en-US" altLang="zh-CN" i="1" dirty="0" err="1">
                                      <a:latin typeface="Cambria Math" panose="02040503050406030204" pitchFamily="18" charset="0"/>
                                    </a:rPr>
                                    <m:t>𝑎</m:t>
                                  </m:r>
                                </m:e>
                                <m:sub>
                                  <m:r>
                                    <a:rPr lang="en-US" altLang="zh-CN" i="1" dirty="0" err="1">
                                      <a:latin typeface="Cambria Math" panose="02040503050406030204" pitchFamily="18" charset="0"/>
                                    </a:rPr>
                                    <m:t>𝑡</m:t>
                                  </m:r>
                                </m:sub>
                              </m:sSub>
                            </m:e>
                          </m:d>
                        </m:e>
                      </m:d>
                    </m:oMath>
                  </m:oMathPara>
                </a14:m>
                <a:endParaRPr lang="zh-CN" altLang="en-US" dirty="0"/>
              </a:p>
            </p:txBody>
          </p:sp>
        </mc:Choice>
        <mc:Fallback>
          <p:sp>
            <p:nvSpPr>
              <p:cNvPr id="27" name="文本框 26">
                <a:extLst>
                  <a:ext uri="{FF2B5EF4-FFF2-40B4-BE49-F238E27FC236}">
                    <a16:creationId xmlns:a16="http://schemas.microsoft.com/office/drawing/2014/main" id="{F182CBC9-FC84-88A2-2E71-136A79BF91A2}"/>
                  </a:ext>
                </a:extLst>
              </p:cNvPr>
              <p:cNvSpPr txBox="1">
                <a:spLocks noRot="1" noChangeAspect="1" noMove="1" noResize="1" noEditPoints="1" noAdjustHandles="1" noChangeArrowheads="1" noChangeShapeType="1" noTextEdit="1"/>
              </p:cNvSpPr>
              <p:nvPr/>
            </p:nvSpPr>
            <p:spPr>
              <a:xfrm>
                <a:off x="5653405" y="524510"/>
                <a:ext cx="6293430" cy="524439"/>
              </a:xfrm>
              <a:prstGeom prst="rect">
                <a:avLst/>
              </a:prstGeom>
              <a:blipFill>
                <a:blip r:embed="rId5"/>
                <a:stretch>
                  <a:fillRect/>
                </a:stretch>
              </a:blipFill>
            </p:spPr>
            <p:txBody>
              <a:bodyPr/>
              <a:lstStyle/>
              <a:p>
                <a:r>
                  <a:rPr lang="zh-CN" altLang="en-US">
                    <a:noFill/>
                  </a:rPr>
                  <a:t> </a:t>
                </a:r>
              </a:p>
            </p:txBody>
          </p:sp>
        </mc:Fallback>
      </mc:AlternateContent>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6:31:08-d2sksj61bb2p4onbqi6g.png"/>
          <p:cNvPicPr>
            <a:picLocks noChangeAspect="1"/>
          </p:cNvPicPr>
          <p:nvPr/>
        </p:nvPicPr>
        <p:blipFill>
          <a:blip r:embed="rId3"/>
          <a:srcRect l="5" r="5"/>
          <a:stretch/>
        </p:blipFill>
        <p:spPr>
          <a:xfrm>
            <a:off x="-9525" y="-22225"/>
            <a:ext cx="12214860" cy="6910070"/>
          </a:xfrm>
          <a:prstGeom prst="rect">
            <a:avLst/>
          </a:prstGeom>
        </p:spPr>
      </p:pic>
      <p:sp>
        <p:nvSpPr>
          <p:cNvPr id="3" name="Shape 0"/>
          <p:cNvSpPr/>
          <p:nvPr/>
        </p:nvSpPr>
        <p:spPr>
          <a:xfrm>
            <a:off x="5172075" y="1997710"/>
            <a:ext cx="988695" cy="760730"/>
          </a:xfrm>
          <a:prstGeom prst="rect">
            <a:avLst/>
          </a:prstGeom>
          <a:solidFill>
            <a:srgbClr val="FFFFFF"/>
          </a:solidFill>
          <a:ln/>
        </p:spPr>
      </p:sp>
      <p:sp>
        <p:nvSpPr>
          <p:cNvPr id="4" name="Text 1"/>
          <p:cNvSpPr/>
          <p:nvPr/>
        </p:nvSpPr>
        <p:spPr>
          <a:xfrm>
            <a:off x="5172075" y="1997710"/>
            <a:ext cx="988695" cy="760730"/>
          </a:xfrm>
          <a:prstGeom prst="rect">
            <a:avLst/>
          </a:prstGeom>
          <a:noFill/>
          <a:ln/>
        </p:spPr>
        <p:txBody>
          <a:bodyPr wrap="square" lIns="45720" tIns="91440" rIns="91440" bIns="45720" rtlCol="0" anchor="ctr"/>
          <a:lstStyle/>
          <a:p>
            <a:pPr>
              <a:lnSpc>
                <a:spcPct val="100000"/>
              </a:lnSpc>
            </a:pPr>
            <a:endParaRPr lang="en-US" sz="1600" dirty="0"/>
          </a:p>
        </p:txBody>
      </p:sp>
      <p:sp>
        <p:nvSpPr>
          <p:cNvPr id="5" name="Text 2"/>
          <p:cNvSpPr/>
          <p:nvPr/>
        </p:nvSpPr>
        <p:spPr>
          <a:xfrm>
            <a:off x="5092065" y="2949575"/>
            <a:ext cx="6986905" cy="1015365"/>
          </a:xfrm>
          <a:prstGeom prst="rect">
            <a:avLst/>
          </a:prstGeom>
          <a:noFill/>
          <a:ln/>
        </p:spPr>
        <p:txBody>
          <a:bodyPr wrap="square" lIns="91440" tIns="45720" rIns="91440" bIns="45720" rtlCol="0" anchor="t"/>
          <a:lstStyle/>
          <a:p>
            <a:pPr>
              <a:lnSpc>
                <a:spcPct val="100000"/>
              </a:lnSpc>
            </a:pPr>
            <a:r>
              <a:rPr lang="en-US" sz="4400" b="1" dirty="0">
                <a:solidFill>
                  <a:srgbClr val="212931"/>
                </a:solidFill>
                <a:latin typeface="MiSans" pitchFamily="34" charset="0"/>
                <a:ea typeface="MiSans" pitchFamily="34" charset="-122"/>
                <a:cs typeface="MiSans" pitchFamily="34" charset="-120"/>
              </a:rPr>
              <a:t>Deep Q-Networks</a:t>
            </a:r>
            <a:endParaRPr lang="en-US" sz="1600" dirty="0"/>
          </a:p>
        </p:txBody>
      </p:sp>
      <p:sp>
        <p:nvSpPr>
          <p:cNvPr id="6" name="Text 3"/>
          <p:cNvSpPr/>
          <p:nvPr/>
        </p:nvSpPr>
        <p:spPr>
          <a:xfrm>
            <a:off x="254000" y="2086610"/>
            <a:ext cx="3128010" cy="862965"/>
          </a:xfrm>
          <a:prstGeom prst="rect">
            <a:avLst/>
          </a:prstGeom>
          <a:noFill/>
          <a:ln/>
        </p:spPr>
        <p:txBody>
          <a:bodyPr wrap="square" lIns="91440" tIns="45720" rIns="91440" bIns="45720" rtlCol="0" anchor="t"/>
          <a:lstStyle/>
          <a:p>
            <a:pPr>
              <a:lnSpc>
                <a:spcPct val="100000"/>
              </a:lnSpc>
            </a:pPr>
            <a:r>
              <a:rPr lang="en-US" sz="16600" b="1" dirty="0">
                <a:solidFill>
                  <a:srgbClr val="FFFFFF"/>
                </a:solidFill>
                <a:latin typeface="MiSans" pitchFamily="34" charset="0"/>
                <a:ea typeface="MiSans" pitchFamily="34" charset="-122"/>
                <a:cs typeface="MiSans" pitchFamily="34" charset="-120"/>
              </a:rPr>
              <a:t>03</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8100000" flipH="1" flipV="1">
            <a:off x="457835" y="315595"/>
            <a:ext cx="525780" cy="525780"/>
          </a:xfrm>
          <a:prstGeom prst="ellipse">
            <a:avLst/>
          </a:prstGeom>
          <a:gradFill flip="none" rotWithShape="1">
            <a:gsLst>
              <a:gs pos="0">
                <a:srgbClr val="D3BDA6">
                  <a:alpha val="0"/>
                </a:srgbClr>
              </a:gs>
              <a:gs pos="100000">
                <a:srgbClr val="B48E67">
                  <a:alpha val="67000"/>
                </a:srgbClr>
              </a:gs>
            </a:gsLst>
            <a:lin ang="16200000" scaled="1"/>
          </a:gradFill>
          <a:ln/>
        </p:spPr>
      </p:sp>
      <p:sp>
        <p:nvSpPr>
          <p:cNvPr id="3" name="Text 1"/>
          <p:cNvSpPr/>
          <p:nvPr/>
        </p:nvSpPr>
        <p:spPr>
          <a:xfrm rot="8100000">
            <a:off x="457835" y="315595"/>
            <a:ext cx="525780" cy="52578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11456035" y="592138"/>
            <a:ext cx="351155" cy="43815"/>
          </a:xfrm>
          <a:prstGeom prst="roundRect">
            <a:avLst>
              <a:gd name="adj" fmla="val 50000"/>
            </a:avLst>
          </a:prstGeom>
          <a:solidFill>
            <a:srgbClr val="D3BDA6"/>
          </a:solidFill>
          <a:ln/>
        </p:spPr>
      </p:sp>
      <p:sp>
        <p:nvSpPr>
          <p:cNvPr id="5" name="Text 3"/>
          <p:cNvSpPr/>
          <p:nvPr/>
        </p:nvSpPr>
        <p:spPr>
          <a:xfrm>
            <a:off x="11456035" y="592138"/>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11456035" y="712153"/>
            <a:ext cx="351155" cy="43815"/>
          </a:xfrm>
          <a:prstGeom prst="roundRect">
            <a:avLst>
              <a:gd name="adj" fmla="val 50000"/>
            </a:avLst>
          </a:prstGeom>
          <a:solidFill>
            <a:srgbClr val="D3BDA6"/>
          </a:solidFill>
          <a:ln/>
        </p:spPr>
      </p:sp>
      <p:sp>
        <p:nvSpPr>
          <p:cNvPr id="7" name="Text 5"/>
          <p:cNvSpPr/>
          <p:nvPr/>
        </p:nvSpPr>
        <p:spPr>
          <a:xfrm>
            <a:off x="11456035" y="712153"/>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11456035" y="832168"/>
            <a:ext cx="351155" cy="43815"/>
          </a:xfrm>
          <a:prstGeom prst="roundRect">
            <a:avLst>
              <a:gd name="adj" fmla="val 50000"/>
            </a:avLst>
          </a:prstGeom>
          <a:solidFill>
            <a:srgbClr val="D3BDA6"/>
          </a:solidFill>
          <a:ln/>
        </p:spPr>
      </p:sp>
      <p:sp>
        <p:nvSpPr>
          <p:cNvPr id="9" name="Text 7"/>
          <p:cNvSpPr/>
          <p:nvPr/>
        </p:nvSpPr>
        <p:spPr>
          <a:xfrm>
            <a:off x="11456035" y="832168"/>
            <a:ext cx="351155" cy="43815"/>
          </a:xfrm>
          <a:prstGeom prst="rect">
            <a:avLst/>
          </a:prstGeom>
          <a:noFill/>
          <a:ln/>
        </p:spPr>
        <p:txBody>
          <a:bodyPr wrap="square" lIns="45720" tIns="91440" rIns="91440" bIns="45720" rtlCol="0" anchor="ctr"/>
          <a:lstStyle/>
          <a:p>
            <a:pPr>
              <a:lnSpc>
                <a:spcPct val="100000"/>
              </a:lnSpc>
            </a:pPr>
            <a:endParaRPr lang="en-US" sz="1600" dirty="0"/>
          </a:p>
        </p:txBody>
      </p:sp>
      <p:pic>
        <p:nvPicPr>
          <p:cNvPr id="10" name="Image 0" descr="https://kimi-img.moonshot.cn/pub/slides/slides_tmpl/image/25-09-04-16:31:10-d2sksjm1bb2p4onbqib0.png"/>
          <p:cNvPicPr>
            <a:picLocks noChangeAspect="1"/>
          </p:cNvPicPr>
          <p:nvPr/>
        </p:nvPicPr>
        <p:blipFill>
          <a:blip r:embed="rId3"/>
          <a:srcRect l="8" r="8"/>
          <a:stretch/>
        </p:blipFill>
        <p:spPr>
          <a:xfrm>
            <a:off x="635000" y="1621790"/>
            <a:ext cx="11562080" cy="5192395"/>
          </a:xfrm>
          <a:prstGeom prst="rect">
            <a:avLst/>
          </a:prstGeom>
        </p:spPr>
      </p:pic>
      <p:sp>
        <p:nvSpPr>
          <p:cNvPr id="12" name="Shape 8"/>
          <p:cNvSpPr/>
          <p:nvPr/>
        </p:nvSpPr>
        <p:spPr>
          <a:xfrm>
            <a:off x="11456035" y="592138"/>
            <a:ext cx="351155" cy="43815"/>
          </a:xfrm>
          <a:prstGeom prst="roundRect">
            <a:avLst>
              <a:gd name="adj" fmla="val 50000"/>
            </a:avLst>
          </a:prstGeom>
          <a:solidFill>
            <a:srgbClr val="D3BDA6"/>
          </a:solidFill>
          <a:ln/>
        </p:spPr>
      </p:sp>
      <p:sp>
        <p:nvSpPr>
          <p:cNvPr id="13" name="Text 9"/>
          <p:cNvSpPr/>
          <p:nvPr/>
        </p:nvSpPr>
        <p:spPr>
          <a:xfrm>
            <a:off x="11456035" y="592138"/>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0"/>
          <p:cNvSpPr/>
          <p:nvPr/>
        </p:nvSpPr>
        <p:spPr>
          <a:xfrm>
            <a:off x="11456035" y="712153"/>
            <a:ext cx="351155" cy="43815"/>
          </a:xfrm>
          <a:prstGeom prst="roundRect">
            <a:avLst>
              <a:gd name="adj" fmla="val 50000"/>
            </a:avLst>
          </a:prstGeom>
          <a:solidFill>
            <a:srgbClr val="D3BDA6"/>
          </a:solidFill>
          <a:ln/>
        </p:spPr>
      </p:sp>
      <p:sp>
        <p:nvSpPr>
          <p:cNvPr id="15" name="Text 11"/>
          <p:cNvSpPr/>
          <p:nvPr/>
        </p:nvSpPr>
        <p:spPr>
          <a:xfrm>
            <a:off x="11456035" y="712153"/>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2"/>
          <p:cNvSpPr/>
          <p:nvPr/>
        </p:nvSpPr>
        <p:spPr>
          <a:xfrm>
            <a:off x="11456035" y="832168"/>
            <a:ext cx="351155" cy="43815"/>
          </a:xfrm>
          <a:prstGeom prst="roundRect">
            <a:avLst>
              <a:gd name="adj" fmla="val 50000"/>
            </a:avLst>
          </a:prstGeom>
          <a:solidFill>
            <a:srgbClr val="D3BDA6"/>
          </a:solidFill>
          <a:ln/>
        </p:spPr>
      </p:sp>
      <p:sp>
        <p:nvSpPr>
          <p:cNvPr id="17" name="Text 13"/>
          <p:cNvSpPr/>
          <p:nvPr/>
        </p:nvSpPr>
        <p:spPr>
          <a:xfrm>
            <a:off x="11456035" y="832168"/>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18" name="Text 14"/>
          <p:cNvSpPr/>
          <p:nvPr/>
        </p:nvSpPr>
        <p:spPr>
          <a:xfrm>
            <a:off x="667385" y="524510"/>
            <a:ext cx="6272530" cy="499467"/>
          </a:xfrm>
          <a:prstGeom prst="rect">
            <a:avLst/>
          </a:prstGeom>
          <a:noFill/>
          <a:ln/>
        </p:spPr>
        <p:txBody>
          <a:bodyPr wrap="square" lIns="91440" tIns="45720" rIns="91440" bIns="45720" rtlCol="0" anchor="t">
            <a:spAutoFit/>
          </a:bodyPr>
          <a:lstStyle/>
          <a:p>
            <a:pPr>
              <a:lnSpc>
                <a:spcPct val="100000"/>
              </a:lnSpc>
            </a:pPr>
            <a:r>
              <a:rPr lang="en-US" sz="3200" b="1" dirty="0">
                <a:solidFill>
                  <a:srgbClr val="2B2F36"/>
                </a:solidFill>
                <a:latin typeface="MiSans" pitchFamily="34" charset="0"/>
                <a:ea typeface="MiSans" pitchFamily="34" charset="-122"/>
                <a:cs typeface="MiSans" pitchFamily="34" charset="-120"/>
              </a:rPr>
              <a:t>Curse of Dimensionality</a:t>
            </a:r>
            <a:endParaRPr lang="en-US" sz="1600" dirty="0"/>
          </a:p>
        </p:txBody>
      </p:sp>
      <p:sp>
        <p:nvSpPr>
          <p:cNvPr id="19" name="Shape 15"/>
          <p:cNvSpPr/>
          <p:nvPr/>
        </p:nvSpPr>
        <p:spPr>
          <a:xfrm>
            <a:off x="-16510" y="6572885"/>
            <a:ext cx="12221210" cy="285115"/>
          </a:xfrm>
          <a:prstGeom prst="rect">
            <a:avLst/>
          </a:prstGeom>
          <a:gradFill flip="none" rotWithShape="1">
            <a:gsLst>
              <a:gs pos="0">
                <a:srgbClr val="D3BDA6"/>
              </a:gs>
              <a:gs pos="100000">
                <a:srgbClr val="BFA492"/>
              </a:gs>
            </a:gsLst>
            <a:lin ang="2700000" scaled="1"/>
          </a:gradFill>
          <a:ln/>
        </p:spPr>
      </p:sp>
      <p:sp>
        <p:nvSpPr>
          <p:cNvPr id="20" name="Text 16"/>
          <p:cNvSpPr/>
          <p:nvPr/>
        </p:nvSpPr>
        <p:spPr>
          <a:xfrm>
            <a:off x="-16510" y="6572885"/>
            <a:ext cx="12221210" cy="285115"/>
          </a:xfrm>
          <a:prstGeom prst="rect">
            <a:avLst/>
          </a:prstGeom>
          <a:noFill/>
          <a:ln/>
        </p:spPr>
        <p:txBody>
          <a:bodyPr wrap="square" lIns="45720" tIns="91440" rIns="91440" bIns="45720" rtlCol="0" anchor="ctr"/>
          <a:lstStyle/>
          <a:p>
            <a:pPr>
              <a:lnSpc>
                <a:spcPct val="100000"/>
              </a:lnSpc>
            </a:pPr>
            <a:endParaRPr lang="en-US" sz="1600" dirty="0"/>
          </a:p>
        </p:txBody>
      </p:sp>
      <p:sp>
        <p:nvSpPr>
          <p:cNvPr id="21" name="Text 17"/>
          <p:cNvSpPr/>
          <p:nvPr/>
        </p:nvSpPr>
        <p:spPr>
          <a:xfrm>
            <a:off x="933450" y="2562225"/>
            <a:ext cx="2692400" cy="645517"/>
          </a:xfrm>
          <a:prstGeom prst="rect">
            <a:avLst/>
          </a:prstGeom>
          <a:noFill/>
          <a:ln/>
        </p:spPr>
        <p:txBody>
          <a:bodyPr wrap="square" lIns="91440" tIns="45720" rIns="91440" bIns="45720" rtlCol="0" anchor="t">
            <a:spAutoFit/>
          </a:bodyPr>
          <a:lstStyle/>
          <a:p>
            <a:pPr>
              <a:lnSpc>
                <a:spcPct val="100000"/>
              </a:lnSpc>
            </a:pPr>
            <a:r>
              <a:rPr lang="en-US" sz="2000" b="1" dirty="0">
                <a:solidFill>
                  <a:srgbClr val="000000"/>
                </a:solidFill>
                <a:latin typeface="MiSans" pitchFamily="34" charset="0"/>
                <a:ea typeface="MiSans" pitchFamily="34" charset="-122"/>
                <a:cs typeface="MiSans" pitchFamily="34" charset="-120"/>
              </a:rPr>
              <a:t>Dimensionality Challenge</a:t>
            </a:r>
            <a:endParaRPr lang="en-US" sz="1600" dirty="0"/>
          </a:p>
        </p:txBody>
      </p:sp>
      <p:sp>
        <p:nvSpPr>
          <p:cNvPr id="22" name="Text 18"/>
          <p:cNvSpPr/>
          <p:nvPr/>
        </p:nvSpPr>
        <p:spPr>
          <a:xfrm>
            <a:off x="933450" y="3281045"/>
            <a:ext cx="2691507" cy="2572941"/>
          </a:xfrm>
          <a:prstGeom prst="rect">
            <a:avLst/>
          </a:prstGeom>
          <a:noFill/>
          <a:ln/>
        </p:spPr>
        <p:txBody>
          <a:bodyPr wrap="square" lIns="91440" tIns="45720" rIns="91440" bIns="45720" rtlCol="0" anchor="t">
            <a:spAutoFit/>
          </a:bodyPr>
          <a:lstStyle/>
          <a:p>
            <a:pPr>
              <a:lnSpc>
                <a:spcPct val="130000"/>
              </a:lnSpc>
            </a:pPr>
            <a:r>
              <a:rPr lang="en-US" sz="1400" dirty="0">
                <a:solidFill>
                  <a:srgbClr val="000000"/>
                </a:solidFill>
                <a:latin typeface="MiSans" pitchFamily="34" charset="0"/>
                <a:ea typeface="MiSans" pitchFamily="34" charset="-122"/>
                <a:cs typeface="MiSans" pitchFamily="34" charset="-120"/>
              </a:rPr>
              <a:t>High-dimensional or continuous state spaces make tabular methods infeasible due to the curse of dimensionality. Function approximation, particularly using neural networks, addresses this by generalizing across similar states.</a:t>
            </a:r>
            <a:endParaRPr lang="en-US" sz="1600" dirty="0"/>
          </a:p>
        </p:txBody>
      </p:sp>
      <p:sp>
        <p:nvSpPr>
          <p:cNvPr id="23" name="Text 19"/>
          <p:cNvSpPr/>
          <p:nvPr/>
        </p:nvSpPr>
        <p:spPr>
          <a:xfrm>
            <a:off x="3879850" y="3009265"/>
            <a:ext cx="2692400" cy="306784"/>
          </a:xfrm>
          <a:prstGeom prst="rect">
            <a:avLst/>
          </a:prstGeom>
          <a:noFill/>
          <a:ln/>
        </p:spPr>
        <p:txBody>
          <a:bodyPr wrap="square" lIns="91440" tIns="45720" rIns="91440" bIns="45720" rtlCol="0" anchor="t">
            <a:spAutoFit/>
          </a:bodyPr>
          <a:lstStyle/>
          <a:p>
            <a:pPr>
              <a:lnSpc>
                <a:spcPct val="100000"/>
              </a:lnSpc>
            </a:pPr>
            <a:r>
              <a:rPr lang="en-US" sz="2000" b="1" dirty="0">
                <a:solidFill>
                  <a:srgbClr val="000000"/>
                </a:solidFill>
                <a:latin typeface="MiSans" pitchFamily="34" charset="0"/>
                <a:ea typeface="MiSans" pitchFamily="34" charset="-122"/>
                <a:cs typeface="MiSans" pitchFamily="34" charset="-120"/>
              </a:rPr>
              <a:t>DQN's Solution</a:t>
            </a:r>
            <a:endParaRPr lang="en-US" sz="1600" dirty="0"/>
          </a:p>
        </p:txBody>
      </p:sp>
      <p:sp>
        <p:nvSpPr>
          <p:cNvPr id="24" name="Text 20"/>
          <p:cNvSpPr/>
          <p:nvPr/>
        </p:nvSpPr>
        <p:spPr>
          <a:xfrm>
            <a:off x="3879850" y="3728085"/>
            <a:ext cx="2691507" cy="2001044"/>
          </a:xfrm>
          <a:prstGeom prst="rect">
            <a:avLst/>
          </a:prstGeom>
          <a:noFill/>
          <a:ln/>
        </p:spPr>
        <p:txBody>
          <a:bodyPr wrap="square" lIns="91440" tIns="45720" rIns="91440" bIns="45720" rtlCol="0" anchor="t">
            <a:spAutoFit/>
          </a:bodyPr>
          <a:lstStyle/>
          <a:p>
            <a:pPr>
              <a:lnSpc>
                <a:spcPct val="130000"/>
              </a:lnSpc>
            </a:pPr>
            <a:r>
              <a:rPr lang="en-US" sz="1400" dirty="0">
                <a:solidFill>
                  <a:srgbClr val="000000"/>
                </a:solidFill>
                <a:latin typeface="MiSans" pitchFamily="34" charset="0"/>
                <a:ea typeface="MiSans" pitchFamily="34" charset="-122"/>
                <a:cs typeface="MiSans" pitchFamily="34" charset="-120"/>
              </a:rPr>
              <a:t>Deep Q-Networks (DQN) employ neural networks to approximate the action-value function, enabling agents to handle complex, high-dimensional inputs like raw pixel arrays in Atari games.</a:t>
            </a:r>
            <a:endParaRPr lang="en-US" sz="1600" dirty="0"/>
          </a:p>
        </p:txBody>
      </p:sp>
      <p:pic>
        <p:nvPicPr>
          <p:cNvPr id="4098" name="Picture 2" descr="深度Q网络（Deep Q-Network, DQN）详解-CSDN博客">
            <a:extLst>
              <a:ext uri="{FF2B5EF4-FFF2-40B4-BE49-F238E27FC236}">
                <a16:creationId xmlns:a16="http://schemas.microsoft.com/office/drawing/2014/main" id="{D83687CD-5E15-C4B8-DD4D-929B4A9A54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55233" y="3415753"/>
            <a:ext cx="4756140" cy="294912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25" name="文本框 24">
                <a:extLst>
                  <a:ext uri="{FF2B5EF4-FFF2-40B4-BE49-F238E27FC236}">
                    <a16:creationId xmlns:a16="http://schemas.microsoft.com/office/drawing/2014/main" id="{E64C348D-4696-8F10-3FA2-8A9715FF7B2C}"/>
                  </a:ext>
                </a:extLst>
              </p:cNvPr>
              <p:cNvSpPr txBox="1"/>
              <p:nvPr/>
            </p:nvSpPr>
            <p:spPr>
              <a:xfrm>
                <a:off x="5069402" y="454705"/>
                <a:ext cx="6773656" cy="70872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𝐿</m:t>
                      </m:r>
                      <m:d>
                        <m:dPr>
                          <m:ctrlPr>
                            <a:rPr lang="en-US" altLang="zh-CN" i="1" dirty="0" smtClean="0">
                              <a:latin typeface="Cambria Math" panose="02040503050406030204" pitchFamily="18" charset="0"/>
                            </a:rPr>
                          </m:ctrlPr>
                        </m:dPr>
                        <m:e>
                          <m:r>
                            <a:rPr lang="en-US" altLang="zh-CN" i="1" dirty="0" smtClean="0">
                              <a:latin typeface="Cambria Math" panose="02040503050406030204" pitchFamily="18" charset="0"/>
                            </a:rPr>
                            <m:t>𝜃</m:t>
                          </m:r>
                        </m:e>
                      </m:d>
                      <m:r>
                        <a:rPr lang="en-US" altLang="zh-CN"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i="1" dirty="0">
                              <a:latin typeface="Cambria Math" panose="02040503050406030204" pitchFamily="18" charset="0"/>
                            </a:rPr>
                            <m:t>𝐸</m:t>
                          </m:r>
                        </m:e>
                        <m:sub>
                          <m:d>
                            <m:dPr>
                              <m:ctrlPr>
                                <a:rPr lang="en-US" altLang="zh-CN" i="1" dirty="0">
                                  <a:latin typeface="Cambria Math" panose="02040503050406030204" pitchFamily="18" charset="0"/>
                                </a:rPr>
                              </m:ctrlPr>
                            </m:dPr>
                            <m:e>
                              <m:r>
                                <a:rPr lang="en-US" altLang="zh-CN" i="1" dirty="0" err="1">
                                  <a:latin typeface="Cambria Math" panose="02040503050406030204" pitchFamily="18" charset="0"/>
                                </a:rPr>
                                <m:t>𝑠</m:t>
                              </m:r>
                              <m:r>
                                <a:rPr lang="en-US" altLang="zh-CN" i="1" dirty="0" err="1">
                                  <a:latin typeface="Cambria Math" panose="02040503050406030204" pitchFamily="18" charset="0"/>
                                </a:rPr>
                                <m:t>,</m:t>
                              </m:r>
                              <m:r>
                                <a:rPr lang="en-US" altLang="zh-CN" i="1" dirty="0" err="1">
                                  <a:latin typeface="Cambria Math" panose="02040503050406030204" pitchFamily="18" charset="0"/>
                                </a:rPr>
                                <m:t>𝑎</m:t>
                              </m:r>
                              <m:r>
                                <a:rPr lang="en-US" altLang="zh-CN" i="1" dirty="0" err="1">
                                  <a:latin typeface="Cambria Math" panose="02040503050406030204" pitchFamily="18" charset="0"/>
                                </a:rPr>
                                <m:t>,</m:t>
                              </m:r>
                              <m:r>
                                <a:rPr lang="en-US" altLang="zh-CN" i="1" dirty="0" err="1">
                                  <a:latin typeface="Cambria Math" panose="02040503050406030204" pitchFamily="18" charset="0"/>
                                </a:rPr>
                                <m:t>𝑟</m:t>
                              </m:r>
                              <m:r>
                                <a:rPr lang="en-US" altLang="zh-CN" i="1" dirty="0" err="1">
                                  <a:latin typeface="Cambria Math" panose="02040503050406030204" pitchFamily="18" charset="0"/>
                                </a:rPr>
                                <m:t>,</m:t>
                              </m:r>
                              <m:sSup>
                                <m:sSupPr>
                                  <m:ctrlPr>
                                    <a:rPr lang="en-US" altLang="zh-CN" i="1" dirty="0">
                                      <a:latin typeface="Cambria Math" panose="02040503050406030204" pitchFamily="18" charset="0"/>
                                    </a:rPr>
                                  </m:ctrlPr>
                                </m:sSupPr>
                                <m:e>
                                  <m:r>
                                    <a:rPr lang="en-US" altLang="zh-CN" i="1" dirty="0" err="1">
                                      <a:latin typeface="Cambria Math" panose="02040503050406030204" pitchFamily="18" charset="0"/>
                                    </a:rPr>
                                    <m:t>𝑠</m:t>
                                  </m:r>
                                </m:e>
                                <m:sup>
                                  <m:r>
                                    <a:rPr lang="en-US" altLang="zh-CN" i="1" dirty="0">
                                      <a:latin typeface="Cambria Math" panose="02040503050406030204" pitchFamily="18" charset="0"/>
                                    </a:rPr>
                                    <m:t>′</m:t>
                                  </m:r>
                                </m:sup>
                              </m:sSup>
                            </m:e>
                          </m:d>
                          <m:r>
                            <a:rPr lang="en-US" altLang="zh-CN" i="1" dirty="0">
                              <a:latin typeface="Cambria Math" panose="02040503050406030204" pitchFamily="18" charset="0"/>
                            </a:rPr>
                            <m:t>∼</m:t>
                          </m:r>
                          <m:r>
                            <a:rPr lang="en-US" altLang="zh-CN" i="1" dirty="0">
                              <a:latin typeface="Cambria Math" panose="02040503050406030204" pitchFamily="18" charset="0"/>
                            </a:rPr>
                            <m:t>𝐷</m:t>
                          </m:r>
                        </m:sub>
                      </m:sSub>
                      <m:d>
                        <m:dPr>
                          <m:begChr m:val="["/>
                          <m:endChr m:val="]"/>
                          <m:ctrlPr>
                            <a:rPr lang="en-US" altLang="zh-CN" i="1" dirty="0">
                              <a:latin typeface="Cambria Math" panose="02040503050406030204" pitchFamily="18" charset="0"/>
                            </a:rPr>
                          </m:ctrlPr>
                        </m:dPr>
                        <m:e>
                          <m:sSup>
                            <m:sSupPr>
                              <m:ctrlPr>
                                <a:rPr lang="en-US" altLang="zh-CN" i="1" dirty="0">
                                  <a:latin typeface="Cambria Math" panose="02040503050406030204" pitchFamily="18" charset="0"/>
                                </a:rPr>
                              </m:ctrlPr>
                            </m:sSupPr>
                            <m:e>
                              <m:d>
                                <m:dPr>
                                  <m:ctrlPr>
                                    <a:rPr lang="en-US" altLang="zh-CN" i="1" dirty="0">
                                      <a:latin typeface="Cambria Math" panose="02040503050406030204" pitchFamily="18" charset="0"/>
                                    </a:rPr>
                                  </m:ctrlPr>
                                </m:dPr>
                                <m:e>
                                  <m:r>
                                    <a:rPr lang="en-US" altLang="zh-CN" i="1" dirty="0">
                                      <a:latin typeface="Cambria Math" panose="02040503050406030204" pitchFamily="18" charset="0"/>
                                    </a:rPr>
                                    <m:t>𝑟</m:t>
                                  </m:r>
                                  <m:r>
                                    <a:rPr lang="en-US" altLang="zh-CN" i="1" dirty="0">
                                      <a:latin typeface="Cambria Math" panose="02040503050406030204" pitchFamily="18" charset="0"/>
                                    </a:rPr>
                                    <m:t>+</m:t>
                                  </m:r>
                                  <m:r>
                                    <a:rPr lang="en-US" altLang="zh-CN" i="1" dirty="0">
                                      <a:latin typeface="Cambria Math" panose="02040503050406030204" pitchFamily="18" charset="0"/>
                                    </a:rPr>
                                    <m:t>𝛾</m:t>
                                  </m:r>
                                  <m:func>
                                    <m:funcPr>
                                      <m:ctrlPr>
                                        <a:rPr lang="en-US" altLang="zh-CN" i="1" dirty="0">
                                          <a:latin typeface="Cambria Math" panose="02040503050406030204" pitchFamily="18" charset="0"/>
                                        </a:rPr>
                                      </m:ctrlPr>
                                    </m:funcPr>
                                    <m:fName>
                                      <m:limLow>
                                        <m:limLowPr>
                                          <m:ctrlPr>
                                            <a:rPr lang="en-US" altLang="zh-CN" i="1" dirty="0">
                                              <a:latin typeface="Cambria Math" panose="02040503050406030204" pitchFamily="18" charset="0"/>
                                            </a:rPr>
                                          </m:ctrlPr>
                                        </m:limLowPr>
                                        <m:e>
                                          <m:r>
                                            <m:rPr>
                                              <m:sty m:val="p"/>
                                            </m:rPr>
                                            <a:rPr lang="en-US" altLang="zh-CN" i="0" dirty="0">
                                              <a:latin typeface="Cambria Math" panose="02040503050406030204" pitchFamily="18" charset="0"/>
                                            </a:rPr>
                                            <m:t>max</m:t>
                                          </m:r>
                                        </m:e>
                                        <m:lim>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𝑎</m:t>
                                              </m:r>
                                            </m:e>
                                            <m:sup>
                                              <m:r>
                                                <a:rPr lang="en-US" altLang="zh-CN" i="1" dirty="0">
                                                  <a:latin typeface="Cambria Math" panose="02040503050406030204" pitchFamily="18" charset="0"/>
                                                </a:rPr>
                                                <m:t>′</m:t>
                                              </m:r>
                                            </m:sup>
                                          </m:sSup>
                                        </m:lim>
                                      </m:limLow>
                                    </m:fName>
                                    <m:e>
                                      <m:r>
                                        <a:rPr lang="en-US" altLang="zh-CN" i="1" dirty="0">
                                          <a:latin typeface="Cambria Math" panose="02040503050406030204" pitchFamily="18" charset="0"/>
                                        </a:rPr>
                                        <m:t>𝑄</m:t>
                                      </m:r>
                                    </m:e>
                                  </m:func>
                                  <m:d>
                                    <m:dPr>
                                      <m:ctrlPr>
                                        <a:rPr lang="en-US" altLang="zh-CN" i="1" dirty="0">
                                          <a:latin typeface="Cambria Math" panose="02040503050406030204" pitchFamily="18" charset="0"/>
                                        </a:rPr>
                                      </m:ctrlPr>
                                    </m:dPr>
                                    <m:e>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𝑠</m:t>
                                          </m:r>
                                        </m:e>
                                        <m:sup>
                                          <m:r>
                                            <a:rPr lang="en-US" altLang="zh-CN" i="1" dirty="0">
                                              <a:latin typeface="Cambria Math" panose="02040503050406030204" pitchFamily="18" charset="0"/>
                                            </a:rPr>
                                            <m:t>′</m:t>
                                          </m:r>
                                        </m:sup>
                                      </m:sSup>
                                      <m:r>
                                        <a:rPr lang="en-US" altLang="zh-CN" i="1" dirty="0">
                                          <a:latin typeface="Cambria Math" panose="02040503050406030204" pitchFamily="18" charset="0"/>
                                        </a:rPr>
                                        <m:t>,</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𝑎</m:t>
                                          </m:r>
                                        </m:e>
                                        <m:sup>
                                          <m:r>
                                            <a:rPr lang="en-US" altLang="zh-CN" i="1" dirty="0">
                                              <a:latin typeface="Cambria Math" panose="02040503050406030204" pitchFamily="18" charset="0"/>
                                            </a:rPr>
                                            <m:t>′</m:t>
                                          </m:r>
                                        </m:sup>
                                      </m:sSup>
                                      <m:r>
                                        <a:rPr lang="en-US" altLang="zh-CN" i="1" dirty="0">
                                          <a:latin typeface="Cambria Math" panose="02040503050406030204" pitchFamily="18" charset="0"/>
                                        </a:rPr>
                                        <m:t>;</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𝜃</m:t>
                                          </m:r>
                                        </m:e>
                                        <m:sup>
                                          <m:r>
                                            <a:rPr lang="en-US" altLang="zh-CN" i="1" dirty="0">
                                              <a:latin typeface="Cambria Math" panose="02040503050406030204" pitchFamily="18" charset="0"/>
                                            </a:rPr>
                                            <m:t>−</m:t>
                                          </m:r>
                                        </m:sup>
                                      </m:sSup>
                                    </m:e>
                                  </m:d>
                                  <m:r>
                                    <a:rPr lang="en-US" altLang="zh-CN" i="1" dirty="0">
                                      <a:latin typeface="Cambria Math" panose="02040503050406030204" pitchFamily="18" charset="0"/>
                                    </a:rPr>
                                    <m:t>−</m:t>
                                  </m:r>
                                  <m:r>
                                    <a:rPr lang="en-US" altLang="zh-CN" i="1" dirty="0">
                                      <a:latin typeface="Cambria Math" panose="02040503050406030204" pitchFamily="18" charset="0"/>
                                    </a:rPr>
                                    <m:t>𝑄</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𝑠</m:t>
                                      </m:r>
                                      <m:r>
                                        <a:rPr lang="en-US" altLang="zh-CN" i="1" dirty="0">
                                          <a:latin typeface="Cambria Math" panose="02040503050406030204" pitchFamily="18" charset="0"/>
                                        </a:rPr>
                                        <m:t>,</m:t>
                                      </m:r>
                                      <m:r>
                                        <a:rPr lang="en-US" altLang="zh-CN" i="1" dirty="0">
                                          <a:latin typeface="Cambria Math" panose="02040503050406030204" pitchFamily="18" charset="0"/>
                                        </a:rPr>
                                        <m:t>𝑎</m:t>
                                      </m:r>
                                      <m:r>
                                        <a:rPr lang="en-US" altLang="zh-CN" i="1" dirty="0">
                                          <a:latin typeface="Cambria Math" panose="02040503050406030204" pitchFamily="18" charset="0"/>
                                        </a:rPr>
                                        <m:t>;</m:t>
                                      </m:r>
                                      <m:r>
                                        <a:rPr lang="en-US" altLang="zh-CN" i="1" dirty="0">
                                          <a:latin typeface="Cambria Math" panose="02040503050406030204" pitchFamily="18" charset="0"/>
                                        </a:rPr>
                                        <m:t>𝜃</m:t>
                                      </m:r>
                                    </m:e>
                                  </m:d>
                                </m:e>
                              </m:d>
                            </m:e>
                            <m:sup>
                              <m:r>
                                <a:rPr lang="en-US" altLang="zh-CN" i="1" dirty="0">
                                  <a:latin typeface="Cambria Math" panose="02040503050406030204" pitchFamily="18" charset="0"/>
                                </a:rPr>
                                <m:t>2</m:t>
                              </m:r>
                            </m:sup>
                          </m:sSup>
                        </m:e>
                      </m:d>
                    </m:oMath>
                  </m:oMathPara>
                </a14:m>
                <a:endParaRPr lang="zh-CN" altLang="en-US" dirty="0"/>
              </a:p>
            </p:txBody>
          </p:sp>
        </mc:Choice>
        <mc:Fallback>
          <p:sp>
            <p:nvSpPr>
              <p:cNvPr id="25" name="文本框 24">
                <a:extLst>
                  <a:ext uri="{FF2B5EF4-FFF2-40B4-BE49-F238E27FC236}">
                    <a16:creationId xmlns:a16="http://schemas.microsoft.com/office/drawing/2014/main" id="{E64C348D-4696-8F10-3FA2-8A9715FF7B2C}"/>
                  </a:ext>
                </a:extLst>
              </p:cNvPr>
              <p:cNvSpPr txBox="1">
                <a:spLocks noRot="1" noChangeAspect="1" noMove="1" noResize="1" noEditPoints="1" noAdjustHandles="1" noChangeArrowheads="1" noChangeShapeType="1" noTextEdit="1"/>
              </p:cNvSpPr>
              <p:nvPr/>
            </p:nvSpPr>
            <p:spPr>
              <a:xfrm>
                <a:off x="5069402" y="454705"/>
                <a:ext cx="6773656" cy="708720"/>
              </a:xfrm>
              <a:prstGeom prst="rect">
                <a:avLst/>
              </a:prstGeom>
              <a:blipFill>
                <a:blip r:embed="rId5"/>
                <a:stretch>
                  <a:fillRect/>
                </a:stretch>
              </a:blipFill>
            </p:spPr>
            <p:txBody>
              <a:bodyPr/>
              <a:lstStyle/>
              <a:p>
                <a:r>
                  <a:rPr lang="zh-CN" altLang="en-US">
                    <a:noFill/>
                  </a:rPr>
                  <a:t> </a:t>
                </a:r>
              </a:p>
            </p:txBody>
          </p:sp>
        </mc:Fallback>
      </mc:AlternateContent>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8100000" flipH="1" flipV="1">
            <a:off x="457835" y="315595"/>
            <a:ext cx="525780" cy="525780"/>
          </a:xfrm>
          <a:prstGeom prst="ellipse">
            <a:avLst/>
          </a:prstGeom>
          <a:gradFill flip="none" rotWithShape="1">
            <a:gsLst>
              <a:gs pos="0">
                <a:srgbClr val="D3BDA6">
                  <a:alpha val="0"/>
                </a:srgbClr>
              </a:gs>
              <a:gs pos="100000">
                <a:srgbClr val="B48E67">
                  <a:alpha val="67000"/>
                </a:srgbClr>
              </a:gs>
            </a:gsLst>
            <a:lin ang="16200000" scaled="1"/>
          </a:gradFill>
          <a:ln/>
        </p:spPr>
      </p:sp>
      <p:sp>
        <p:nvSpPr>
          <p:cNvPr id="3" name="Text 1"/>
          <p:cNvSpPr/>
          <p:nvPr/>
        </p:nvSpPr>
        <p:spPr>
          <a:xfrm rot="8100000">
            <a:off x="457835" y="315595"/>
            <a:ext cx="525780" cy="52578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11456035" y="592138"/>
            <a:ext cx="351155" cy="43815"/>
          </a:xfrm>
          <a:prstGeom prst="roundRect">
            <a:avLst>
              <a:gd name="adj" fmla="val 50000"/>
            </a:avLst>
          </a:prstGeom>
          <a:solidFill>
            <a:srgbClr val="D3BDA6"/>
          </a:solidFill>
          <a:ln/>
        </p:spPr>
      </p:sp>
      <p:sp>
        <p:nvSpPr>
          <p:cNvPr id="5" name="Text 3"/>
          <p:cNvSpPr/>
          <p:nvPr/>
        </p:nvSpPr>
        <p:spPr>
          <a:xfrm>
            <a:off x="11456035" y="592138"/>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11456035" y="712153"/>
            <a:ext cx="351155" cy="43815"/>
          </a:xfrm>
          <a:prstGeom prst="roundRect">
            <a:avLst>
              <a:gd name="adj" fmla="val 50000"/>
            </a:avLst>
          </a:prstGeom>
          <a:solidFill>
            <a:srgbClr val="D3BDA6"/>
          </a:solidFill>
          <a:ln/>
        </p:spPr>
      </p:sp>
      <p:sp>
        <p:nvSpPr>
          <p:cNvPr id="7" name="Text 5"/>
          <p:cNvSpPr/>
          <p:nvPr/>
        </p:nvSpPr>
        <p:spPr>
          <a:xfrm>
            <a:off x="11456035" y="712153"/>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11456035" y="832168"/>
            <a:ext cx="351155" cy="43815"/>
          </a:xfrm>
          <a:prstGeom prst="roundRect">
            <a:avLst>
              <a:gd name="adj" fmla="val 50000"/>
            </a:avLst>
          </a:prstGeom>
          <a:solidFill>
            <a:srgbClr val="D3BDA6"/>
          </a:solidFill>
          <a:ln/>
        </p:spPr>
      </p:sp>
      <p:sp>
        <p:nvSpPr>
          <p:cNvPr id="9" name="Text 7"/>
          <p:cNvSpPr/>
          <p:nvPr/>
        </p:nvSpPr>
        <p:spPr>
          <a:xfrm>
            <a:off x="11456035" y="832168"/>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8"/>
          <p:cNvSpPr/>
          <p:nvPr/>
        </p:nvSpPr>
        <p:spPr>
          <a:xfrm>
            <a:off x="11456035" y="592138"/>
            <a:ext cx="351155" cy="43815"/>
          </a:xfrm>
          <a:prstGeom prst="roundRect">
            <a:avLst>
              <a:gd name="adj" fmla="val 50000"/>
            </a:avLst>
          </a:prstGeom>
          <a:solidFill>
            <a:srgbClr val="D3BDA6"/>
          </a:solidFill>
          <a:ln/>
        </p:spPr>
      </p:sp>
      <p:sp>
        <p:nvSpPr>
          <p:cNvPr id="11" name="Text 9"/>
          <p:cNvSpPr/>
          <p:nvPr/>
        </p:nvSpPr>
        <p:spPr>
          <a:xfrm>
            <a:off x="11456035" y="592138"/>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10"/>
          <p:cNvSpPr/>
          <p:nvPr/>
        </p:nvSpPr>
        <p:spPr>
          <a:xfrm>
            <a:off x="11456035" y="712153"/>
            <a:ext cx="351155" cy="43815"/>
          </a:xfrm>
          <a:prstGeom prst="roundRect">
            <a:avLst>
              <a:gd name="adj" fmla="val 50000"/>
            </a:avLst>
          </a:prstGeom>
          <a:solidFill>
            <a:srgbClr val="D3BDA6"/>
          </a:solidFill>
          <a:ln/>
        </p:spPr>
      </p:sp>
      <p:sp>
        <p:nvSpPr>
          <p:cNvPr id="13" name="Text 11"/>
          <p:cNvSpPr/>
          <p:nvPr/>
        </p:nvSpPr>
        <p:spPr>
          <a:xfrm>
            <a:off x="11456035" y="712153"/>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2"/>
          <p:cNvSpPr/>
          <p:nvPr/>
        </p:nvSpPr>
        <p:spPr>
          <a:xfrm>
            <a:off x="11456035" y="832168"/>
            <a:ext cx="351155" cy="43815"/>
          </a:xfrm>
          <a:prstGeom prst="roundRect">
            <a:avLst>
              <a:gd name="adj" fmla="val 50000"/>
            </a:avLst>
          </a:prstGeom>
          <a:solidFill>
            <a:srgbClr val="D3BDA6"/>
          </a:solidFill>
          <a:ln/>
        </p:spPr>
      </p:sp>
      <p:sp>
        <p:nvSpPr>
          <p:cNvPr id="15" name="Text 13"/>
          <p:cNvSpPr/>
          <p:nvPr/>
        </p:nvSpPr>
        <p:spPr>
          <a:xfrm>
            <a:off x="11456035" y="832168"/>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16" name="Text 14"/>
          <p:cNvSpPr/>
          <p:nvPr/>
        </p:nvSpPr>
        <p:spPr>
          <a:xfrm>
            <a:off x="667385" y="524510"/>
            <a:ext cx="6272530" cy="499467"/>
          </a:xfrm>
          <a:prstGeom prst="rect">
            <a:avLst/>
          </a:prstGeom>
          <a:noFill/>
          <a:ln/>
        </p:spPr>
        <p:txBody>
          <a:bodyPr wrap="square" lIns="91440" tIns="45720" rIns="91440" bIns="45720" rtlCol="0" anchor="t">
            <a:spAutoFit/>
          </a:bodyPr>
          <a:lstStyle/>
          <a:p>
            <a:pPr>
              <a:lnSpc>
                <a:spcPct val="100000"/>
              </a:lnSpc>
            </a:pPr>
            <a:r>
              <a:rPr lang="en-US" sz="3200" b="1" dirty="0">
                <a:solidFill>
                  <a:srgbClr val="2B2F36"/>
                </a:solidFill>
                <a:latin typeface="MiSans" pitchFamily="34" charset="0"/>
                <a:ea typeface="MiSans" pitchFamily="34" charset="-122"/>
                <a:cs typeface="MiSans" pitchFamily="34" charset="-120"/>
              </a:rPr>
              <a:t>FrozenLake Case Study</a:t>
            </a:r>
            <a:endParaRPr lang="en-US" sz="1600" dirty="0"/>
          </a:p>
        </p:txBody>
      </p:sp>
      <p:sp>
        <p:nvSpPr>
          <p:cNvPr id="17" name="Shape 15"/>
          <p:cNvSpPr/>
          <p:nvPr/>
        </p:nvSpPr>
        <p:spPr>
          <a:xfrm>
            <a:off x="-16510" y="6572885"/>
            <a:ext cx="12221210" cy="285115"/>
          </a:xfrm>
          <a:prstGeom prst="rect">
            <a:avLst/>
          </a:prstGeom>
          <a:gradFill flip="none" rotWithShape="1">
            <a:gsLst>
              <a:gs pos="0">
                <a:srgbClr val="D3BDA6"/>
              </a:gs>
              <a:gs pos="100000">
                <a:srgbClr val="BFA492"/>
              </a:gs>
            </a:gsLst>
            <a:lin ang="2700000" scaled="1"/>
          </a:gradFill>
          <a:ln/>
        </p:spPr>
      </p:sp>
      <p:sp>
        <p:nvSpPr>
          <p:cNvPr id="18" name="Text 16"/>
          <p:cNvSpPr/>
          <p:nvPr/>
        </p:nvSpPr>
        <p:spPr>
          <a:xfrm>
            <a:off x="-16510" y="6572885"/>
            <a:ext cx="12221210" cy="285115"/>
          </a:xfrm>
          <a:prstGeom prst="rect">
            <a:avLst/>
          </a:prstGeom>
          <a:noFill/>
          <a:ln/>
        </p:spPr>
        <p:txBody>
          <a:bodyPr wrap="square" lIns="45720" tIns="91440" rIns="91440" bIns="45720" rtlCol="0" anchor="ctr"/>
          <a:lstStyle/>
          <a:p>
            <a:pPr>
              <a:lnSpc>
                <a:spcPct val="100000"/>
              </a:lnSpc>
            </a:pPr>
            <a:endParaRPr lang="en-US" sz="1600" dirty="0"/>
          </a:p>
        </p:txBody>
      </p:sp>
      <p:sp>
        <p:nvSpPr>
          <p:cNvPr id="19" name="Shape 17"/>
          <p:cNvSpPr/>
          <p:nvPr/>
        </p:nvSpPr>
        <p:spPr>
          <a:xfrm>
            <a:off x="678992" y="1943179"/>
            <a:ext cx="1640008" cy="1640683"/>
          </a:xfrm>
          <a:prstGeom prst="ellipse">
            <a:avLst/>
          </a:prstGeom>
          <a:gradFill flip="none" rotWithShape="1">
            <a:gsLst>
              <a:gs pos="0">
                <a:srgbClr val="D3BDA6"/>
              </a:gs>
              <a:gs pos="100000">
                <a:srgbClr val="BFA492"/>
              </a:gs>
            </a:gsLst>
            <a:lin ang="2700000" scaled="1"/>
          </a:gradFill>
          <a:ln/>
        </p:spPr>
      </p:sp>
      <p:sp>
        <p:nvSpPr>
          <p:cNvPr id="20" name="Text 18"/>
          <p:cNvSpPr/>
          <p:nvPr/>
        </p:nvSpPr>
        <p:spPr>
          <a:xfrm>
            <a:off x="678992" y="1943179"/>
            <a:ext cx="1640008" cy="1640683"/>
          </a:xfrm>
          <a:prstGeom prst="rect">
            <a:avLst/>
          </a:prstGeom>
          <a:noFill/>
          <a:ln/>
        </p:spPr>
        <p:txBody>
          <a:bodyPr wrap="square" lIns="45720" tIns="91440" rIns="91440" bIns="45720" rtlCol="0" anchor="ctr"/>
          <a:lstStyle/>
          <a:p>
            <a:pPr>
              <a:lnSpc>
                <a:spcPct val="100000"/>
              </a:lnSpc>
            </a:pPr>
            <a:endParaRPr lang="en-US" sz="1600" dirty="0"/>
          </a:p>
        </p:txBody>
      </p:sp>
      <p:sp>
        <p:nvSpPr>
          <p:cNvPr id="21" name="Shape 19"/>
          <p:cNvSpPr/>
          <p:nvPr/>
        </p:nvSpPr>
        <p:spPr>
          <a:xfrm>
            <a:off x="521970" y="1777365"/>
            <a:ext cx="8998234" cy="1972310"/>
          </a:xfrm>
          <a:prstGeom prst="roundRect">
            <a:avLst>
              <a:gd name="adj" fmla="val 50000"/>
            </a:avLst>
          </a:prstGeom>
          <a:solidFill>
            <a:srgbClr val="000000">
              <a:alpha val="0"/>
            </a:srgbClr>
          </a:solidFill>
          <a:ln w="19050">
            <a:gradFill flip="none" rotWithShape="1">
              <a:gsLst>
                <a:gs pos="0">
                  <a:srgbClr val="B48E67"/>
                </a:gs>
                <a:gs pos="100000">
                  <a:srgbClr val="B48E67">
                    <a:alpha val="0"/>
                  </a:srgbClr>
                </a:gs>
              </a:gsLst>
              <a:lin ang="0" scaled="1"/>
            </a:gradFill>
            <a:prstDash val="solid"/>
          </a:ln>
        </p:spPr>
      </p:sp>
      <p:sp>
        <p:nvSpPr>
          <p:cNvPr id="22" name="Text 20"/>
          <p:cNvSpPr/>
          <p:nvPr/>
        </p:nvSpPr>
        <p:spPr>
          <a:xfrm>
            <a:off x="521970" y="1777365"/>
            <a:ext cx="8998234" cy="1972310"/>
          </a:xfrm>
          <a:prstGeom prst="rect">
            <a:avLst/>
          </a:prstGeom>
          <a:noFill/>
          <a:ln/>
        </p:spPr>
        <p:txBody>
          <a:bodyPr wrap="square" lIns="45720" tIns="91440" rIns="91440" bIns="45720" rtlCol="0" anchor="ctr"/>
          <a:lstStyle/>
          <a:p>
            <a:pPr>
              <a:lnSpc>
                <a:spcPct val="100000"/>
              </a:lnSpc>
            </a:pPr>
            <a:endParaRPr lang="en-US" sz="1600" dirty="0"/>
          </a:p>
        </p:txBody>
      </p:sp>
      <p:sp>
        <p:nvSpPr>
          <p:cNvPr id="24" name="Shape 21"/>
          <p:cNvSpPr/>
          <p:nvPr/>
        </p:nvSpPr>
        <p:spPr>
          <a:xfrm>
            <a:off x="678992" y="4158059"/>
            <a:ext cx="1640008" cy="1640683"/>
          </a:xfrm>
          <a:prstGeom prst="ellipse">
            <a:avLst/>
          </a:prstGeom>
          <a:gradFill flip="none" rotWithShape="1">
            <a:gsLst>
              <a:gs pos="0">
                <a:srgbClr val="D3BDA6"/>
              </a:gs>
              <a:gs pos="100000">
                <a:srgbClr val="BFA492"/>
              </a:gs>
            </a:gsLst>
            <a:lin ang="2700000" scaled="1"/>
          </a:gradFill>
          <a:ln/>
        </p:spPr>
      </p:sp>
      <p:sp>
        <p:nvSpPr>
          <p:cNvPr id="25" name="Text 22"/>
          <p:cNvSpPr/>
          <p:nvPr/>
        </p:nvSpPr>
        <p:spPr>
          <a:xfrm>
            <a:off x="678992" y="4158059"/>
            <a:ext cx="1640008" cy="1640683"/>
          </a:xfrm>
          <a:prstGeom prst="rect">
            <a:avLst/>
          </a:prstGeom>
          <a:noFill/>
          <a:ln/>
        </p:spPr>
        <p:txBody>
          <a:bodyPr wrap="square" lIns="45720" tIns="91440" rIns="91440" bIns="45720" rtlCol="0" anchor="ctr"/>
          <a:lstStyle/>
          <a:p>
            <a:pPr>
              <a:lnSpc>
                <a:spcPct val="100000"/>
              </a:lnSpc>
            </a:pPr>
            <a:endParaRPr lang="en-US" sz="1600" dirty="0"/>
          </a:p>
        </p:txBody>
      </p:sp>
      <p:sp>
        <p:nvSpPr>
          <p:cNvPr id="26" name="Shape 23"/>
          <p:cNvSpPr/>
          <p:nvPr/>
        </p:nvSpPr>
        <p:spPr>
          <a:xfrm>
            <a:off x="521970" y="3992245"/>
            <a:ext cx="8998234" cy="1972310"/>
          </a:xfrm>
          <a:prstGeom prst="roundRect">
            <a:avLst>
              <a:gd name="adj" fmla="val 50000"/>
            </a:avLst>
          </a:prstGeom>
          <a:solidFill>
            <a:srgbClr val="000000">
              <a:alpha val="0"/>
            </a:srgbClr>
          </a:solidFill>
          <a:ln w="19050">
            <a:gradFill flip="none" rotWithShape="1">
              <a:gsLst>
                <a:gs pos="0">
                  <a:srgbClr val="B48E67"/>
                </a:gs>
                <a:gs pos="100000">
                  <a:srgbClr val="B48E67">
                    <a:alpha val="0"/>
                  </a:srgbClr>
                </a:gs>
              </a:gsLst>
              <a:lin ang="0" scaled="1"/>
            </a:gradFill>
            <a:prstDash val="solid"/>
          </a:ln>
        </p:spPr>
      </p:sp>
      <p:sp>
        <p:nvSpPr>
          <p:cNvPr id="27" name="Text 24"/>
          <p:cNvSpPr/>
          <p:nvPr/>
        </p:nvSpPr>
        <p:spPr>
          <a:xfrm>
            <a:off x="521970" y="3992245"/>
            <a:ext cx="8998234" cy="1972310"/>
          </a:xfrm>
          <a:prstGeom prst="rect">
            <a:avLst/>
          </a:prstGeom>
          <a:noFill/>
          <a:ln/>
        </p:spPr>
        <p:txBody>
          <a:bodyPr wrap="square" lIns="45720" tIns="91440" rIns="91440" bIns="45720" rtlCol="0" anchor="ctr"/>
          <a:lstStyle/>
          <a:p>
            <a:pPr>
              <a:lnSpc>
                <a:spcPct val="100000"/>
              </a:lnSpc>
            </a:pPr>
            <a:endParaRPr lang="en-US" sz="1600" dirty="0"/>
          </a:p>
        </p:txBody>
      </p:sp>
      <p:sp>
        <p:nvSpPr>
          <p:cNvPr id="28" name="Text 25"/>
          <p:cNvSpPr/>
          <p:nvPr/>
        </p:nvSpPr>
        <p:spPr>
          <a:xfrm>
            <a:off x="731333" y="2266079"/>
            <a:ext cx="1424829" cy="837009"/>
          </a:xfrm>
          <a:prstGeom prst="rect">
            <a:avLst/>
          </a:prstGeom>
          <a:noFill/>
          <a:ln/>
        </p:spPr>
        <p:txBody>
          <a:bodyPr wrap="square" lIns="91440" tIns="45720" rIns="91440" bIns="45720" rtlCol="0" anchor="t">
            <a:spAutoFit/>
          </a:bodyPr>
          <a:lstStyle/>
          <a:p>
            <a:pPr>
              <a:lnSpc>
                <a:spcPct val="100000"/>
              </a:lnSpc>
            </a:pPr>
            <a:r>
              <a:rPr lang="en-US" sz="5400" b="1" dirty="0">
                <a:solidFill>
                  <a:srgbClr val="FFFFFF"/>
                </a:solidFill>
                <a:latin typeface="MiSans" pitchFamily="34" charset="0"/>
                <a:ea typeface="MiSans" pitchFamily="34" charset="-122"/>
                <a:cs typeface="MiSans" pitchFamily="34" charset="-120"/>
              </a:rPr>
              <a:t>01</a:t>
            </a:r>
            <a:endParaRPr lang="en-US" sz="1600" dirty="0"/>
          </a:p>
        </p:txBody>
      </p:sp>
      <p:sp>
        <p:nvSpPr>
          <p:cNvPr id="29" name="Text 26"/>
          <p:cNvSpPr/>
          <p:nvPr/>
        </p:nvSpPr>
        <p:spPr>
          <a:xfrm>
            <a:off x="2457373" y="1901646"/>
            <a:ext cx="7660082" cy="306784"/>
          </a:xfrm>
          <a:prstGeom prst="rect">
            <a:avLst/>
          </a:prstGeom>
          <a:noFill/>
          <a:ln/>
        </p:spPr>
        <p:txBody>
          <a:bodyPr wrap="square" lIns="91440" tIns="45720" rIns="91440" bIns="45720" rtlCol="0" anchor="t">
            <a:spAutoFit/>
          </a:bodyPr>
          <a:lstStyle/>
          <a:p>
            <a:pPr>
              <a:lnSpc>
                <a:spcPct val="100000"/>
              </a:lnSpc>
            </a:pPr>
            <a:r>
              <a:rPr lang="en-US" sz="2000" b="1" dirty="0">
                <a:solidFill>
                  <a:srgbClr val="000000"/>
                </a:solidFill>
                <a:latin typeface="MiSans" pitchFamily="34" charset="0"/>
                <a:ea typeface="MiSans" pitchFamily="34" charset="-122"/>
                <a:cs typeface="MiSans" pitchFamily="34" charset="-120"/>
              </a:rPr>
              <a:t>Case Study Overview</a:t>
            </a:r>
            <a:endParaRPr lang="en-US" sz="1600" dirty="0"/>
          </a:p>
        </p:txBody>
      </p:sp>
      <p:sp>
        <p:nvSpPr>
          <p:cNvPr id="30" name="Text 27"/>
          <p:cNvSpPr/>
          <p:nvPr/>
        </p:nvSpPr>
        <p:spPr>
          <a:xfrm>
            <a:off x="2457373" y="2330803"/>
            <a:ext cx="5923485" cy="857647"/>
          </a:xfrm>
          <a:prstGeom prst="rect">
            <a:avLst/>
          </a:prstGeom>
          <a:noFill/>
          <a:ln/>
        </p:spPr>
        <p:txBody>
          <a:bodyPr wrap="square" lIns="91440" tIns="45720" rIns="91440" bIns="45720" rtlCol="0" anchor="t">
            <a:spAutoFit/>
          </a:bodyPr>
          <a:lstStyle/>
          <a:p>
            <a:pPr>
              <a:lnSpc>
                <a:spcPct val="130000"/>
              </a:lnSpc>
            </a:pPr>
            <a:r>
              <a:rPr lang="en-US" sz="1400" dirty="0">
                <a:solidFill>
                  <a:srgbClr val="000000"/>
                </a:solidFill>
                <a:latin typeface="MiSans" pitchFamily="34" charset="0"/>
                <a:ea typeface="MiSans" pitchFamily="34" charset="-122"/>
                <a:cs typeface="MiSans" pitchFamily="34" charset="-120"/>
              </a:rPr>
              <a:t>The FrozenLake task demonstrates challenges in applying reinforcement learning to large language models, including representation mismatch and inefficient exploration.</a:t>
            </a:r>
            <a:endParaRPr lang="en-US" sz="1600" dirty="0"/>
          </a:p>
        </p:txBody>
      </p:sp>
      <p:sp>
        <p:nvSpPr>
          <p:cNvPr id="31" name="Text 28"/>
          <p:cNvSpPr/>
          <p:nvPr/>
        </p:nvSpPr>
        <p:spPr>
          <a:xfrm>
            <a:off x="731333" y="4480959"/>
            <a:ext cx="1424829" cy="837009"/>
          </a:xfrm>
          <a:prstGeom prst="rect">
            <a:avLst/>
          </a:prstGeom>
          <a:noFill/>
          <a:ln/>
        </p:spPr>
        <p:txBody>
          <a:bodyPr wrap="square" lIns="91440" tIns="45720" rIns="91440" bIns="45720" rtlCol="0" anchor="t">
            <a:spAutoFit/>
          </a:bodyPr>
          <a:lstStyle/>
          <a:p>
            <a:pPr>
              <a:lnSpc>
                <a:spcPct val="100000"/>
              </a:lnSpc>
            </a:pPr>
            <a:r>
              <a:rPr lang="en-US" sz="5400" b="1" dirty="0">
                <a:solidFill>
                  <a:srgbClr val="FFFFFF"/>
                </a:solidFill>
                <a:latin typeface="MiSans" pitchFamily="34" charset="0"/>
                <a:ea typeface="MiSans" pitchFamily="34" charset="-122"/>
                <a:cs typeface="MiSans" pitchFamily="34" charset="-120"/>
              </a:rPr>
              <a:t>02</a:t>
            </a:r>
            <a:endParaRPr lang="en-US" sz="1600" dirty="0"/>
          </a:p>
        </p:txBody>
      </p:sp>
      <p:sp>
        <p:nvSpPr>
          <p:cNvPr id="32" name="Text 29"/>
          <p:cNvSpPr/>
          <p:nvPr/>
        </p:nvSpPr>
        <p:spPr>
          <a:xfrm>
            <a:off x="2457373" y="4116526"/>
            <a:ext cx="7660082" cy="306784"/>
          </a:xfrm>
          <a:prstGeom prst="rect">
            <a:avLst/>
          </a:prstGeom>
          <a:noFill/>
          <a:ln/>
        </p:spPr>
        <p:txBody>
          <a:bodyPr wrap="square" lIns="91440" tIns="45720" rIns="91440" bIns="45720" rtlCol="0" anchor="t">
            <a:spAutoFit/>
          </a:bodyPr>
          <a:lstStyle/>
          <a:p>
            <a:pPr>
              <a:lnSpc>
                <a:spcPct val="100000"/>
              </a:lnSpc>
            </a:pPr>
            <a:r>
              <a:rPr lang="en-US" sz="2000" b="1" dirty="0">
                <a:solidFill>
                  <a:srgbClr val="000000"/>
                </a:solidFill>
                <a:latin typeface="MiSans" pitchFamily="34" charset="0"/>
                <a:ea typeface="MiSans" pitchFamily="34" charset="-122"/>
                <a:cs typeface="MiSans" pitchFamily="34" charset="-120"/>
              </a:rPr>
              <a:t>Lessons Learned</a:t>
            </a:r>
            <a:endParaRPr lang="en-US" sz="1600" dirty="0"/>
          </a:p>
        </p:txBody>
      </p:sp>
      <p:sp>
        <p:nvSpPr>
          <p:cNvPr id="33" name="Text 30"/>
          <p:cNvSpPr/>
          <p:nvPr/>
        </p:nvSpPr>
        <p:spPr>
          <a:xfrm>
            <a:off x="2457373" y="4545683"/>
            <a:ext cx="5923485" cy="857647"/>
          </a:xfrm>
          <a:prstGeom prst="rect">
            <a:avLst/>
          </a:prstGeom>
          <a:noFill/>
          <a:ln/>
        </p:spPr>
        <p:txBody>
          <a:bodyPr wrap="square" lIns="91440" tIns="45720" rIns="91440" bIns="45720" rtlCol="0" anchor="t">
            <a:spAutoFit/>
          </a:bodyPr>
          <a:lstStyle/>
          <a:p>
            <a:pPr>
              <a:lnSpc>
                <a:spcPct val="130000"/>
              </a:lnSpc>
            </a:pPr>
            <a:r>
              <a:rPr lang="en-US" sz="1400" dirty="0">
                <a:solidFill>
                  <a:srgbClr val="000000"/>
                </a:solidFill>
                <a:latin typeface="MiSans" pitchFamily="34" charset="0"/>
                <a:ea typeface="MiSans" pitchFamily="34" charset="-122"/>
                <a:cs typeface="MiSans" pitchFamily="34" charset="-120"/>
              </a:rPr>
              <a:t>The case study highlights the need for task-specific state representations, shaped rewards, and data-efficient algorithms when combining LLMs with classic RL benchmarks.</a:t>
            </a:r>
            <a:endParaRPr lang="en-US" sz="1600" dirty="0"/>
          </a:p>
        </p:txBody>
      </p:sp>
      <p:pic>
        <p:nvPicPr>
          <p:cNvPr id="37" name="图片 36">
            <a:extLst>
              <a:ext uri="{FF2B5EF4-FFF2-40B4-BE49-F238E27FC236}">
                <a16:creationId xmlns:a16="http://schemas.microsoft.com/office/drawing/2014/main" id="{D0751062-3F91-6889-0CC2-37AA9A19C820}"/>
              </a:ext>
            </a:extLst>
          </p:cNvPr>
          <p:cNvPicPr>
            <a:picLocks noChangeAspect="1"/>
          </p:cNvPicPr>
          <p:nvPr/>
        </p:nvPicPr>
        <p:blipFill>
          <a:blip r:embed="rId3"/>
          <a:stretch>
            <a:fillRect/>
          </a:stretch>
        </p:blipFill>
        <p:spPr>
          <a:xfrm>
            <a:off x="8688005" y="2686217"/>
            <a:ext cx="1827237" cy="1955366"/>
          </a:xfrm>
          <a:prstGeom prst="rect">
            <a:avLst/>
          </a:prstGeom>
        </p:spPr>
      </p:pic>
      <p:pic>
        <p:nvPicPr>
          <p:cNvPr id="39" name="图片 38">
            <a:extLst>
              <a:ext uri="{FF2B5EF4-FFF2-40B4-BE49-F238E27FC236}">
                <a16:creationId xmlns:a16="http://schemas.microsoft.com/office/drawing/2014/main" id="{223E9DDD-5F17-BC96-C64F-6F9213CA30B3}"/>
              </a:ext>
            </a:extLst>
          </p:cNvPr>
          <p:cNvPicPr>
            <a:picLocks noChangeAspect="1"/>
          </p:cNvPicPr>
          <p:nvPr/>
        </p:nvPicPr>
        <p:blipFill>
          <a:blip r:embed="rId4"/>
          <a:stretch>
            <a:fillRect/>
          </a:stretch>
        </p:blipFill>
        <p:spPr>
          <a:xfrm>
            <a:off x="9857622" y="4458485"/>
            <a:ext cx="1949568" cy="2086275"/>
          </a:xfrm>
          <a:prstGeom prst="rect">
            <a:avLst/>
          </a:prstGeom>
        </p:spPr>
      </p:pic>
      <p:pic>
        <p:nvPicPr>
          <p:cNvPr id="35" name="图片 34">
            <a:extLst>
              <a:ext uri="{FF2B5EF4-FFF2-40B4-BE49-F238E27FC236}">
                <a16:creationId xmlns:a16="http://schemas.microsoft.com/office/drawing/2014/main" id="{EF3483BB-0950-028F-ABE8-B8F3C5848A5E}"/>
              </a:ext>
            </a:extLst>
          </p:cNvPr>
          <p:cNvPicPr>
            <a:picLocks noChangeAspect="1"/>
          </p:cNvPicPr>
          <p:nvPr/>
        </p:nvPicPr>
        <p:blipFill>
          <a:blip r:embed="rId5"/>
          <a:stretch>
            <a:fillRect/>
          </a:stretch>
        </p:blipFill>
        <p:spPr>
          <a:xfrm>
            <a:off x="9893490" y="592138"/>
            <a:ext cx="1949568" cy="2086275"/>
          </a:xfrm>
          <a:prstGeom prst="rect">
            <a:avLst/>
          </a:prstGeom>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6:31:08-d2sksj61bb2p4onbqi6g.png"/>
          <p:cNvPicPr>
            <a:picLocks noChangeAspect="1"/>
          </p:cNvPicPr>
          <p:nvPr/>
        </p:nvPicPr>
        <p:blipFill>
          <a:blip r:embed="rId3"/>
          <a:srcRect l="5" r="5"/>
          <a:stretch/>
        </p:blipFill>
        <p:spPr>
          <a:xfrm>
            <a:off x="-9525" y="-22225"/>
            <a:ext cx="12214860" cy="6910070"/>
          </a:xfrm>
          <a:prstGeom prst="rect">
            <a:avLst/>
          </a:prstGeom>
        </p:spPr>
      </p:pic>
      <p:sp>
        <p:nvSpPr>
          <p:cNvPr id="3" name="Shape 0"/>
          <p:cNvSpPr/>
          <p:nvPr/>
        </p:nvSpPr>
        <p:spPr>
          <a:xfrm>
            <a:off x="5172075" y="1997710"/>
            <a:ext cx="988695" cy="760730"/>
          </a:xfrm>
          <a:prstGeom prst="rect">
            <a:avLst/>
          </a:prstGeom>
          <a:solidFill>
            <a:srgbClr val="FFFFFF"/>
          </a:solidFill>
          <a:ln/>
        </p:spPr>
      </p:sp>
      <p:sp>
        <p:nvSpPr>
          <p:cNvPr id="4" name="Text 1"/>
          <p:cNvSpPr/>
          <p:nvPr/>
        </p:nvSpPr>
        <p:spPr>
          <a:xfrm>
            <a:off x="5172075" y="1997710"/>
            <a:ext cx="988695" cy="760730"/>
          </a:xfrm>
          <a:prstGeom prst="rect">
            <a:avLst/>
          </a:prstGeom>
          <a:noFill/>
          <a:ln/>
        </p:spPr>
        <p:txBody>
          <a:bodyPr wrap="square" lIns="45720" tIns="91440" rIns="91440" bIns="45720" rtlCol="0" anchor="ctr"/>
          <a:lstStyle/>
          <a:p>
            <a:pPr>
              <a:lnSpc>
                <a:spcPct val="100000"/>
              </a:lnSpc>
            </a:pPr>
            <a:endParaRPr lang="en-US" sz="1600" dirty="0"/>
          </a:p>
        </p:txBody>
      </p:sp>
      <p:sp>
        <p:nvSpPr>
          <p:cNvPr id="5" name="Text 2"/>
          <p:cNvSpPr/>
          <p:nvPr/>
        </p:nvSpPr>
        <p:spPr>
          <a:xfrm>
            <a:off x="5092065" y="2949575"/>
            <a:ext cx="6986905" cy="1015365"/>
          </a:xfrm>
          <a:prstGeom prst="rect">
            <a:avLst/>
          </a:prstGeom>
          <a:noFill/>
          <a:ln/>
        </p:spPr>
        <p:txBody>
          <a:bodyPr wrap="square" lIns="91440" tIns="45720" rIns="91440" bIns="45720" rtlCol="0" anchor="t"/>
          <a:lstStyle/>
          <a:p>
            <a:pPr>
              <a:lnSpc>
                <a:spcPct val="100000"/>
              </a:lnSpc>
            </a:pPr>
            <a:r>
              <a:rPr lang="en-US" sz="4400" b="1" dirty="0">
                <a:solidFill>
                  <a:srgbClr val="212931"/>
                </a:solidFill>
                <a:latin typeface="MiSans" pitchFamily="34" charset="0"/>
                <a:ea typeface="MiSans" pitchFamily="34" charset="-122"/>
                <a:cs typeface="MiSans" pitchFamily="34" charset="-120"/>
              </a:rPr>
              <a:t>Policy Gradient Methods</a:t>
            </a:r>
          </a:p>
        </p:txBody>
      </p:sp>
      <p:sp>
        <p:nvSpPr>
          <p:cNvPr id="6" name="Text 3"/>
          <p:cNvSpPr/>
          <p:nvPr/>
        </p:nvSpPr>
        <p:spPr>
          <a:xfrm>
            <a:off x="254000" y="2086610"/>
            <a:ext cx="3128010" cy="862965"/>
          </a:xfrm>
          <a:prstGeom prst="rect">
            <a:avLst/>
          </a:prstGeom>
          <a:noFill/>
          <a:ln/>
        </p:spPr>
        <p:txBody>
          <a:bodyPr wrap="square" lIns="91440" tIns="45720" rIns="91440" bIns="45720" rtlCol="0" anchor="t"/>
          <a:lstStyle/>
          <a:p>
            <a:pPr>
              <a:lnSpc>
                <a:spcPct val="100000"/>
              </a:lnSpc>
            </a:pPr>
            <a:r>
              <a:rPr lang="en-US" sz="16600" b="1" dirty="0">
                <a:solidFill>
                  <a:srgbClr val="FFFFFF"/>
                </a:solidFill>
                <a:latin typeface="MiSans" pitchFamily="34" charset="0"/>
                <a:ea typeface="MiSans" pitchFamily="34" charset="-122"/>
                <a:cs typeface="MiSans" pitchFamily="34" charset="-120"/>
              </a:rPr>
              <a:t>04</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8100000" flipH="1" flipV="1">
            <a:off x="457835" y="315595"/>
            <a:ext cx="525780" cy="525780"/>
          </a:xfrm>
          <a:prstGeom prst="ellipse">
            <a:avLst/>
          </a:prstGeom>
          <a:gradFill flip="none" rotWithShape="1">
            <a:gsLst>
              <a:gs pos="0">
                <a:srgbClr val="D3BDA6">
                  <a:alpha val="0"/>
                </a:srgbClr>
              </a:gs>
              <a:gs pos="100000">
                <a:srgbClr val="B48E67">
                  <a:alpha val="67000"/>
                </a:srgbClr>
              </a:gs>
            </a:gsLst>
            <a:lin ang="16200000" scaled="1"/>
          </a:gradFill>
          <a:ln/>
        </p:spPr>
      </p:sp>
      <p:sp>
        <p:nvSpPr>
          <p:cNvPr id="3" name="Text 1"/>
          <p:cNvSpPr/>
          <p:nvPr/>
        </p:nvSpPr>
        <p:spPr>
          <a:xfrm rot="8100000">
            <a:off x="457835" y="315595"/>
            <a:ext cx="525780" cy="525780"/>
          </a:xfrm>
          <a:prstGeom prst="rect">
            <a:avLst/>
          </a:prstGeom>
          <a:noFill/>
          <a:ln/>
        </p:spPr>
        <p:txBody>
          <a:bodyPr wrap="square" lIns="45720" tIns="91440" rIns="91440" bIns="45720" rtlCol="0" anchor="ctr"/>
          <a:lstStyle/>
          <a:p>
            <a:pPr>
              <a:lnSpc>
                <a:spcPct val="100000"/>
              </a:lnSpc>
            </a:pPr>
            <a:endParaRPr lang="en-US" sz="1600" dirty="0"/>
          </a:p>
        </p:txBody>
      </p:sp>
      <p:sp>
        <p:nvSpPr>
          <p:cNvPr id="5" name="Shape 2"/>
          <p:cNvSpPr/>
          <p:nvPr/>
        </p:nvSpPr>
        <p:spPr>
          <a:xfrm>
            <a:off x="0" y="1615440"/>
            <a:ext cx="5832000" cy="2439670"/>
          </a:xfrm>
          <a:prstGeom prst="rect">
            <a:avLst/>
          </a:prstGeom>
          <a:solidFill>
            <a:srgbClr val="D3BDA6"/>
          </a:solidFill>
          <a:ln/>
        </p:spPr>
      </p:sp>
      <p:sp>
        <p:nvSpPr>
          <p:cNvPr id="6" name="Text 3"/>
          <p:cNvSpPr/>
          <p:nvPr/>
        </p:nvSpPr>
        <p:spPr>
          <a:xfrm>
            <a:off x="0" y="1615440"/>
            <a:ext cx="5832000" cy="2439670"/>
          </a:xfrm>
          <a:prstGeom prst="rect">
            <a:avLst/>
          </a:prstGeom>
          <a:noFill/>
          <a:ln/>
        </p:spPr>
        <p:txBody>
          <a:bodyPr wrap="square" lIns="45720" tIns="91440" rIns="91440" bIns="45720" rtlCol="0" anchor="ctr"/>
          <a:lstStyle/>
          <a:p>
            <a:pPr>
              <a:lnSpc>
                <a:spcPct val="100000"/>
              </a:lnSpc>
            </a:pPr>
            <a:endParaRPr lang="en-US" sz="1600" dirty="0"/>
          </a:p>
        </p:txBody>
      </p:sp>
      <p:sp>
        <p:nvSpPr>
          <p:cNvPr id="7" name="Text 4"/>
          <p:cNvSpPr/>
          <p:nvPr/>
        </p:nvSpPr>
        <p:spPr>
          <a:xfrm>
            <a:off x="667385" y="524510"/>
            <a:ext cx="6272530" cy="499467"/>
          </a:xfrm>
          <a:prstGeom prst="rect">
            <a:avLst/>
          </a:prstGeom>
          <a:noFill/>
          <a:ln/>
        </p:spPr>
        <p:txBody>
          <a:bodyPr wrap="square" lIns="91440" tIns="45720" rIns="91440" bIns="45720" rtlCol="0" anchor="t">
            <a:spAutoFit/>
          </a:bodyPr>
          <a:lstStyle/>
          <a:p>
            <a:pPr>
              <a:lnSpc>
                <a:spcPct val="100000"/>
              </a:lnSpc>
            </a:pPr>
            <a:r>
              <a:rPr lang="en-US" sz="3200" b="1" dirty="0">
                <a:solidFill>
                  <a:srgbClr val="2B2F36"/>
                </a:solidFill>
                <a:latin typeface="MiSans" pitchFamily="34" charset="0"/>
                <a:ea typeface="MiSans" pitchFamily="34" charset="-122"/>
                <a:cs typeface="MiSans" pitchFamily="34" charset="-120"/>
              </a:rPr>
              <a:t>Proximal Policy Optimization</a:t>
            </a:r>
            <a:endParaRPr lang="en-US" sz="1600" dirty="0"/>
          </a:p>
        </p:txBody>
      </p:sp>
      <p:sp>
        <p:nvSpPr>
          <p:cNvPr id="8" name="Text 5"/>
          <p:cNvSpPr/>
          <p:nvPr/>
        </p:nvSpPr>
        <p:spPr>
          <a:xfrm>
            <a:off x="629920" y="2017395"/>
            <a:ext cx="4648681" cy="306784"/>
          </a:xfrm>
          <a:prstGeom prst="rect">
            <a:avLst/>
          </a:prstGeom>
          <a:noFill/>
          <a:ln/>
        </p:spPr>
        <p:txBody>
          <a:bodyPr wrap="square" lIns="91440" tIns="45720" rIns="91440" bIns="45720" rtlCol="0" anchor="t">
            <a:spAutoFit/>
          </a:bodyPr>
          <a:lstStyle/>
          <a:p>
            <a:pPr>
              <a:lnSpc>
                <a:spcPct val="100000"/>
              </a:lnSpc>
            </a:pPr>
            <a:r>
              <a:rPr lang="en-US" sz="2000" b="1" dirty="0">
                <a:solidFill>
                  <a:srgbClr val="FFFFFF"/>
                </a:solidFill>
                <a:latin typeface="MiSans" pitchFamily="34" charset="0"/>
                <a:ea typeface="MiSans" pitchFamily="34" charset="-122"/>
                <a:cs typeface="MiSans" pitchFamily="34" charset="-120"/>
              </a:rPr>
              <a:t>PPO Core Idea</a:t>
            </a:r>
            <a:endParaRPr lang="en-US" sz="1600" dirty="0"/>
          </a:p>
        </p:txBody>
      </p:sp>
      <p:sp>
        <p:nvSpPr>
          <p:cNvPr id="9" name="Text 6"/>
          <p:cNvSpPr/>
          <p:nvPr/>
        </p:nvSpPr>
        <p:spPr>
          <a:xfrm>
            <a:off x="629920" y="2397760"/>
            <a:ext cx="4813935" cy="857647"/>
          </a:xfrm>
          <a:prstGeom prst="rect">
            <a:avLst/>
          </a:prstGeom>
          <a:noFill/>
          <a:ln/>
        </p:spPr>
        <p:txBody>
          <a:bodyPr wrap="square" lIns="91440" tIns="45720" rIns="91440" bIns="45720" rtlCol="0" anchor="t">
            <a:spAutoFit/>
          </a:bodyPr>
          <a:lstStyle/>
          <a:p>
            <a:pPr>
              <a:lnSpc>
                <a:spcPct val="130000"/>
              </a:lnSpc>
            </a:pPr>
            <a:r>
              <a:rPr lang="en-US" sz="1400" dirty="0">
                <a:solidFill>
                  <a:srgbClr val="FFFFFF"/>
                </a:solidFill>
                <a:latin typeface="MiSans" pitchFamily="34" charset="0"/>
                <a:ea typeface="MiSans" pitchFamily="34" charset="-122"/>
                <a:cs typeface="MiSans" pitchFamily="34" charset="-120"/>
              </a:rPr>
              <a:t>PPO limits the magnitude of policy updates using a clipped surrogate objective, ensuring stable and monotonic improvement in policy performance.</a:t>
            </a:r>
            <a:endParaRPr lang="en-US" sz="1600" dirty="0"/>
          </a:p>
        </p:txBody>
      </p:sp>
      <p:sp>
        <p:nvSpPr>
          <p:cNvPr id="10" name="Text 7"/>
          <p:cNvSpPr/>
          <p:nvPr/>
        </p:nvSpPr>
        <p:spPr>
          <a:xfrm>
            <a:off x="629920" y="4316730"/>
            <a:ext cx="4883492" cy="284559"/>
          </a:xfrm>
          <a:prstGeom prst="rect">
            <a:avLst/>
          </a:prstGeom>
          <a:noFill/>
          <a:ln/>
        </p:spPr>
        <p:txBody>
          <a:bodyPr wrap="square" lIns="91440" tIns="45720" rIns="91440" bIns="45720" rtlCol="0" anchor="t">
            <a:spAutoFit/>
          </a:bodyPr>
          <a:lstStyle/>
          <a:p>
            <a:pPr>
              <a:lnSpc>
                <a:spcPct val="100000"/>
              </a:lnSpc>
            </a:pPr>
            <a:r>
              <a:rPr lang="en-US" sz="1800" b="1" dirty="0">
                <a:solidFill>
                  <a:srgbClr val="2C3741"/>
                </a:solidFill>
                <a:latin typeface="MiSans" pitchFamily="34" charset="0"/>
                <a:ea typeface="MiSans" pitchFamily="34" charset="-122"/>
                <a:cs typeface="MiSans" pitchFamily="34" charset="-120"/>
              </a:rPr>
              <a:t>Clip Objective Function</a:t>
            </a:r>
            <a:endParaRPr lang="en-US" sz="1600" dirty="0"/>
          </a:p>
        </p:txBody>
      </p:sp>
      <p:sp>
        <p:nvSpPr>
          <p:cNvPr id="11" name="Text 8"/>
          <p:cNvSpPr/>
          <p:nvPr/>
        </p:nvSpPr>
        <p:spPr>
          <a:xfrm>
            <a:off x="629920" y="4616450"/>
            <a:ext cx="4883785" cy="857647"/>
          </a:xfrm>
          <a:prstGeom prst="rect">
            <a:avLst/>
          </a:prstGeom>
          <a:noFill/>
          <a:ln/>
        </p:spPr>
        <p:txBody>
          <a:bodyPr wrap="square" lIns="91440" tIns="45720" rIns="91440" bIns="45720" rtlCol="0" anchor="t">
            <a:spAutoFit/>
          </a:bodyPr>
          <a:lstStyle/>
          <a:p>
            <a:pPr>
              <a:lnSpc>
                <a:spcPct val="130000"/>
              </a:lnSpc>
            </a:pPr>
            <a:r>
              <a:rPr lang="en-US" sz="1400" dirty="0">
                <a:solidFill>
                  <a:srgbClr val="2C3741"/>
                </a:solidFill>
                <a:latin typeface="MiSans" pitchFamily="34" charset="0"/>
                <a:ea typeface="MiSans" pitchFamily="34" charset="-122"/>
                <a:cs typeface="MiSans" pitchFamily="34" charset="-120"/>
              </a:rPr>
              <a:t>The clip objective function prevents large policy updates by clipping the probability ratio, balancing exploration and exploitation effectively.</a:t>
            </a:r>
            <a:endParaRPr lang="en-US" sz="1600" dirty="0"/>
          </a:p>
        </p:txBody>
      </p:sp>
      <p:sp>
        <p:nvSpPr>
          <p:cNvPr id="12" name="Text 9"/>
          <p:cNvSpPr/>
          <p:nvPr/>
        </p:nvSpPr>
        <p:spPr>
          <a:xfrm>
            <a:off x="6191885" y="4316730"/>
            <a:ext cx="4883492" cy="284559"/>
          </a:xfrm>
          <a:prstGeom prst="rect">
            <a:avLst/>
          </a:prstGeom>
          <a:noFill/>
          <a:ln/>
        </p:spPr>
        <p:txBody>
          <a:bodyPr wrap="square" lIns="91440" tIns="45720" rIns="91440" bIns="45720" rtlCol="0" anchor="t">
            <a:spAutoFit/>
          </a:bodyPr>
          <a:lstStyle/>
          <a:p>
            <a:pPr>
              <a:lnSpc>
                <a:spcPct val="100000"/>
              </a:lnSpc>
            </a:pPr>
            <a:r>
              <a:rPr lang="en-US" sz="1800" b="1" dirty="0">
                <a:solidFill>
                  <a:srgbClr val="2C3741"/>
                </a:solidFill>
                <a:latin typeface="MiSans" pitchFamily="34" charset="0"/>
                <a:ea typeface="MiSans" pitchFamily="34" charset="-122"/>
                <a:cs typeface="MiSans" pitchFamily="34" charset="-120"/>
              </a:rPr>
              <a:t>Practical Advantages</a:t>
            </a:r>
            <a:endParaRPr lang="en-US" sz="1600" dirty="0"/>
          </a:p>
        </p:txBody>
      </p:sp>
      <p:sp>
        <p:nvSpPr>
          <p:cNvPr id="13" name="Text 10"/>
          <p:cNvSpPr/>
          <p:nvPr/>
        </p:nvSpPr>
        <p:spPr>
          <a:xfrm>
            <a:off x="6191885" y="4616450"/>
            <a:ext cx="4883785" cy="857647"/>
          </a:xfrm>
          <a:prstGeom prst="rect">
            <a:avLst/>
          </a:prstGeom>
          <a:noFill/>
          <a:ln/>
        </p:spPr>
        <p:txBody>
          <a:bodyPr wrap="square" lIns="91440" tIns="45720" rIns="91440" bIns="45720" rtlCol="0" anchor="t">
            <a:spAutoFit/>
          </a:bodyPr>
          <a:lstStyle/>
          <a:p>
            <a:pPr>
              <a:lnSpc>
                <a:spcPct val="130000"/>
              </a:lnSpc>
            </a:pPr>
            <a:r>
              <a:rPr lang="en-US" sz="1400" dirty="0">
                <a:solidFill>
                  <a:srgbClr val="2C3741"/>
                </a:solidFill>
                <a:latin typeface="MiSans" pitchFamily="34" charset="0"/>
                <a:ea typeface="MiSans" pitchFamily="34" charset="-122"/>
                <a:cs typeface="MiSans" pitchFamily="34" charset="-120"/>
              </a:rPr>
              <a:t>PPO is simple to implement, robust to hyperparameter choices, and widely used for fine-tuning large language models and other complex reinforcement learning tasks.</a:t>
            </a:r>
            <a:endParaRPr lang="en-US" sz="1600" dirty="0"/>
          </a:p>
        </p:txBody>
      </p:sp>
      <p:pic>
        <p:nvPicPr>
          <p:cNvPr id="15" name="图片 14">
            <a:extLst>
              <a:ext uri="{FF2B5EF4-FFF2-40B4-BE49-F238E27FC236}">
                <a16:creationId xmlns:a16="http://schemas.microsoft.com/office/drawing/2014/main" id="{F0D98989-FE31-4E10-BA94-6DB32101E86B}"/>
              </a:ext>
            </a:extLst>
          </p:cNvPr>
          <p:cNvPicPr>
            <a:picLocks noChangeAspect="1"/>
          </p:cNvPicPr>
          <p:nvPr/>
        </p:nvPicPr>
        <p:blipFill>
          <a:blip r:embed="rId3"/>
          <a:stretch>
            <a:fillRect/>
          </a:stretch>
        </p:blipFill>
        <p:spPr>
          <a:xfrm>
            <a:off x="6539665" y="1615440"/>
            <a:ext cx="4883492" cy="2441746"/>
          </a:xfrm>
          <a:prstGeom prst="rect">
            <a:avLst/>
          </a:prstGeom>
        </p:spPr>
      </p:pic>
      <mc:AlternateContent xmlns:mc="http://schemas.openxmlformats.org/markup-compatibility/2006">
        <mc:Choice xmlns:a14="http://schemas.microsoft.com/office/drawing/2010/main" Requires="a14">
          <p:sp>
            <p:nvSpPr>
              <p:cNvPr id="16" name="文本框 15">
                <a:extLst>
                  <a:ext uri="{FF2B5EF4-FFF2-40B4-BE49-F238E27FC236}">
                    <a16:creationId xmlns:a16="http://schemas.microsoft.com/office/drawing/2014/main" id="{D01AAD5B-18C7-1F06-6677-4C4B4C56AD45}"/>
                  </a:ext>
                </a:extLst>
              </p:cNvPr>
              <p:cNvSpPr txBox="1"/>
              <p:nvPr/>
            </p:nvSpPr>
            <p:spPr>
              <a:xfrm>
                <a:off x="1092508" y="6036527"/>
                <a:ext cx="10266868" cy="404983"/>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p>
                        <m:sSupPr>
                          <m:ctrlPr>
                            <a:rPr lang="en-US" altLang="zh-CN" i="1" dirty="0" smtClean="0">
                              <a:latin typeface="Cambria Math" panose="02040503050406030204" pitchFamily="18" charset="0"/>
                            </a:rPr>
                          </m:ctrlPr>
                        </m:sSupPr>
                        <m:e>
                          <m:r>
                            <a:rPr lang="en-US" altLang="zh-CN" i="1" dirty="0" smtClean="0">
                              <a:latin typeface="Cambria Math" panose="02040503050406030204" pitchFamily="18" charset="0"/>
                            </a:rPr>
                            <m:t>𝐿</m:t>
                          </m:r>
                        </m:e>
                        <m:sup>
                          <m:r>
                            <a:rPr lang="en-US" altLang="zh-CN" i="1" dirty="0" smtClean="0">
                              <a:latin typeface="Cambria Math" panose="02040503050406030204" pitchFamily="18" charset="0"/>
                            </a:rPr>
                            <m:t>𝐶𝐿𝐼𝑃</m:t>
                          </m:r>
                        </m:sup>
                      </m:sSup>
                      <m:d>
                        <m:dPr>
                          <m:ctrlPr>
                            <a:rPr lang="en-US" altLang="zh-CN" i="1" dirty="0" smtClean="0">
                              <a:latin typeface="Cambria Math" panose="02040503050406030204" pitchFamily="18" charset="0"/>
                            </a:rPr>
                          </m:ctrlPr>
                        </m:dPr>
                        <m:e>
                          <m:r>
                            <a:rPr lang="en-US" altLang="zh-CN" i="1" dirty="0" smtClean="0">
                              <a:latin typeface="Cambria Math" panose="02040503050406030204" pitchFamily="18" charset="0"/>
                            </a:rPr>
                            <m:t>𝜃</m:t>
                          </m:r>
                        </m:e>
                      </m:d>
                      <m:r>
                        <a:rPr lang="en-US" altLang="zh-CN"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i="1" dirty="0">
                              <a:latin typeface="Cambria Math" panose="02040503050406030204" pitchFamily="18" charset="0"/>
                            </a:rPr>
                            <m:t>𝐸</m:t>
                          </m:r>
                        </m:e>
                        <m:sub>
                          <m:r>
                            <a:rPr lang="en-US" altLang="zh-CN" i="1" dirty="0">
                              <a:latin typeface="Cambria Math" panose="02040503050406030204" pitchFamily="18" charset="0"/>
                            </a:rPr>
                            <m:t>𝑡</m:t>
                          </m:r>
                        </m:sub>
                      </m:sSub>
                      <m:d>
                        <m:dPr>
                          <m:begChr m:val="["/>
                          <m:endChr m:val="]"/>
                          <m:ctrlPr>
                            <a:rPr lang="en-US" altLang="zh-CN" i="1" dirty="0">
                              <a:latin typeface="Cambria Math" panose="02040503050406030204" pitchFamily="18" charset="0"/>
                            </a:rPr>
                          </m:ctrlPr>
                        </m:dPr>
                        <m:e>
                          <m:func>
                            <m:funcPr>
                              <m:ctrlPr>
                                <a:rPr lang="en-US" altLang="zh-CN" i="1" dirty="0">
                                  <a:latin typeface="Cambria Math" panose="02040503050406030204" pitchFamily="18" charset="0"/>
                                </a:rPr>
                              </m:ctrlPr>
                            </m:funcPr>
                            <m:fName>
                              <m:r>
                                <m:rPr>
                                  <m:sty m:val="p"/>
                                </m:rPr>
                                <a:rPr lang="en-US" altLang="zh-CN" i="0" dirty="0">
                                  <a:latin typeface="Cambria Math" panose="02040503050406030204" pitchFamily="18" charset="0"/>
                                </a:rPr>
                                <m:t>min</m:t>
                              </m:r>
                            </m:fName>
                            <m:e>
                              <m:d>
                                <m:dPr>
                                  <m:ctrlPr>
                                    <a:rPr lang="en-US" altLang="zh-CN" i="1" dirty="0">
                                      <a:latin typeface="Cambria Math" panose="02040503050406030204" pitchFamily="18" charset="0"/>
                                    </a:rPr>
                                  </m:ctrlPr>
                                </m:dPr>
                                <m:e>
                                  <m:sSub>
                                    <m:sSubPr>
                                      <m:ctrlPr>
                                        <a:rPr lang="en-US" altLang="zh-CN" i="1" dirty="0" err="1">
                                          <a:latin typeface="Cambria Math" panose="02040503050406030204" pitchFamily="18" charset="0"/>
                                        </a:rPr>
                                      </m:ctrlPr>
                                    </m:sSubPr>
                                    <m:e>
                                      <m:r>
                                        <a:rPr lang="en-US" altLang="zh-CN" i="1" dirty="0" err="1">
                                          <a:latin typeface="Cambria Math" panose="02040503050406030204" pitchFamily="18" charset="0"/>
                                        </a:rPr>
                                        <m:t>𝑟</m:t>
                                      </m:r>
                                    </m:e>
                                    <m:sub>
                                      <m:r>
                                        <a:rPr lang="en-US" altLang="zh-CN" i="1" dirty="0" err="1">
                                          <a:latin typeface="Cambria Math" panose="02040503050406030204" pitchFamily="18" charset="0"/>
                                        </a:rPr>
                                        <m:t>𝑡</m:t>
                                      </m:r>
                                    </m:sub>
                                  </m:sSub>
                                  <m:d>
                                    <m:dPr>
                                      <m:ctrlPr>
                                        <a:rPr lang="en-US" altLang="zh-CN" i="1" dirty="0">
                                          <a:latin typeface="Cambria Math" panose="02040503050406030204" pitchFamily="18" charset="0"/>
                                        </a:rPr>
                                      </m:ctrlPr>
                                    </m:dPr>
                                    <m:e>
                                      <m:r>
                                        <a:rPr lang="en-US" altLang="zh-CN" i="1" dirty="0">
                                          <a:latin typeface="Cambria Math" panose="02040503050406030204" pitchFamily="18" charset="0"/>
                                        </a:rPr>
                                        <m:t>𝜃</m:t>
                                      </m:r>
                                    </m:e>
                                  </m:d>
                                  <m:acc>
                                    <m:accPr>
                                      <m:chr m:val="̂"/>
                                      <m:ctrlPr>
                                        <a:rPr lang="en-US" altLang="zh-CN" i="1" dirty="0">
                                          <a:latin typeface="Cambria Math" panose="02040503050406030204" pitchFamily="18" charset="0"/>
                                        </a:rPr>
                                      </m:ctrlPr>
                                    </m:acc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𝐴</m:t>
                                          </m:r>
                                        </m:e>
                                        <m:sub>
                                          <m:r>
                                            <a:rPr lang="en-US" altLang="zh-CN" i="1" dirty="0">
                                              <a:latin typeface="Cambria Math" panose="02040503050406030204" pitchFamily="18" charset="0"/>
                                            </a:rPr>
                                            <m:t>𝑡</m:t>
                                          </m:r>
                                        </m:sub>
                                      </m:sSub>
                                    </m:e>
                                  </m:acc>
                                  <m:r>
                                    <a:rPr lang="en-US" altLang="zh-CN" i="1" dirty="0">
                                      <a:latin typeface="Cambria Math" panose="02040503050406030204" pitchFamily="18" charset="0"/>
                                    </a:rPr>
                                    <m:t>,</m:t>
                                  </m:r>
                                  <m:r>
                                    <m:rPr>
                                      <m:nor/>
                                    </m:rPr>
                                    <a:rPr lang="en-US" altLang="zh-CN" i="0" dirty="0">
                                      <a:latin typeface="Cambria Math" panose="02040503050406030204" pitchFamily="18" charset="0"/>
                                    </a:rPr>
                                    <m:t>clip</m:t>
                                  </m:r>
                                  <m:d>
                                    <m:dPr>
                                      <m:ctrlPr>
                                        <a:rPr lang="en-US" altLang="zh-CN" i="1" dirty="0">
                                          <a:latin typeface="Cambria Math" panose="02040503050406030204" pitchFamily="18" charset="0"/>
                                        </a:rPr>
                                      </m:ctrlPr>
                                    </m:dPr>
                                    <m:e>
                                      <m:sSub>
                                        <m:sSubPr>
                                          <m:ctrlPr>
                                            <a:rPr lang="en-US" altLang="zh-CN" i="1" dirty="0" err="1">
                                              <a:latin typeface="Cambria Math" panose="02040503050406030204" pitchFamily="18" charset="0"/>
                                            </a:rPr>
                                          </m:ctrlPr>
                                        </m:sSubPr>
                                        <m:e>
                                          <m:r>
                                            <a:rPr lang="en-US" altLang="zh-CN" i="1" dirty="0" err="1">
                                              <a:latin typeface="Cambria Math" panose="02040503050406030204" pitchFamily="18" charset="0"/>
                                            </a:rPr>
                                            <m:t>𝑟</m:t>
                                          </m:r>
                                        </m:e>
                                        <m:sub>
                                          <m:r>
                                            <a:rPr lang="en-US" altLang="zh-CN" i="1" dirty="0" err="1">
                                              <a:latin typeface="Cambria Math" panose="02040503050406030204" pitchFamily="18" charset="0"/>
                                            </a:rPr>
                                            <m:t>𝑡</m:t>
                                          </m:r>
                                        </m:sub>
                                      </m:sSub>
                                      <m:d>
                                        <m:dPr>
                                          <m:ctrlPr>
                                            <a:rPr lang="en-US" altLang="zh-CN" i="1" dirty="0">
                                              <a:latin typeface="Cambria Math" panose="02040503050406030204" pitchFamily="18" charset="0"/>
                                            </a:rPr>
                                          </m:ctrlPr>
                                        </m:dPr>
                                        <m:e>
                                          <m:r>
                                            <a:rPr lang="en-US" altLang="zh-CN" i="1" dirty="0">
                                              <a:latin typeface="Cambria Math" panose="02040503050406030204" pitchFamily="18" charset="0"/>
                                            </a:rPr>
                                            <m:t>𝜃</m:t>
                                          </m:r>
                                        </m:e>
                                      </m:d>
                                      <m:r>
                                        <a:rPr lang="en-US" altLang="zh-CN" i="1" dirty="0">
                                          <a:latin typeface="Cambria Math" panose="02040503050406030204" pitchFamily="18" charset="0"/>
                                        </a:rPr>
                                        <m:t>,1−</m:t>
                                      </m:r>
                                      <m:r>
                                        <a:rPr lang="en-US" altLang="zh-CN" i="1" dirty="0">
                                          <a:latin typeface="Cambria Math" panose="02040503050406030204" pitchFamily="18" charset="0"/>
                                        </a:rPr>
                                        <m:t>𝜖</m:t>
                                      </m:r>
                                      <m:r>
                                        <a:rPr lang="en-US" altLang="zh-CN" i="1" dirty="0">
                                          <a:latin typeface="Cambria Math" panose="02040503050406030204" pitchFamily="18" charset="0"/>
                                        </a:rPr>
                                        <m:t>,1+</m:t>
                                      </m:r>
                                      <m:r>
                                        <a:rPr lang="en-US" altLang="zh-CN" i="1" dirty="0">
                                          <a:latin typeface="Cambria Math" panose="02040503050406030204" pitchFamily="18" charset="0"/>
                                        </a:rPr>
                                        <m:t>𝜖</m:t>
                                      </m:r>
                                    </m:e>
                                  </m:d>
                                  <m:acc>
                                    <m:accPr>
                                      <m:chr m:val="̂"/>
                                      <m:ctrlPr>
                                        <a:rPr lang="en-US" altLang="zh-CN" i="1" dirty="0">
                                          <a:latin typeface="Cambria Math" panose="02040503050406030204" pitchFamily="18" charset="0"/>
                                        </a:rPr>
                                      </m:ctrlPr>
                                    </m:acc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𝐴</m:t>
                                          </m:r>
                                        </m:e>
                                        <m:sub>
                                          <m:r>
                                            <a:rPr lang="en-US" altLang="zh-CN" i="1" dirty="0">
                                              <a:latin typeface="Cambria Math" panose="02040503050406030204" pitchFamily="18" charset="0"/>
                                            </a:rPr>
                                            <m:t>𝑡</m:t>
                                          </m:r>
                                        </m:sub>
                                      </m:sSub>
                                    </m:e>
                                  </m:acc>
                                </m:e>
                              </m:d>
                            </m:e>
                          </m:func>
                        </m:e>
                      </m:d>
                    </m:oMath>
                  </m:oMathPara>
                </a14:m>
                <a:endParaRPr lang="zh-CN" altLang="en-US" dirty="0"/>
              </a:p>
            </p:txBody>
          </p:sp>
        </mc:Choice>
        <mc:Fallback>
          <p:sp>
            <p:nvSpPr>
              <p:cNvPr id="16" name="文本框 15">
                <a:extLst>
                  <a:ext uri="{FF2B5EF4-FFF2-40B4-BE49-F238E27FC236}">
                    <a16:creationId xmlns:a16="http://schemas.microsoft.com/office/drawing/2014/main" id="{D01AAD5B-18C7-1F06-6677-4C4B4C56AD45}"/>
                  </a:ext>
                </a:extLst>
              </p:cNvPr>
              <p:cNvSpPr txBox="1">
                <a:spLocks noRot="1" noChangeAspect="1" noMove="1" noResize="1" noEditPoints="1" noAdjustHandles="1" noChangeArrowheads="1" noChangeShapeType="1" noTextEdit="1"/>
              </p:cNvSpPr>
              <p:nvPr/>
            </p:nvSpPr>
            <p:spPr>
              <a:xfrm>
                <a:off x="1092508" y="6036527"/>
                <a:ext cx="10266868" cy="404983"/>
              </a:xfrm>
              <a:prstGeom prst="rect">
                <a:avLst/>
              </a:prstGeom>
              <a:blipFill>
                <a:blip r:embed="rId4"/>
                <a:stretch>
                  <a:fillRect b="-8955"/>
                </a:stretch>
              </a:blipFill>
            </p:spPr>
            <p:txBody>
              <a:bodyPr/>
              <a:lstStyle/>
              <a:p>
                <a:r>
                  <a:rPr lang="zh-CN" altLang="en-US">
                    <a:noFill/>
                  </a:rPr>
                  <a:t> </a:t>
                </a:r>
              </a:p>
            </p:txBody>
          </p:sp>
        </mc:Fallback>
      </mc:AlternateContent>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8100000" flipH="1" flipV="1">
            <a:off x="457835" y="315595"/>
            <a:ext cx="525780" cy="525780"/>
          </a:xfrm>
          <a:prstGeom prst="ellipse">
            <a:avLst/>
          </a:prstGeom>
          <a:gradFill flip="none" rotWithShape="1">
            <a:gsLst>
              <a:gs pos="0">
                <a:srgbClr val="D3BDA6">
                  <a:alpha val="0"/>
                </a:srgbClr>
              </a:gs>
              <a:gs pos="100000">
                <a:srgbClr val="B48E67">
                  <a:alpha val="67000"/>
                </a:srgbClr>
              </a:gs>
            </a:gsLst>
            <a:lin ang="16200000" scaled="1"/>
          </a:gradFill>
          <a:ln/>
        </p:spPr>
      </p:sp>
      <p:sp>
        <p:nvSpPr>
          <p:cNvPr id="3" name="Text 1"/>
          <p:cNvSpPr/>
          <p:nvPr/>
        </p:nvSpPr>
        <p:spPr>
          <a:xfrm rot="8100000">
            <a:off x="457835" y="315595"/>
            <a:ext cx="525780" cy="525780"/>
          </a:xfrm>
          <a:prstGeom prst="rect">
            <a:avLst/>
          </a:prstGeom>
          <a:noFill/>
          <a:ln/>
        </p:spPr>
        <p:txBody>
          <a:bodyPr wrap="square" lIns="45720" tIns="91440" rIns="91440" bIns="45720" rtlCol="0" anchor="ctr"/>
          <a:lstStyle/>
          <a:p>
            <a:pPr>
              <a:lnSpc>
                <a:spcPct val="100000"/>
              </a:lnSpc>
            </a:pPr>
            <a:endParaRPr lang="en-US" sz="1600" dirty="0"/>
          </a:p>
        </p:txBody>
      </p:sp>
      <p:pic>
        <p:nvPicPr>
          <p:cNvPr id="4" name="Image 0" descr="https://kimi-img.moonshot.cn/pub/slides/slides_tmpl/image/25-09-04-16:31:14-d2skskm1bb2p4onbqik0.png"/>
          <p:cNvPicPr>
            <a:picLocks noChangeAspect="1"/>
          </p:cNvPicPr>
          <p:nvPr/>
        </p:nvPicPr>
        <p:blipFill>
          <a:blip r:embed="rId3"/>
          <a:srcRect l="3" r="3"/>
          <a:stretch/>
        </p:blipFill>
        <p:spPr>
          <a:xfrm>
            <a:off x="-20955" y="-12065"/>
            <a:ext cx="12203430" cy="6897370"/>
          </a:xfrm>
          <a:prstGeom prst="rect">
            <a:avLst/>
          </a:prstGeom>
        </p:spPr>
      </p:pic>
      <p:sp>
        <p:nvSpPr>
          <p:cNvPr id="5" name="Text 2"/>
          <p:cNvSpPr/>
          <p:nvPr/>
        </p:nvSpPr>
        <p:spPr>
          <a:xfrm>
            <a:off x="667385" y="524510"/>
            <a:ext cx="6272530" cy="499467"/>
          </a:xfrm>
          <a:prstGeom prst="rect">
            <a:avLst/>
          </a:prstGeom>
          <a:noFill/>
          <a:ln/>
        </p:spPr>
        <p:txBody>
          <a:bodyPr wrap="square" lIns="91440" tIns="45720" rIns="91440" bIns="45720" rtlCol="0" anchor="t">
            <a:spAutoFit/>
          </a:bodyPr>
          <a:lstStyle/>
          <a:p>
            <a:pPr>
              <a:lnSpc>
                <a:spcPct val="100000"/>
              </a:lnSpc>
            </a:pPr>
            <a:r>
              <a:rPr lang="en-US" sz="3200" b="1" dirty="0">
                <a:solidFill>
                  <a:srgbClr val="2B2F36"/>
                </a:solidFill>
                <a:latin typeface="MiSans" pitchFamily="34" charset="0"/>
                <a:ea typeface="MiSans" pitchFamily="34" charset="-122"/>
                <a:cs typeface="MiSans" pitchFamily="34" charset="-120"/>
              </a:rPr>
              <a:t>Sparse Reward Challenge</a:t>
            </a:r>
            <a:endParaRPr lang="en-US" sz="1600" dirty="0"/>
          </a:p>
        </p:txBody>
      </p:sp>
      <p:pic>
        <p:nvPicPr>
          <p:cNvPr id="6" name="Image 1" descr="https://kimi-img.moonshot.cn/pub/slides/slides_tmpl/image/25-09-04-16:31:14-d2skskm1bb2p4onbqii0.png"/>
          <p:cNvPicPr>
            <a:picLocks noChangeAspect="1"/>
          </p:cNvPicPr>
          <p:nvPr/>
        </p:nvPicPr>
        <p:blipFill>
          <a:blip r:embed="rId4"/>
          <a:srcRect/>
          <a:stretch/>
        </p:blipFill>
        <p:spPr>
          <a:xfrm>
            <a:off x="1288340" y="1786255"/>
            <a:ext cx="3000523" cy="4064000"/>
          </a:xfrm>
          <a:prstGeom prst="rect">
            <a:avLst/>
          </a:prstGeom>
        </p:spPr>
      </p:pic>
      <p:pic>
        <p:nvPicPr>
          <p:cNvPr id="7" name="Image 2" descr="https://kimi-img.moonshot.cn/pub/slides/slides_tmpl/image/25-09-04-16:31:14-d2skskm1bb2p4onbqii0.png"/>
          <p:cNvPicPr>
            <a:picLocks noChangeAspect="1"/>
          </p:cNvPicPr>
          <p:nvPr/>
        </p:nvPicPr>
        <p:blipFill>
          <a:blip r:embed="rId4"/>
          <a:srcRect/>
          <a:stretch/>
        </p:blipFill>
        <p:spPr>
          <a:xfrm>
            <a:off x="4648052" y="1786255"/>
            <a:ext cx="3000523" cy="4064000"/>
          </a:xfrm>
          <a:prstGeom prst="rect">
            <a:avLst/>
          </a:prstGeom>
        </p:spPr>
      </p:pic>
      <p:pic>
        <p:nvPicPr>
          <p:cNvPr id="8" name="Image 3" descr="https://kimi-img.moonshot.cn/pub/slides/slides_tmpl/image/25-09-04-16:31:14-d2skskm1bb2p4onbqii0.png"/>
          <p:cNvPicPr>
            <a:picLocks noChangeAspect="1"/>
          </p:cNvPicPr>
          <p:nvPr/>
        </p:nvPicPr>
        <p:blipFill>
          <a:blip r:embed="rId4"/>
          <a:srcRect/>
          <a:stretch/>
        </p:blipFill>
        <p:spPr>
          <a:xfrm>
            <a:off x="8033385" y="1794510"/>
            <a:ext cx="3000523" cy="4064000"/>
          </a:xfrm>
          <a:prstGeom prst="rect">
            <a:avLst/>
          </a:prstGeom>
        </p:spPr>
      </p:pic>
      <p:sp>
        <p:nvSpPr>
          <p:cNvPr id="9" name="Text 3"/>
          <p:cNvSpPr/>
          <p:nvPr/>
        </p:nvSpPr>
        <p:spPr>
          <a:xfrm>
            <a:off x="1385570" y="2058670"/>
            <a:ext cx="2800985" cy="284559"/>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DBB479"/>
                </a:solidFill>
                <a:latin typeface="MiSans" pitchFamily="34" charset="0"/>
                <a:ea typeface="MiSans" pitchFamily="34" charset="-122"/>
                <a:cs typeface="MiSans" pitchFamily="34" charset="-120"/>
              </a:rPr>
              <a:t>Reward Sparsity</a:t>
            </a:r>
            <a:endParaRPr lang="en-US" sz="1600" dirty="0"/>
          </a:p>
        </p:txBody>
      </p:sp>
      <p:sp>
        <p:nvSpPr>
          <p:cNvPr id="10" name="Text 4"/>
          <p:cNvSpPr/>
          <p:nvPr/>
        </p:nvSpPr>
        <p:spPr>
          <a:xfrm>
            <a:off x="1388110" y="2703830"/>
            <a:ext cx="2800985" cy="1600002"/>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2C3741"/>
                </a:solidFill>
                <a:latin typeface="MiSans" pitchFamily="34" charset="0"/>
                <a:ea typeface="MiSans" pitchFamily="34" charset="-122"/>
                <a:cs typeface="MiSans" pitchFamily="34" charset="-120"/>
              </a:rPr>
              <a:t>Language generation tasks often provide reward only at sequence completion, making it difficult to assign credit to individual actions.</a:t>
            </a:r>
            <a:endParaRPr lang="en-US" sz="1600" dirty="0"/>
          </a:p>
        </p:txBody>
      </p:sp>
      <p:sp>
        <p:nvSpPr>
          <p:cNvPr id="11" name="Text 5"/>
          <p:cNvSpPr/>
          <p:nvPr/>
        </p:nvSpPr>
        <p:spPr>
          <a:xfrm>
            <a:off x="4757420" y="2058670"/>
            <a:ext cx="2800985" cy="284559"/>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DBB479"/>
                </a:solidFill>
                <a:latin typeface="MiSans" pitchFamily="34" charset="0"/>
                <a:ea typeface="MiSans" pitchFamily="34" charset="-122"/>
                <a:cs typeface="MiSans" pitchFamily="34" charset="-120"/>
              </a:rPr>
              <a:t>Reward Shaping</a:t>
            </a:r>
            <a:endParaRPr lang="en-US" sz="1600" dirty="0"/>
          </a:p>
        </p:txBody>
      </p:sp>
      <p:sp>
        <p:nvSpPr>
          <p:cNvPr id="12" name="Text 6"/>
          <p:cNvSpPr/>
          <p:nvPr/>
        </p:nvSpPr>
        <p:spPr>
          <a:xfrm>
            <a:off x="4759960" y="2703830"/>
            <a:ext cx="2800985" cy="192008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2C3741"/>
                </a:solidFill>
                <a:latin typeface="MiSans" pitchFamily="34" charset="0"/>
                <a:ea typeface="MiSans" pitchFamily="34" charset="-122"/>
                <a:cs typeface="MiSans" pitchFamily="34" charset="-120"/>
              </a:rPr>
              <a:t>Reward shaping techniques, such as adding heuristic potentials based on language model likelihood, help guide exploration and reduce variance in gradient estimates.</a:t>
            </a:r>
            <a:endParaRPr lang="en-US" sz="1600" dirty="0"/>
          </a:p>
        </p:txBody>
      </p:sp>
      <p:sp>
        <p:nvSpPr>
          <p:cNvPr id="13" name="Text 7"/>
          <p:cNvSpPr/>
          <p:nvPr/>
        </p:nvSpPr>
        <p:spPr>
          <a:xfrm>
            <a:off x="8129270" y="2058670"/>
            <a:ext cx="2800985" cy="284559"/>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DBB479"/>
                </a:solidFill>
                <a:latin typeface="MiSans" pitchFamily="34" charset="0"/>
                <a:ea typeface="MiSans" pitchFamily="34" charset="-122"/>
                <a:cs typeface="MiSans" pitchFamily="34" charset="-120"/>
              </a:rPr>
              <a:t>Importance of Shaping</a:t>
            </a:r>
            <a:endParaRPr lang="en-US" sz="1600" dirty="0"/>
          </a:p>
        </p:txBody>
      </p:sp>
      <p:sp>
        <p:nvSpPr>
          <p:cNvPr id="14" name="Text 8"/>
          <p:cNvSpPr/>
          <p:nvPr/>
        </p:nvSpPr>
        <p:spPr>
          <a:xfrm>
            <a:off x="8131810" y="2703830"/>
            <a:ext cx="2800985" cy="1279922"/>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2C3741"/>
                </a:solidFill>
                <a:latin typeface="MiSans" pitchFamily="34" charset="0"/>
                <a:ea typeface="MiSans" pitchFamily="34" charset="-122"/>
                <a:cs typeface="MiSans" pitchFamily="34" charset="-120"/>
              </a:rPr>
              <a:t>Without proper reward shaping, learning in sparse reward environments can be inefficient and lead to poor performance.</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8100000" flipH="1" flipV="1">
            <a:off x="457835" y="315595"/>
            <a:ext cx="525780" cy="525780"/>
          </a:xfrm>
          <a:prstGeom prst="ellipse">
            <a:avLst/>
          </a:prstGeom>
          <a:gradFill flip="none" rotWithShape="1">
            <a:gsLst>
              <a:gs pos="0">
                <a:srgbClr val="D3BDA6">
                  <a:alpha val="0"/>
                </a:srgbClr>
              </a:gs>
              <a:gs pos="100000">
                <a:srgbClr val="B48E67">
                  <a:alpha val="67000"/>
                </a:srgbClr>
              </a:gs>
            </a:gsLst>
            <a:lin ang="16200000" scaled="1"/>
          </a:gradFill>
          <a:ln/>
        </p:spPr>
      </p:sp>
      <p:sp>
        <p:nvSpPr>
          <p:cNvPr id="3" name="Text 1"/>
          <p:cNvSpPr/>
          <p:nvPr/>
        </p:nvSpPr>
        <p:spPr>
          <a:xfrm rot="8100000">
            <a:off x="457835" y="315595"/>
            <a:ext cx="525780" cy="52578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11456035" y="592138"/>
            <a:ext cx="351155" cy="43815"/>
          </a:xfrm>
          <a:prstGeom prst="roundRect">
            <a:avLst>
              <a:gd name="adj" fmla="val 50000"/>
            </a:avLst>
          </a:prstGeom>
          <a:solidFill>
            <a:srgbClr val="D3BDA6"/>
          </a:solidFill>
          <a:ln/>
        </p:spPr>
      </p:sp>
      <p:sp>
        <p:nvSpPr>
          <p:cNvPr id="5" name="Text 3"/>
          <p:cNvSpPr/>
          <p:nvPr/>
        </p:nvSpPr>
        <p:spPr>
          <a:xfrm>
            <a:off x="11456035" y="592138"/>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11456035" y="712153"/>
            <a:ext cx="351155" cy="43815"/>
          </a:xfrm>
          <a:prstGeom prst="roundRect">
            <a:avLst>
              <a:gd name="adj" fmla="val 50000"/>
            </a:avLst>
          </a:prstGeom>
          <a:solidFill>
            <a:srgbClr val="D3BDA6"/>
          </a:solidFill>
          <a:ln/>
        </p:spPr>
      </p:sp>
      <p:sp>
        <p:nvSpPr>
          <p:cNvPr id="7" name="Text 5"/>
          <p:cNvSpPr/>
          <p:nvPr/>
        </p:nvSpPr>
        <p:spPr>
          <a:xfrm>
            <a:off x="11456035" y="712153"/>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11456035" y="832168"/>
            <a:ext cx="351155" cy="43815"/>
          </a:xfrm>
          <a:prstGeom prst="roundRect">
            <a:avLst>
              <a:gd name="adj" fmla="val 50000"/>
            </a:avLst>
          </a:prstGeom>
          <a:solidFill>
            <a:srgbClr val="D3BDA6"/>
          </a:solidFill>
          <a:ln/>
        </p:spPr>
      </p:sp>
      <p:sp>
        <p:nvSpPr>
          <p:cNvPr id="9" name="Text 7"/>
          <p:cNvSpPr/>
          <p:nvPr/>
        </p:nvSpPr>
        <p:spPr>
          <a:xfrm>
            <a:off x="11456035" y="832168"/>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8"/>
          <p:cNvSpPr/>
          <p:nvPr/>
        </p:nvSpPr>
        <p:spPr>
          <a:xfrm>
            <a:off x="11456035" y="592138"/>
            <a:ext cx="351155" cy="43815"/>
          </a:xfrm>
          <a:prstGeom prst="roundRect">
            <a:avLst>
              <a:gd name="adj" fmla="val 50000"/>
            </a:avLst>
          </a:prstGeom>
          <a:solidFill>
            <a:srgbClr val="D3BDA6"/>
          </a:solidFill>
          <a:ln/>
        </p:spPr>
      </p:sp>
      <p:sp>
        <p:nvSpPr>
          <p:cNvPr id="11" name="Text 9"/>
          <p:cNvSpPr/>
          <p:nvPr/>
        </p:nvSpPr>
        <p:spPr>
          <a:xfrm>
            <a:off x="11456035" y="592138"/>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10"/>
          <p:cNvSpPr/>
          <p:nvPr/>
        </p:nvSpPr>
        <p:spPr>
          <a:xfrm>
            <a:off x="11456035" y="712153"/>
            <a:ext cx="351155" cy="43815"/>
          </a:xfrm>
          <a:prstGeom prst="roundRect">
            <a:avLst>
              <a:gd name="adj" fmla="val 50000"/>
            </a:avLst>
          </a:prstGeom>
          <a:solidFill>
            <a:srgbClr val="D3BDA6"/>
          </a:solidFill>
          <a:ln/>
        </p:spPr>
      </p:sp>
      <p:sp>
        <p:nvSpPr>
          <p:cNvPr id="13" name="Text 11"/>
          <p:cNvSpPr/>
          <p:nvPr/>
        </p:nvSpPr>
        <p:spPr>
          <a:xfrm>
            <a:off x="11456035" y="712153"/>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2"/>
          <p:cNvSpPr/>
          <p:nvPr/>
        </p:nvSpPr>
        <p:spPr>
          <a:xfrm>
            <a:off x="11456035" y="832168"/>
            <a:ext cx="351155" cy="43815"/>
          </a:xfrm>
          <a:prstGeom prst="roundRect">
            <a:avLst>
              <a:gd name="adj" fmla="val 50000"/>
            </a:avLst>
          </a:prstGeom>
          <a:solidFill>
            <a:srgbClr val="D3BDA6"/>
          </a:solidFill>
          <a:ln/>
        </p:spPr>
      </p:sp>
      <p:sp>
        <p:nvSpPr>
          <p:cNvPr id="15" name="Text 13"/>
          <p:cNvSpPr/>
          <p:nvPr/>
        </p:nvSpPr>
        <p:spPr>
          <a:xfrm>
            <a:off x="11456035" y="832168"/>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16" name="Text 14"/>
          <p:cNvSpPr/>
          <p:nvPr/>
        </p:nvSpPr>
        <p:spPr>
          <a:xfrm>
            <a:off x="667385" y="524510"/>
            <a:ext cx="6272530" cy="499467"/>
          </a:xfrm>
          <a:prstGeom prst="rect">
            <a:avLst/>
          </a:prstGeom>
          <a:noFill/>
          <a:ln/>
        </p:spPr>
        <p:txBody>
          <a:bodyPr wrap="square" lIns="91440" tIns="45720" rIns="91440" bIns="45720" rtlCol="0" anchor="t">
            <a:spAutoFit/>
          </a:bodyPr>
          <a:lstStyle/>
          <a:p>
            <a:pPr>
              <a:lnSpc>
                <a:spcPct val="100000"/>
              </a:lnSpc>
            </a:pPr>
            <a:r>
              <a:rPr lang="en-US" sz="3200" b="1" dirty="0">
                <a:solidFill>
                  <a:srgbClr val="2B2F36"/>
                </a:solidFill>
                <a:latin typeface="MiSans" pitchFamily="34" charset="0"/>
                <a:ea typeface="MiSans" pitchFamily="34" charset="-122"/>
                <a:cs typeface="MiSans" pitchFamily="34" charset="-120"/>
              </a:rPr>
              <a:t>Direct Preference Optimization</a:t>
            </a:r>
            <a:endParaRPr lang="en-US" sz="1600" dirty="0"/>
          </a:p>
        </p:txBody>
      </p:sp>
      <p:sp>
        <p:nvSpPr>
          <p:cNvPr id="17" name="Shape 15"/>
          <p:cNvSpPr/>
          <p:nvPr/>
        </p:nvSpPr>
        <p:spPr>
          <a:xfrm>
            <a:off x="-16510" y="6572885"/>
            <a:ext cx="12221210" cy="285115"/>
          </a:xfrm>
          <a:prstGeom prst="rect">
            <a:avLst/>
          </a:prstGeom>
          <a:gradFill flip="none" rotWithShape="1">
            <a:gsLst>
              <a:gs pos="0">
                <a:srgbClr val="D3BDA6"/>
              </a:gs>
              <a:gs pos="100000">
                <a:srgbClr val="BFA492"/>
              </a:gs>
            </a:gsLst>
            <a:lin ang="2700000" scaled="1"/>
          </a:gradFill>
          <a:ln/>
        </p:spPr>
      </p:sp>
      <p:sp>
        <p:nvSpPr>
          <p:cNvPr id="18" name="Text 16"/>
          <p:cNvSpPr/>
          <p:nvPr/>
        </p:nvSpPr>
        <p:spPr>
          <a:xfrm>
            <a:off x="-16510" y="6572885"/>
            <a:ext cx="12221210" cy="285115"/>
          </a:xfrm>
          <a:prstGeom prst="rect">
            <a:avLst/>
          </a:prstGeom>
          <a:noFill/>
          <a:ln/>
        </p:spPr>
        <p:txBody>
          <a:bodyPr wrap="square" lIns="45720" tIns="91440" rIns="91440" bIns="45720" rtlCol="0" anchor="ctr"/>
          <a:lstStyle/>
          <a:p>
            <a:pPr>
              <a:lnSpc>
                <a:spcPct val="100000"/>
              </a:lnSpc>
            </a:pPr>
            <a:endParaRPr lang="en-US" sz="1600" dirty="0"/>
          </a:p>
        </p:txBody>
      </p:sp>
      <p:sp>
        <p:nvSpPr>
          <p:cNvPr id="19" name="Shape 17"/>
          <p:cNvSpPr/>
          <p:nvPr/>
        </p:nvSpPr>
        <p:spPr>
          <a:xfrm>
            <a:off x="829945" y="1796415"/>
            <a:ext cx="4509135" cy="4420870"/>
          </a:xfrm>
          <a:prstGeom prst="roundRect">
            <a:avLst>
              <a:gd name="adj" fmla="val 6829"/>
            </a:avLst>
          </a:prstGeom>
          <a:solidFill>
            <a:srgbClr val="D3BDA6"/>
          </a:solidFill>
          <a:ln/>
        </p:spPr>
      </p:sp>
      <p:sp>
        <p:nvSpPr>
          <p:cNvPr id="20" name="Text 18"/>
          <p:cNvSpPr/>
          <p:nvPr/>
        </p:nvSpPr>
        <p:spPr>
          <a:xfrm>
            <a:off x="829945" y="1796415"/>
            <a:ext cx="4509135" cy="4420870"/>
          </a:xfrm>
          <a:prstGeom prst="rect">
            <a:avLst/>
          </a:prstGeom>
          <a:noFill/>
          <a:ln/>
        </p:spPr>
        <p:txBody>
          <a:bodyPr wrap="square" lIns="45720" tIns="91440" rIns="91440" bIns="45720" rtlCol="0" anchor="ctr"/>
          <a:lstStyle/>
          <a:p>
            <a:pPr>
              <a:lnSpc>
                <a:spcPct val="100000"/>
              </a:lnSpc>
            </a:pPr>
            <a:endParaRPr lang="en-US" sz="1600" dirty="0"/>
          </a:p>
        </p:txBody>
      </p:sp>
      <p:pic>
        <p:nvPicPr>
          <p:cNvPr id="21" name="Image 0" descr="https://kimi-img.moonshot.cn/pub/slides/slides_tmpl/image/25-09-04-16:31:09-d2sksje1bb2p4onbqi9g.png"/>
          <p:cNvPicPr>
            <a:picLocks noChangeAspect="1"/>
          </p:cNvPicPr>
          <p:nvPr/>
        </p:nvPicPr>
        <p:blipFill>
          <a:blip r:embed="rId3"/>
          <a:stretch>
            <a:fillRect/>
          </a:stretch>
        </p:blipFill>
        <p:spPr>
          <a:xfrm>
            <a:off x="3938905" y="1920875"/>
            <a:ext cx="1304290" cy="1036320"/>
          </a:xfrm>
          <a:prstGeom prst="rect">
            <a:avLst/>
          </a:prstGeom>
        </p:spPr>
      </p:pic>
      <p:sp>
        <p:nvSpPr>
          <p:cNvPr id="22" name="Shape 19"/>
          <p:cNvSpPr/>
          <p:nvPr/>
        </p:nvSpPr>
        <p:spPr>
          <a:xfrm>
            <a:off x="1014095" y="2801620"/>
            <a:ext cx="4140835" cy="3225800"/>
          </a:xfrm>
          <a:prstGeom prst="roundRect">
            <a:avLst>
              <a:gd name="adj" fmla="val 6829"/>
            </a:avLst>
          </a:prstGeom>
          <a:solidFill>
            <a:srgbClr val="FFFFFF"/>
          </a:solidFill>
          <a:ln/>
        </p:spPr>
      </p:sp>
      <p:sp>
        <p:nvSpPr>
          <p:cNvPr id="23" name="Text 20"/>
          <p:cNvSpPr/>
          <p:nvPr/>
        </p:nvSpPr>
        <p:spPr>
          <a:xfrm>
            <a:off x="1014095" y="2801620"/>
            <a:ext cx="4140835" cy="3225800"/>
          </a:xfrm>
          <a:prstGeom prst="rect">
            <a:avLst/>
          </a:prstGeom>
          <a:noFill/>
          <a:ln/>
        </p:spPr>
        <p:txBody>
          <a:bodyPr wrap="square" lIns="45720" tIns="91440" rIns="91440" bIns="45720" rtlCol="0" anchor="ctr"/>
          <a:lstStyle/>
          <a:p>
            <a:pPr>
              <a:lnSpc>
                <a:spcPct val="100000"/>
              </a:lnSpc>
            </a:pPr>
            <a:endParaRPr lang="en-US" sz="1600" dirty="0"/>
          </a:p>
        </p:txBody>
      </p:sp>
      <p:sp>
        <p:nvSpPr>
          <p:cNvPr id="24" name="Shape 21"/>
          <p:cNvSpPr/>
          <p:nvPr/>
        </p:nvSpPr>
        <p:spPr>
          <a:xfrm>
            <a:off x="6047105" y="1796415"/>
            <a:ext cx="4509135" cy="4420870"/>
          </a:xfrm>
          <a:prstGeom prst="roundRect">
            <a:avLst>
              <a:gd name="adj" fmla="val 6829"/>
            </a:avLst>
          </a:prstGeom>
          <a:solidFill>
            <a:srgbClr val="D3BDA6"/>
          </a:solidFill>
          <a:ln/>
        </p:spPr>
      </p:sp>
      <p:sp>
        <p:nvSpPr>
          <p:cNvPr id="25" name="Text 22"/>
          <p:cNvSpPr/>
          <p:nvPr/>
        </p:nvSpPr>
        <p:spPr>
          <a:xfrm>
            <a:off x="6047105" y="1796415"/>
            <a:ext cx="4509135" cy="4420870"/>
          </a:xfrm>
          <a:prstGeom prst="rect">
            <a:avLst/>
          </a:prstGeom>
          <a:noFill/>
          <a:ln/>
        </p:spPr>
        <p:txBody>
          <a:bodyPr wrap="square" lIns="45720" tIns="91440" rIns="91440" bIns="45720" rtlCol="0" anchor="ctr"/>
          <a:lstStyle/>
          <a:p>
            <a:pPr>
              <a:lnSpc>
                <a:spcPct val="100000"/>
              </a:lnSpc>
            </a:pPr>
            <a:endParaRPr lang="en-US" sz="1600" dirty="0"/>
          </a:p>
        </p:txBody>
      </p:sp>
      <p:pic>
        <p:nvPicPr>
          <p:cNvPr id="26" name="Image 1" descr="https://kimi-img.moonshot.cn/pub/slides/slides_tmpl/image/25-09-04-16:31:09-d2sksje1bb2p4onbqia0.png"/>
          <p:cNvPicPr>
            <a:picLocks noChangeAspect="1"/>
          </p:cNvPicPr>
          <p:nvPr/>
        </p:nvPicPr>
        <p:blipFill>
          <a:blip r:embed="rId4"/>
          <a:stretch>
            <a:fillRect/>
          </a:stretch>
        </p:blipFill>
        <p:spPr>
          <a:xfrm>
            <a:off x="9154795" y="1920875"/>
            <a:ext cx="1304290" cy="1036320"/>
          </a:xfrm>
          <a:prstGeom prst="rect">
            <a:avLst/>
          </a:prstGeom>
        </p:spPr>
      </p:pic>
      <p:sp>
        <p:nvSpPr>
          <p:cNvPr id="27" name="Shape 23"/>
          <p:cNvSpPr/>
          <p:nvPr/>
        </p:nvSpPr>
        <p:spPr>
          <a:xfrm>
            <a:off x="6231255" y="2801620"/>
            <a:ext cx="4140835" cy="3225800"/>
          </a:xfrm>
          <a:prstGeom prst="roundRect">
            <a:avLst>
              <a:gd name="adj" fmla="val 6829"/>
            </a:avLst>
          </a:prstGeom>
          <a:solidFill>
            <a:srgbClr val="FFFFFF"/>
          </a:solidFill>
          <a:ln/>
        </p:spPr>
      </p:sp>
      <p:sp>
        <p:nvSpPr>
          <p:cNvPr id="28" name="Text 24"/>
          <p:cNvSpPr/>
          <p:nvPr/>
        </p:nvSpPr>
        <p:spPr>
          <a:xfrm>
            <a:off x="6231255" y="2801620"/>
            <a:ext cx="4140835" cy="3225800"/>
          </a:xfrm>
          <a:prstGeom prst="rect">
            <a:avLst/>
          </a:prstGeom>
          <a:noFill/>
          <a:ln/>
        </p:spPr>
        <p:txBody>
          <a:bodyPr wrap="square" lIns="45720" tIns="91440" rIns="91440" bIns="45720" rtlCol="0" anchor="ctr"/>
          <a:lstStyle/>
          <a:p>
            <a:pPr>
              <a:lnSpc>
                <a:spcPct val="100000"/>
              </a:lnSpc>
            </a:pPr>
            <a:endParaRPr lang="en-US" sz="1600" dirty="0"/>
          </a:p>
        </p:txBody>
      </p:sp>
      <p:sp>
        <p:nvSpPr>
          <p:cNvPr id="29" name="Text 25"/>
          <p:cNvSpPr/>
          <p:nvPr/>
        </p:nvSpPr>
        <p:spPr>
          <a:xfrm>
            <a:off x="1195705" y="1984375"/>
            <a:ext cx="2902585" cy="368300"/>
          </a:xfrm>
          <a:prstGeom prst="rect">
            <a:avLst/>
          </a:prstGeom>
          <a:noFill/>
          <a:ln/>
        </p:spPr>
        <p:txBody>
          <a:bodyPr wrap="square" lIns="91440" tIns="45720" rIns="91440" bIns="45720" rtlCol="0" anchor="t">
            <a:spAutoFit/>
          </a:bodyPr>
          <a:lstStyle/>
          <a:p>
            <a:pPr>
              <a:lnSpc>
                <a:spcPct val="100000"/>
              </a:lnSpc>
            </a:pPr>
            <a:r>
              <a:rPr lang="en-US" sz="2400" b="1" dirty="0">
                <a:solidFill>
                  <a:srgbClr val="FFFFFF"/>
                </a:solidFill>
                <a:latin typeface="MiSans" pitchFamily="34" charset="0"/>
                <a:ea typeface="MiSans" pitchFamily="34" charset="-122"/>
                <a:cs typeface="MiSans" pitchFamily="34" charset="-120"/>
              </a:rPr>
              <a:t>DPO Overview</a:t>
            </a:r>
            <a:endParaRPr lang="en-US" sz="1600" dirty="0"/>
          </a:p>
        </p:txBody>
      </p:sp>
      <p:sp>
        <p:nvSpPr>
          <p:cNvPr id="30" name="Text 26"/>
          <p:cNvSpPr/>
          <p:nvPr/>
        </p:nvSpPr>
        <p:spPr>
          <a:xfrm>
            <a:off x="1195705" y="2924175"/>
            <a:ext cx="3778250" cy="2139950"/>
          </a:xfrm>
          <a:prstGeom prst="rect">
            <a:avLst/>
          </a:prstGeom>
          <a:noFill/>
          <a:ln/>
        </p:spPr>
        <p:txBody>
          <a:bodyPr wrap="square" lIns="91440" tIns="45720" rIns="91440" bIns="45720" rtlCol="0" anchor="t">
            <a:spAutoFit/>
          </a:bodyPr>
          <a:lstStyle/>
          <a:p>
            <a:pPr>
              <a:lnSpc>
                <a:spcPct val="130000"/>
              </a:lnSpc>
            </a:pPr>
            <a:r>
              <a:rPr lang="en-US" sz="1800" dirty="0">
                <a:solidFill>
                  <a:srgbClr val="000000"/>
                </a:solidFill>
                <a:latin typeface="MiSans" pitchFamily="34" charset="0"/>
                <a:ea typeface="MiSans" pitchFamily="34" charset="-122"/>
                <a:cs typeface="MiSans" pitchFamily="34" charset="-120"/>
              </a:rPr>
              <a:t>Direct Preference Optimization (DPO) transforms reinforcement learning from human feedback into a supervised learning problem, eliminating the need for reward modeling.</a:t>
            </a:r>
            <a:endParaRPr lang="en-US" sz="1600" dirty="0"/>
          </a:p>
        </p:txBody>
      </p:sp>
      <p:sp>
        <p:nvSpPr>
          <p:cNvPr id="31" name="Text 27"/>
          <p:cNvSpPr/>
          <p:nvPr/>
        </p:nvSpPr>
        <p:spPr>
          <a:xfrm>
            <a:off x="6412865" y="1984375"/>
            <a:ext cx="2902585" cy="774700"/>
          </a:xfrm>
          <a:prstGeom prst="rect">
            <a:avLst/>
          </a:prstGeom>
          <a:noFill/>
          <a:ln/>
        </p:spPr>
        <p:txBody>
          <a:bodyPr wrap="square" lIns="91440" tIns="45720" rIns="91440" bIns="45720" rtlCol="0" anchor="t">
            <a:spAutoFit/>
          </a:bodyPr>
          <a:lstStyle/>
          <a:p>
            <a:pPr>
              <a:lnSpc>
                <a:spcPct val="100000"/>
              </a:lnSpc>
            </a:pPr>
            <a:r>
              <a:rPr lang="en-US" sz="2400" b="1" dirty="0">
                <a:solidFill>
                  <a:srgbClr val="FFFFFF"/>
                </a:solidFill>
                <a:latin typeface="MiSans" pitchFamily="34" charset="0"/>
                <a:ea typeface="MiSans" pitchFamily="34" charset="-122"/>
                <a:cs typeface="MiSans" pitchFamily="34" charset="-120"/>
              </a:rPr>
              <a:t>Bradley-Terry Model</a:t>
            </a:r>
            <a:endParaRPr lang="en-US" sz="1600" dirty="0"/>
          </a:p>
        </p:txBody>
      </p:sp>
      <p:sp>
        <p:nvSpPr>
          <p:cNvPr id="32" name="Text 28"/>
          <p:cNvSpPr/>
          <p:nvPr/>
        </p:nvSpPr>
        <p:spPr>
          <a:xfrm>
            <a:off x="6412865" y="2924175"/>
            <a:ext cx="3778250" cy="2139950"/>
          </a:xfrm>
          <a:prstGeom prst="rect">
            <a:avLst/>
          </a:prstGeom>
          <a:noFill/>
          <a:ln/>
        </p:spPr>
        <p:txBody>
          <a:bodyPr wrap="square" lIns="91440" tIns="45720" rIns="91440" bIns="45720" rtlCol="0" anchor="t">
            <a:spAutoFit/>
          </a:bodyPr>
          <a:lstStyle/>
          <a:p>
            <a:pPr>
              <a:lnSpc>
                <a:spcPct val="130000"/>
              </a:lnSpc>
            </a:pPr>
            <a:r>
              <a:rPr lang="en-US" sz="1800" dirty="0">
                <a:solidFill>
                  <a:srgbClr val="000000"/>
                </a:solidFill>
                <a:latin typeface="MiSans" pitchFamily="34" charset="0"/>
                <a:ea typeface="MiSans" pitchFamily="34" charset="-122"/>
                <a:cs typeface="MiSans" pitchFamily="34" charset="-120"/>
              </a:rPr>
              <a:t>DPO uses the Bradley-Terry model to express preferences as probabilities, allowing efficient optimization through a differentiable loss function that aligns with human judgments.</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6:31:08-d2sksj61bb2p4onbqi6g.png"/>
          <p:cNvPicPr>
            <a:picLocks noChangeAspect="1"/>
          </p:cNvPicPr>
          <p:nvPr/>
        </p:nvPicPr>
        <p:blipFill>
          <a:blip r:embed="rId3"/>
          <a:srcRect l="5" r="5"/>
          <a:stretch/>
        </p:blipFill>
        <p:spPr>
          <a:xfrm>
            <a:off x="-9525" y="-22225"/>
            <a:ext cx="12214860" cy="6910070"/>
          </a:xfrm>
          <a:prstGeom prst="rect">
            <a:avLst/>
          </a:prstGeom>
        </p:spPr>
      </p:pic>
      <p:sp>
        <p:nvSpPr>
          <p:cNvPr id="3" name="Shape 0"/>
          <p:cNvSpPr/>
          <p:nvPr/>
        </p:nvSpPr>
        <p:spPr>
          <a:xfrm>
            <a:off x="5172075" y="1997710"/>
            <a:ext cx="988695" cy="760730"/>
          </a:xfrm>
          <a:prstGeom prst="rect">
            <a:avLst/>
          </a:prstGeom>
          <a:solidFill>
            <a:srgbClr val="FFFFFF"/>
          </a:solidFill>
          <a:ln/>
        </p:spPr>
      </p:sp>
      <p:sp>
        <p:nvSpPr>
          <p:cNvPr id="4" name="Text 1"/>
          <p:cNvSpPr/>
          <p:nvPr/>
        </p:nvSpPr>
        <p:spPr>
          <a:xfrm>
            <a:off x="5172075" y="1997710"/>
            <a:ext cx="988695" cy="760730"/>
          </a:xfrm>
          <a:prstGeom prst="rect">
            <a:avLst/>
          </a:prstGeom>
          <a:noFill/>
          <a:ln/>
        </p:spPr>
        <p:txBody>
          <a:bodyPr wrap="square" lIns="45720" tIns="91440" rIns="91440" bIns="45720" rtlCol="0" anchor="ctr"/>
          <a:lstStyle/>
          <a:p>
            <a:pPr>
              <a:lnSpc>
                <a:spcPct val="100000"/>
              </a:lnSpc>
            </a:pPr>
            <a:endParaRPr lang="en-US" sz="1600" dirty="0"/>
          </a:p>
        </p:txBody>
      </p:sp>
      <p:sp>
        <p:nvSpPr>
          <p:cNvPr id="5" name="Text 2"/>
          <p:cNvSpPr/>
          <p:nvPr/>
        </p:nvSpPr>
        <p:spPr>
          <a:xfrm>
            <a:off x="5092065" y="2949575"/>
            <a:ext cx="6986905" cy="1015365"/>
          </a:xfrm>
          <a:prstGeom prst="rect">
            <a:avLst/>
          </a:prstGeom>
          <a:noFill/>
          <a:ln/>
        </p:spPr>
        <p:txBody>
          <a:bodyPr wrap="square" lIns="91440" tIns="45720" rIns="91440" bIns="45720" rtlCol="0" anchor="t"/>
          <a:lstStyle/>
          <a:p>
            <a:pPr>
              <a:lnSpc>
                <a:spcPct val="100000"/>
              </a:lnSpc>
            </a:pPr>
            <a:r>
              <a:rPr lang="en-US" sz="4400" b="1" dirty="0">
                <a:solidFill>
                  <a:srgbClr val="212931"/>
                </a:solidFill>
                <a:latin typeface="MiSans" pitchFamily="34" charset="0"/>
                <a:ea typeface="MiSans" pitchFamily="34" charset="-122"/>
                <a:cs typeface="MiSans" pitchFamily="34" charset="-120"/>
              </a:rPr>
              <a:t>Conclusion</a:t>
            </a:r>
            <a:endParaRPr lang="en-US" sz="1600" dirty="0"/>
          </a:p>
        </p:txBody>
      </p:sp>
      <p:sp>
        <p:nvSpPr>
          <p:cNvPr id="6" name="Text 3"/>
          <p:cNvSpPr/>
          <p:nvPr/>
        </p:nvSpPr>
        <p:spPr>
          <a:xfrm>
            <a:off x="254000" y="2086610"/>
            <a:ext cx="3128010" cy="862965"/>
          </a:xfrm>
          <a:prstGeom prst="rect">
            <a:avLst/>
          </a:prstGeom>
          <a:noFill/>
          <a:ln/>
        </p:spPr>
        <p:txBody>
          <a:bodyPr wrap="square" lIns="91440" tIns="45720" rIns="91440" bIns="45720" rtlCol="0" anchor="t"/>
          <a:lstStyle/>
          <a:p>
            <a:pPr>
              <a:lnSpc>
                <a:spcPct val="100000"/>
              </a:lnSpc>
            </a:pPr>
            <a:r>
              <a:rPr lang="en-US" sz="16600" b="1" dirty="0">
                <a:solidFill>
                  <a:srgbClr val="FFFFFF"/>
                </a:solidFill>
                <a:latin typeface="MiSans" pitchFamily="34" charset="0"/>
                <a:ea typeface="MiSans" pitchFamily="34" charset="-122"/>
                <a:cs typeface="MiSans" pitchFamily="34" charset="-120"/>
              </a:rPr>
              <a:t>05</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8100000" flipH="1" flipV="1">
            <a:off x="457835" y="315595"/>
            <a:ext cx="525780" cy="525780"/>
          </a:xfrm>
          <a:prstGeom prst="ellipse">
            <a:avLst/>
          </a:prstGeom>
          <a:gradFill flip="none" rotWithShape="1">
            <a:gsLst>
              <a:gs pos="0">
                <a:srgbClr val="D3BDA6">
                  <a:alpha val="0"/>
                </a:srgbClr>
              </a:gs>
              <a:gs pos="100000">
                <a:srgbClr val="B48E67">
                  <a:alpha val="67000"/>
                </a:srgbClr>
              </a:gs>
            </a:gsLst>
            <a:lin ang="16200000" scaled="1"/>
          </a:gradFill>
          <a:ln/>
        </p:spPr>
      </p:sp>
      <p:sp>
        <p:nvSpPr>
          <p:cNvPr id="3" name="Text 1"/>
          <p:cNvSpPr/>
          <p:nvPr/>
        </p:nvSpPr>
        <p:spPr>
          <a:xfrm rot="8100000">
            <a:off x="457835" y="315595"/>
            <a:ext cx="525780" cy="525780"/>
          </a:xfrm>
          <a:prstGeom prst="rect">
            <a:avLst/>
          </a:prstGeom>
          <a:noFill/>
          <a:ln/>
        </p:spPr>
        <p:txBody>
          <a:bodyPr wrap="square" lIns="45720" tIns="91440" rIns="91440" bIns="45720" rtlCol="0" anchor="ctr"/>
          <a:lstStyle/>
          <a:p>
            <a:pPr>
              <a:lnSpc>
                <a:spcPct val="100000"/>
              </a:lnSpc>
            </a:pPr>
            <a:endParaRPr lang="en-US" sz="1600" dirty="0"/>
          </a:p>
        </p:txBody>
      </p:sp>
      <p:pic>
        <p:nvPicPr>
          <p:cNvPr id="4" name="Image 0" descr="https://kimi-img.moonshot.cn/pub/slides/slides_tmpl/image/25-09-04-16:31:13-d2skske1bb2p4onbqifg.png"/>
          <p:cNvPicPr>
            <a:picLocks noChangeAspect="1"/>
          </p:cNvPicPr>
          <p:nvPr/>
        </p:nvPicPr>
        <p:blipFill>
          <a:blip r:embed="rId3"/>
          <a:srcRect t="15" b="15"/>
          <a:stretch/>
        </p:blipFill>
        <p:spPr>
          <a:xfrm>
            <a:off x="10100945" y="0"/>
            <a:ext cx="2111375" cy="1216660"/>
          </a:xfrm>
          <a:prstGeom prst="rect">
            <a:avLst/>
          </a:prstGeom>
        </p:spPr>
      </p:pic>
      <p:sp>
        <p:nvSpPr>
          <p:cNvPr id="5" name="Shape 2"/>
          <p:cNvSpPr/>
          <p:nvPr/>
        </p:nvSpPr>
        <p:spPr>
          <a:xfrm>
            <a:off x="419100" y="5349875"/>
            <a:ext cx="11553190" cy="33020"/>
          </a:xfrm>
          <a:prstGeom prst="line">
            <a:avLst/>
          </a:prstGeom>
          <a:noFill/>
          <a:ln w="19050">
            <a:solidFill>
              <a:srgbClr val="865F24"/>
            </a:solidFill>
            <a:prstDash val="solid"/>
            <a:headEnd type="none"/>
            <a:tailEnd type="none"/>
          </a:ln>
        </p:spPr>
      </p:sp>
      <p:sp>
        <p:nvSpPr>
          <p:cNvPr id="6" name="Text 3"/>
          <p:cNvSpPr/>
          <p:nvPr/>
        </p:nvSpPr>
        <p:spPr>
          <a:xfrm>
            <a:off x="667385" y="524510"/>
            <a:ext cx="6272530" cy="499467"/>
          </a:xfrm>
          <a:prstGeom prst="rect">
            <a:avLst/>
          </a:prstGeom>
          <a:noFill/>
          <a:ln/>
        </p:spPr>
        <p:txBody>
          <a:bodyPr wrap="square" lIns="91440" tIns="45720" rIns="91440" bIns="45720" rtlCol="0" anchor="t">
            <a:spAutoFit/>
          </a:bodyPr>
          <a:lstStyle/>
          <a:p>
            <a:pPr>
              <a:lnSpc>
                <a:spcPct val="100000"/>
              </a:lnSpc>
            </a:pPr>
            <a:r>
              <a:rPr lang="en-US" sz="3200" b="1" dirty="0">
                <a:solidFill>
                  <a:srgbClr val="2B2F36"/>
                </a:solidFill>
                <a:latin typeface="MiSans" pitchFamily="34" charset="0"/>
                <a:ea typeface="MiSans" pitchFamily="34" charset="-122"/>
                <a:cs typeface="MiSans" pitchFamily="34" charset="-120"/>
              </a:rPr>
              <a:t>Open Challenges Ahead</a:t>
            </a:r>
            <a:endParaRPr lang="en-US" sz="1600" dirty="0"/>
          </a:p>
        </p:txBody>
      </p:sp>
      <p:sp>
        <p:nvSpPr>
          <p:cNvPr id="7" name="Shape 4"/>
          <p:cNvSpPr/>
          <p:nvPr/>
        </p:nvSpPr>
        <p:spPr>
          <a:xfrm>
            <a:off x="4354830" y="2024380"/>
            <a:ext cx="3502025" cy="2752725"/>
          </a:xfrm>
          <a:prstGeom prst="roundRect">
            <a:avLst>
              <a:gd name="adj" fmla="val 8836"/>
            </a:avLst>
          </a:prstGeom>
          <a:solidFill>
            <a:srgbClr val="D3BDA6"/>
          </a:solidFill>
          <a:ln/>
        </p:spPr>
      </p:sp>
      <p:sp>
        <p:nvSpPr>
          <p:cNvPr id="8" name="Text 5"/>
          <p:cNvSpPr/>
          <p:nvPr/>
        </p:nvSpPr>
        <p:spPr>
          <a:xfrm>
            <a:off x="4354830" y="2024380"/>
            <a:ext cx="3502025" cy="2752725"/>
          </a:xfrm>
          <a:prstGeom prst="rect">
            <a:avLst/>
          </a:prstGeom>
          <a:noFill/>
          <a:ln/>
        </p:spPr>
        <p:txBody>
          <a:bodyPr wrap="square" lIns="45720" tIns="91440" rIns="91440" bIns="45720" rtlCol="0" anchor="ctr"/>
          <a:lstStyle/>
          <a:p>
            <a:pPr>
              <a:lnSpc>
                <a:spcPct val="100000"/>
              </a:lnSpc>
            </a:pPr>
            <a:endParaRPr lang="en-US" sz="1600" dirty="0"/>
          </a:p>
        </p:txBody>
      </p:sp>
      <p:sp>
        <p:nvSpPr>
          <p:cNvPr id="9" name="Shape 6"/>
          <p:cNvSpPr/>
          <p:nvPr/>
        </p:nvSpPr>
        <p:spPr>
          <a:xfrm rot="8100000">
            <a:off x="5953125" y="4578985"/>
            <a:ext cx="295275" cy="295275"/>
          </a:xfrm>
          <a:prstGeom prst="ellipse">
            <a:avLst/>
          </a:prstGeom>
          <a:solidFill>
            <a:srgbClr val="F2F2F2"/>
          </a:solidFill>
          <a:ln/>
        </p:spPr>
      </p:sp>
      <p:sp>
        <p:nvSpPr>
          <p:cNvPr id="10" name="Text 7"/>
          <p:cNvSpPr/>
          <p:nvPr/>
        </p:nvSpPr>
        <p:spPr>
          <a:xfrm rot="8100000">
            <a:off x="5953125" y="4578985"/>
            <a:ext cx="295275" cy="295275"/>
          </a:xfrm>
          <a:prstGeom prst="rect">
            <a:avLst/>
          </a:prstGeom>
          <a:noFill/>
          <a:ln/>
        </p:spPr>
        <p:txBody>
          <a:bodyPr wrap="square" lIns="45720" tIns="91440" rIns="91440" bIns="45720" rtlCol="0" anchor="ctr"/>
          <a:lstStyle/>
          <a:p>
            <a:pPr>
              <a:lnSpc>
                <a:spcPct val="140000"/>
              </a:lnSpc>
            </a:pPr>
            <a:endParaRPr lang="en-US" sz="1600" dirty="0"/>
          </a:p>
        </p:txBody>
      </p:sp>
      <p:sp>
        <p:nvSpPr>
          <p:cNvPr id="11" name="Shape 8"/>
          <p:cNvSpPr/>
          <p:nvPr/>
        </p:nvSpPr>
        <p:spPr>
          <a:xfrm>
            <a:off x="6047740" y="5291455"/>
            <a:ext cx="115570" cy="115570"/>
          </a:xfrm>
          <a:prstGeom prst="ellipse">
            <a:avLst/>
          </a:prstGeom>
          <a:solidFill>
            <a:srgbClr val="F2F2F2"/>
          </a:solidFill>
          <a:ln w="38100">
            <a:solidFill>
              <a:srgbClr val="808080"/>
            </a:solidFill>
            <a:prstDash val="solid"/>
          </a:ln>
        </p:spPr>
      </p:sp>
      <p:sp>
        <p:nvSpPr>
          <p:cNvPr id="12" name="Text 9"/>
          <p:cNvSpPr/>
          <p:nvPr/>
        </p:nvSpPr>
        <p:spPr>
          <a:xfrm>
            <a:off x="6047740" y="5291455"/>
            <a:ext cx="115570" cy="115570"/>
          </a:xfrm>
          <a:prstGeom prst="rect">
            <a:avLst/>
          </a:prstGeom>
          <a:noFill/>
          <a:ln/>
        </p:spPr>
        <p:txBody>
          <a:bodyPr wrap="square" lIns="45720" tIns="91440" rIns="91440" bIns="45720" rtlCol="0" anchor="ctr"/>
          <a:lstStyle/>
          <a:p>
            <a:pPr>
              <a:lnSpc>
                <a:spcPct val="140000"/>
              </a:lnSpc>
            </a:pPr>
            <a:endParaRPr lang="en-US" sz="1600" dirty="0"/>
          </a:p>
        </p:txBody>
      </p:sp>
      <p:pic>
        <p:nvPicPr>
          <p:cNvPr id="13" name="Image 1" descr="https://kimi-img.moonshot.cn/pub/slides/slides_tmpl/image/25-09-04-16:31:13-d2skske1bb2p4onbqig0.png"/>
          <p:cNvPicPr>
            <a:picLocks noChangeAspect="1"/>
          </p:cNvPicPr>
          <p:nvPr/>
        </p:nvPicPr>
        <p:blipFill>
          <a:blip r:embed="rId4"/>
          <a:srcRect/>
          <a:stretch/>
        </p:blipFill>
        <p:spPr>
          <a:xfrm>
            <a:off x="5798127" y="4447369"/>
            <a:ext cx="609600" cy="863600"/>
          </a:xfrm>
          <a:prstGeom prst="rect">
            <a:avLst/>
          </a:prstGeom>
        </p:spPr>
      </p:pic>
      <p:sp>
        <p:nvSpPr>
          <p:cNvPr id="14" name="Shape 10"/>
          <p:cNvSpPr/>
          <p:nvPr/>
        </p:nvSpPr>
        <p:spPr>
          <a:xfrm>
            <a:off x="550545" y="2029460"/>
            <a:ext cx="3502025" cy="2752725"/>
          </a:xfrm>
          <a:prstGeom prst="roundRect">
            <a:avLst>
              <a:gd name="adj" fmla="val 8836"/>
            </a:avLst>
          </a:prstGeom>
          <a:solidFill>
            <a:srgbClr val="D3BDA6"/>
          </a:solidFill>
          <a:ln/>
        </p:spPr>
      </p:sp>
      <p:sp>
        <p:nvSpPr>
          <p:cNvPr id="15" name="Text 11"/>
          <p:cNvSpPr/>
          <p:nvPr/>
        </p:nvSpPr>
        <p:spPr>
          <a:xfrm>
            <a:off x="550545" y="2029460"/>
            <a:ext cx="3502025" cy="2752725"/>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2"/>
          <p:cNvSpPr/>
          <p:nvPr/>
        </p:nvSpPr>
        <p:spPr>
          <a:xfrm rot="8100000">
            <a:off x="2148840" y="4584065"/>
            <a:ext cx="295275" cy="295275"/>
          </a:xfrm>
          <a:prstGeom prst="ellipse">
            <a:avLst/>
          </a:prstGeom>
          <a:solidFill>
            <a:srgbClr val="F2F2F2"/>
          </a:solidFill>
          <a:ln/>
        </p:spPr>
      </p:sp>
      <p:sp>
        <p:nvSpPr>
          <p:cNvPr id="17" name="Text 13"/>
          <p:cNvSpPr/>
          <p:nvPr/>
        </p:nvSpPr>
        <p:spPr>
          <a:xfrm rot="8100000">
            <a:off x="2148840" y="4584065"/>
            <a:ext cx="295275" cy="295275"/>
          </a:xfrm>
          <a:prstGeom prst="rect">
            <a:avLst/>
          </a:prstGeom>
          <a:noFill/>
          <a:ln/>
        </p:spPr>
        <p:txBody>
          <a:bodyPr wrap="square" lIns="45720" tIns="91440" rIns="91440" bIns="45720" rtlCol="0" anchor="ctr"/>
          <a:lstStyle/>
          <a:p>
            <a:pPr>
              <a:lnSpc>
                <a:spcPct val="140000"/>
              </a:lnSpc>
            </a:pPr>
            <a:endParaRPr lang="en-US" sz="1600" dirty="0"/>
          </a:p>
        </p:txBody>
      </p:sp>
      <p:sp>
        <p:nvSpPr>
          <p:cNvPr id="18" name="Shape 14"/>
          <p:cNvSpPr/>
          <p:nvPr/>
        </p:nvSpPr>
        <p:spPr>
          <a:xfrm>
            <a:off x="2243455" y="5296535"/>
            <a:ext cx="115570" cy="115570"/>
          </a:xfrm>
          <a:prstGeom prst="ellipse">
            <a:avLst/>
          </a:prstGeom>
          <a:solidFill>
            <a:srgbClr val="F2F2F2"/>
          </a:solidFill>
          <a:ln w="38100">
            <a:solidFill>
              <a:srgbClr val="808080"/>
            </a:solidFill>
            <a:prstDash val="solid"/>
          </a:ln>
        </p:spPr>
      </p:sp>
      <p:sp>
        <p:nvSpPr>
          <p:cNvPr id="19" name="Text 15"/>
          <p:cNvSpPr/>
          <p:nvPr/>
        </p:nvSpPr>
        <p:spPr>
          <a:xfrm>
            <a:off x="2243455" y="5296535"/>
            <a:ext cx="115570" cy="115570"/>
          </a:xfrm>
          <a:prstGeom prst="rect">
            <a:avLst/>
          </a:prstGeom>
          <a:noFill/>
          <a:ln/>
        </p:spPr>
        <p:txBody>
          <a:bodyPr wrap="square" lIns="45720" tIns="91440" rIns="91440" bIns="45720" rtlCol="0" anchor="ctr"/>
          <a:lstStyle/>
          <a:p>
            <a:pPr>
              <a:lnSpc>
                <a:spcPct val="140000"/>
              </a:lnSpc>
            </a:pPr>
            <a:endParaRPr lang="en-US" sz="1600" dirty="0"/>
          </a:p>
        </p:txBody>
      </p:sp>
      <p:sp>
        <p:nvSpPr>
          <p:cNvPr id="20" name="Shape 16"/>
          <p:cNvSpPr/>
          <p:nvPr/>
        </p:nvSpPr>
        <p:spPr>
          <a:xfrm>
            <a:off x="8148955" y="2024380"/>
            <a:ext cx="3502025" cy="2752725"/>
          </a:xfrm>
          <a:prstGeom prst="roundRect">
            <a:avLst>
              <a:gd name="adj" fmla="val 8836"/>
            </a:avLst>
          </a:prstGeom>
          <a:solidFill>
            <a:srgbClr val="D3BDA6"/>
          </a:solidFill>
          <a:ln/>
        </p:spPr>
      </p:sp>
      <p:sp>
        <p:nvSpPr>
          <p:cNvPr id="21" name="Text 17"/>
          <p:cNvSpPr/>
          <p:nvPr/>
        </p:nvSpPr>
        <p:spPr>
          <a:xfrm>
            <a:off x="8148955" y="2024380"/>
            <a:ext cx="3502025" cy="2752725"/>
          </a:xfrm>
          <a:prstGeom prst="rect">
            <a:avLst/>
          </a:prstGeom>
          <a:noFill/>
          <a:ln/>
        </p:spPr>
        <p:txBody>
          <a:bodyPr wrap="square" lIns="45720" tIns="91440" rIns="91440" bIns="45720" rtlCol="0" anchor="ctr"/>
          <a:lstStyle/>
          <a:p>
            <a:pPr>
              <a:lnSpc>
                <a:spcPct val="100000"/>
              </a:lnSpc>
            </a:pPr>
            <a:endParaRPr lang="en-US" sz="1600" dirty="0"/>
          </a:p>
        </p:txBody>
      </p:sp>
      <p:sp>
        <p:nvSpPr>
          <p:cNvPr id="22" name="Shape 18"/>
          <p:cNvSpPr/>
          <p:nvPr/>
        </p:nvSpPr>
        <p:spPr>
          <a:xfrm rot="8100000">
            <a:off x="9747250" y="4578985"/>
            <a:ext cx="295275" cy="295275"/>
          </a:xfrm>
          <a:prstGeom prst="ellipse">
            <a:avLst/>
          </a:prstGeom>
          <a:solidFill>
            <a:srgbClr val="F2F2F2"/>
          </a:solidFill>
          <a:ln/>
        </p:spPr>
      </p:sp>
      <p:sp>
        <p:nvSpPr>
          <p:cNvPr id="23" name="Text 19"/>
          <p:cNvSpPr/>
          <p:nvPr/>
        </p:nvSpPr>
        <p:spPr>
          <a:xfrm rot="8100000">
            <a:off x="9747250" y="4578985"/>
            <a:ext cx="295275" cy="295275"/>
          </a:xfrm>
          <a:prstGeom prst="rect">
            <a:avLst/>
          </a:prstGeom>
          <a:noFill/>
          <a:ln/>
        </p:spPr>
        <p:txBody>
          <a:bodyPr wrap="square" lIns="45720" tIns="91440" rIns="91440" bIns="45720" rtlCol="0" anchor="ctr"/>
          <a:lstStyle/>
          <a:p>
            <a:pPr>
              <a:lnSpc>
                <a:spcPct val="140000"/>
              </a:lnSpc>
            </a:pPr>
            <a:endParaRPr lang="en-US" sz="1600" dirty="0"/>
          </a:p>
        </p:txBody>
      </p:sp>
      <p:sp>
        <p:nvSpPr>
          <p:cNvPr id="24" name="Shape 20"/>
          <p:cNvSpPr/>
          <p:nvPr/>
        </p:nvSpPr>
        <p:spPr>
          <a:xfrm>
            <a:off x="9841865" y="5291455"/>
            <a:ext cx="115570" cy="115570"/>
          </a:xfrm>
          <a:prstGeom prst="ellipse">
            <a:avLst/>
          </a:prstGeom>
          <a:solidFill>
            <a:srgbClr val="F2F2F2"/>
          </a:solidFill>
          <a:ln w="38100">
            <a:solidFill>
              <a:srgbClr val="808080"/>
            </a:solidFill>
            <a:prstDash val="solid"/>
          </a:ln>
        </p:spPr>
      </p:sp>
      <p:sp>
        <p:nvSpPr>
          <p:cNvPr id="25" name="Text 21"/>
          <p:cNvSpPr/>
          <p:nvPr/>
        </p:nvSpPr>
        <p:spPr>
          <a:xfrm>
            <a:off x="9841865" y="5291455"/>
            <a:ext cx="115570" cy="115570"/>
          </a:xfrm>
          <a:prstGeom prst="rect">
            <a:avLst/>
          </a:prstGeom>
          <a:noFill/>
          <a:ln/>
        </p:spPr>
        <p:txBody>
          <a:bodyPr wrap="square" lIns="45720" tIns="91440" rIns="91440" bIns="45720" rtlCol="0" anchor="ctr"/>
          <a:lstStyle/>
          <a:p>
            <a:pPr>
              <a:lnSpc>
                <a:spcPct val="140000"/>
              </a:lnSpc>
            </a:pPr>
            <a:endParaRPr lang="en-US" sz="1600" dirty="0"/>
          </a:p>
        </p:txBody>
      </p:sp>
      <p:pic>
        <p:nvPicPr>
          <p:cNvPr id="26" name="Image 2" descr="https://kimi-img.moonshot.cn/pub/slides/slides_tmpl/image/25-09-04-16:31:13-d2skske1bb2p4onbqig0.png"/>
          <p:cNvPicPr>
            <a:picLocks noChangeAspect="1"/>
          </p:cNvPicPr>
          <p:nvPr/>
        </p:nvPicPr>
        <p:blipFill>
          <a:blip r:embed="rId4"/>
          <a:srcRect/>
          <a:stretch/>
        </p:blipFill>
        <p:spPr>
          <a:xfrm>
            <a:off x="1998604" y="4447369"/>
            <a:ext cx="609600" cy="863600"/>
          </a:xfrm>
          <a:prstGeom prst="rect">
            <a:avLst/>
          </a:prstGeom>
        </p:spPr>
      </p:pic>
      <p:pic>
        <p:nvPicPr>
          <p:cNvPr id="27" name="Image 3" descr="https://kimi-img.moonshot.cn/pub/slides/slides_tmpl/image/25-09-04-16:31:13-d2skske1bb2p4onbqig0.png"/>
          <p:cNvPicPr>
            <a:picLocks noChangeAspect="1"/>
          </p:cNvPicPr>
          <p:nvPr/>
        </p:nvPicPr>
        <p:blipFill>
          <a:blip r:embed="rId4"/>
          <a:srcRect/>
          <a:stretch/>
        </p:blipFill>
        <p:spPr>
          <a:xfrm>
            <a:off x="9597650" y="4447369"/>
            <a:ext cx="609600" cy="863600"/>
          </a:xfrm>
          <a:prstGeom prst="rect">
            <a:avLst/>
          </a:prstGeom>
        </p:spPr>
      </p:pic>
      <p:sp>
        <p:nvSpPr>
          <p:cNvPr id="28" name="Text 22"/>
          <p:cNvSpPr/>
          <p:nvPr/>
        </p:nvSpPr>
        <p:spPr>
          <a:xfrm>
            <a:off x="550545" y="5566410"/>
            <a:ext cx="3931285" cy="284559"/>
          </a:xfrm>
          <a:prstGeom prst="rect">
            <a:avLst/>
          </a:prstGeom>
          <a:noFill/>
          <a:ln/>
        </p:spPr>
        <p:txBody>
          <a:bodyPr wrap="square" lIns="91440" tIns="45720" rIns="91440" bIns="45720" rtlCol="0" anchor="t">
            <a:spAutoFit/>
          </a:bodyPr>
          <a:lstStyle/>
          <a:p>
            <a:pPr>
              <a:lnSpc>
                <a:spcPct val="100000"/>
              </a:lnSpc>
            </a:pPr>
            <a:r>
              <a:rPr lang="en-US" sz="1800" b="1" dirty="0">
                <a:solidFill>
                  <a:srgbClr val="2C3741"/>
                </a:solidFill>
                <a:latin typeface="MiSans" pitchFamily="34" charset="0"/>
                <a:ea typeface="MiSans" pitchFamily="34" charset="-122"/>
                <a:cs typeface="MiSans" pitchFamily="34" charset="-120"/>
              </a:rPr>
              <a:t>Theoretical Guarantees</a:t>
            </a:r>
            <a:endParaRPr lang="en-US" sz="1600" dirty="0"/>
          </a:p>
        </p:txBody>
      </p:sp>
      <p:sp>
        <p:nvSpPr>
          <p:cNvPr id="29" name="Shape 23"/>
          <p:cNvSpPr/>
          <p:nvPr/>
        </p:nvSpPr>
        <p:spPr>
          <a:xfrm>
            <a:off x="550545" y="2027555"/>
            <a:ext cx="3434080" cy="2746375"/>
          </a:xfrm>
          <a:prstGeom prst="roundRect">
            <a:avLst>
              <a:gd name="adj" fmla="val 8805"/>
            </a:avLst>
          </a:prstGeom>
          <a:solidFill>
            <a:srgbClr val="000000">
              <a:alpha val="0"/>
            </a:srgbClr>
          </a:solidFill>
          <a:ln/>
        </p:spPr>
      </p:sp>
      <p:sp>
        <p:nvSpPr>
          <p:cNvPr id="30" name="Text 24"/>
          <p:cNvSpPr/>
          <p:nvPr/>
        </p:nvSpPr>
        <p:spPr>
          <a:xfrm>
            <a:off x="550545" y="2027555"/>
            <a:ext cx="3434080" cy="2746375"/>
          </a:xfrm>
          <a:prstGeom prst="rect">
            <a:avLst/>
          </a:prstGeom>
          <a:noFill/>
          <a:ln/>
        </p:spPr>
        <p:txBody>
          <a:bodyPr wrap="square" lIns="45720" tIns="91440" rIns="91440" bIns="45720" rtlCol="0" anchor="ctr"/>
          <a:lstStyle/>
          <a:p>
            <a:pPr>
              <a:lnSpc>
                <a:spcPct val="130000"/>
              </a:lnSpc>
            </a:pPr>
            <a:r>
              <a:rPr lang="en-US" sz="1600" dirty="0">
                <a:solidFill>
                  <a:srgbClr val="FFFFFF"/>
                </a:solidFill>
                <a:latin typeface="MiSans" pitchFamily="34" charset="0"/>
                <a:ea typeface="MiSans" pitchFamily="34" charset="-122"/>
                <a:cs typeface="MiSans" pitchFamily="34" charset="-120"/>
              </a:rPr>
              <a:t>Despite empirical successes, theoretical guarantees for deep RL in large language models remain fragile, with convergence proofs relying on unrealistic assumptions.</a:t>
            </a:r>
            <a:endParaRPr lang="en-US" sz="1600" dirty="0"/>
          </a:p>
        </p:txBody>
      </p:sp>
      <p:sp>
        <p:nvSpPr>
          <p:cNvPr id="31" name="Text 25"/>
          <p:cNvSpPr/>
          <p:nvPr/>
        </p:nvSpPr>
        <p:spPr>
          <a:xfrm>
            <a:off x="4354830" y="5561330"/>
            <a:ext cx="3931285" cy="284559"/>
          </a:xfrm>
          <a:prstGeom prst="rect">
            <a:avLst/>
          </a:prstGeom>
          <a:noFill/>
          <a:ln/>
        </p:spPr>
        <p:txBody>
          <a:bodyPr wrap="square" lIns="91440" tIns="45720" rIns="91440" bIns="45720" rtlCol="0" anchor="t">
            <a:spAutoFit/>
          </a:bodyPr>
          <a:lstStyle/>
          <a:p>
            <a:pPr>
              <a:lnSpc>
                <a:spcPct val="100000"/>
              </a:lnSpc>
            </a:pPr>
            <a:r>
              <a:rPr lang="en-US" sz="1800" b="1" dirty="0">
                <a:solidFill>
                  <a:srgbClr val="2C3741"/>
                </a:solidFill>
                <a:latin typeface="MiSans" pitchFamily="34" charset="0"/>
                <a:ea typeface="MiSans" pitchFamily="34" charset="-122"/>
                <a:cs typeface="MiSans" pitchFamily="34" charset="-120"/>
              </a:rPr>
              <a:t>Sample Efficiency</a:t>
            </a:r>
            <a:endParaRPr lang="en-US" sz="1600" dirty="0"/>
          </a:p>
        </p:txBody>
      </p:sp>
      <p:sp>
        <p:nvSpPr>
          <p:cNvPr id="32" name="Shape 26"/>
          <p:cNvSpPr/>
          <p:nvPr/>
        </p:nvSpPr>
        <p:spPr>
          <a:xfrm>
            <a:off x="4354830" y="2022475"/>
            <a:ext cx="3434080" cy="2746375"/>
          </a:xfrm>
          <a:prstGeom prst="roundRect">
            <a:avLst>
              <a:gd name="adj" fmla="val 8805"/>
            </a:avLst>
          </a:prstGeom>
          <a:solidFill>
            <a:srgbClr val="000000">
              <a:alpha val="0"/>
            </a:srgbClr>
          </a:solidFill>
          <a:ln/>
        </p:spPr>
      </p:sp>
      <p:sp>
        <p:nvSpPr>
          <p:cNvPr id="33" name="Text 27"/>
          <p:cNvSpPr/>
          <p:nvPr/>
        </p:nvSpPr>
        <p:spPr>
          <a:xfrm>
            <a:off x="4354830" y="2022475"/>
            <a:ext cx="3434080" cy="2746375"/>
          </a:xfrm>
          <a:prstGeom prst="rect">
            <a:avLst/>
          </a:prstGeom>
          <a:noFill/>
          <a:ln/>
        </p:spPr>
        <p:txBody>
          <a:bodyPr wrap="square" lIns="45720" tIns="91440" rIns="91440" bIns="45720" rtlCol="0" anchor="ctr"/>
          <a:lstStyle/>
          <a:p>
            <a:pPr>
              <a:lnSpc>
                <a:spcPct val="130000"/>
              </a:lnSpc>
            </a:pPr>
            <a:r>
              <a:rPr lang="en-US" sz="1600" dirty="0">
                <a:solidFill>
                  <a:srgbClr val="FFFFFF"/>
                </a:solidFill>
                <a:latin typeface="MiSans" pitchFamily="34" charset="0"/>
                <a:ea typeface="MiSans" pitchFamily="34" charset="-122"/>
                <a:cs typeface="MiSans" pitchFamily="34" charset="-120"/>
              </a:rPr>
              <a:t>Improving sample efficiency is crucial for making reinforcement learning practical in large-scale language settings, where each interaction is computationally expensive.</a:t>
            </a:r>
            <a:endParaRPr lang="en-US" sz="1600" dirty="0"/>
          </a:p>
        </p:txBody>
      </p:sp>
      <p:sp>
        <p:nvSpPr>
          <p:cNvPr id="34" name="Text 28"/>
          <p:cNvSpPr/>
          <p:nvPr/>
        </p:nvSpPr>
        <p:spPr>
          <a:xfrm>
            <a:off x="8148955" y="5561330"/>
            <a:ext cx="3931285" cy="284559"/>
          </a:xfrm>
          <a:prstGeom prst="rect">
            <a:avLst/>
          </a:prstGeom>
          <a:noFill/>
          <a:ln/>
        </p:spPr>
        <p:txBody>
          <a:bodyPr wrap="square" lIns="91440" tIns="45720" rIns="91440" bIns="45720" rtlCol="0" anchor="t">
            <a:spAutoFit/>
          </a:bodyPr>
          <a:lstStyle/>
          <a:p>
            <a:pPr>
              <a:lnSpc>
                <a:spcPct val="100000"/>
              </a:lnSpc>
            </a:pPr>
            <a:r>
              <a:rPr lang="en-US" sz="1800" b="1" dirty="0">
                <a:solidFill>
                  <a:srgbClr val="2C3741"/>
                </a:solidFill>
                <a:latin typeface="MiSans" pitchFamily="34" charset="0"/>
                <a:ea typeface="MiSans" pitchFamily="34" charset="-122"/>
                <a:cs typeface="MiSans" pitchFamily="34" charset="-120"/>
              </a:rPr>
              <a:t>Future Directions</a:t>
            </a:r>
            <a:endParaRPr lang="en-US" sz="1600" dirty="0"/>
          </a:p>
        </p:txBody>
      </p:sp>
      <p:sp>
        <p:nvSpPr>
          <p:cNvPr id="35" name="Shape 29"/>
          <p:cNvSpPr/>
          <p:nvPr/>
        </p:nvSpPr>
        <p:spPr>
          <a:xfrm>
            <a:off x="8148955" y="2022475"/>
            <a:ext cx="3434080" cy="2746375"/>
          </a:xfrm>
          <a:prstGeom prst="roundRect">
            <a:avLst>
              <a:gd name="adj" fmla="val 8805"/>
            </a:avLst>
          </a:prstGeom>
          <a:solidFill>
            <a:srgbClr val="000000">
              <a:alpha val="0"/>
            </a:srgbClr>
          </a:solidFill>
          <a:ln/>
        </p:spPr>
      </p:sp>
      <p:sp>
        <p:nvSpPr>
          <p:cNvPr id="36" name="Text 30"/>
          <p:cNvSpPr/>
          <p:nvPr/>
        </p:nvSpPr>
        <p:spPr>
          <a:xfrm>
            <a:off x="8148955" y="2022475"/>
            <a:ext cx="3434080" cy="2746375"/>
          </a:xfrm>
          <a:prstGeom prst="rect">
            <a:avLst/>
          </a:prstGeom>
          <a:noFill/>
          <a:ln/>
        </p:spPr>
        <p:txBody>
          <a:bodyPr wrap="square" lIns="45720" tIns="91440" rIns="91440" bIns="45720" rtlCol="0" anchor="ctr"/>
          <a:lstStyle/>
          <a:p>
            <a:pPr>
              <a:lnSpc>
                <a:spcPct val="130000"/>
              </a:lnSpc>
            </a:pPr>
            <a:r>
              <a:rPr lang="en-US" sz="1600" dirty="0">
                <a:solidFill>
                  <a:srgbClr val="FFFFFF"/>
                </a:solidFill>
                <a:latin typeface="MiSans" pitchFamily="34" charset="0"/>
                <a:ea typeface="MiSans" pitchFamily="34" charset="-122"/>
                <a:cs typeface="MiSans" pitchFamily="34" charset="-120"/>
              </a:rPr>
              <a:t>Future research will likely focus on integrating world models, hierarchical planning, and continual learning to create more robust and efficient agents.</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9-04-16:31:07-d2sksiu1bb2p4onbqi50.png"/>
          <p:cNvPicPr>
            <a:picLocks noChangeAspect="1"/>
          </p:cNvPicPr>
          <p:nvPr/>
        </p:nvPicPr>
        <p:blipFill>
          <a:blip r:embed="rId3"/>
          <a:srcRect l="3" r="3"/>
          <a:stretch/>
        </p:blipFill>
        <p:spPr>
          <a:xfrm>
            <a:off x="-15875" y="-4445"/>
            <a:ext cx="12233910" cy="6859905"/>
          </a:xfrm>
          <a:prstGeom prst="rect">
            <a:avLst/>
          </a:prstGeom>
        </p:spPr>
      </p:pic>
      <p:sp>
        <p:nvSpPr>
          <p:cNvPr id="3" name="Shape 0"/>
          <p:cNvSpPr/>
          <p:nvPr/>
        </p:nvSpPr>
        <p:spPr>
          <a:xfrm>
            <a:off x="4926958" y="4684395"/>
            <a:ext cx="2337402" cy="502920"/>
          </a:xfrm>
          <a:prstGeom prst="roundRect">
            <a:avLst>
              <a:gd name="adj" fmla="val 50000"/>
            </a:avLst>
          </a:prstGeom>
          <a:solidFill>
            <a:srgbClr val="000000">
              <a:alpha val="0"/>
            </a:srgbClr>
          </a:solidFill>
          <a:ln w="19050">
            <a:solidFill>
              <a:srgbClr val="FFFFFF"/>
            </a:solidFill>
            <a:prstDash val="solid"/>
          </a:ln>
        </p:spPr>
      </p:sp>
      <p:sp>
        <p:nvSpPr>
          <p:cNvPr id="4" name="Text 1"/>
          <p:cNvSpPr/>
          <p:nvPr/>
        </p:nvSpPr>
        <p:spPr>
          <a:xfrm>
            <a:off x="4926958" y="4684395"/>
            <a:ext cx="2337402" cy="502920"/>
          </a:xfrm>
          <a:prstGeom prst="rect">
            <a:avLst/>
          </a:prstGeom>
          <a:noFill/>
          <a:ln/>
        </p:spPr>
        <p:txBody>
          <a:bodyPr wrap="square" lIns="45720" tIns="91440" rIns="91440" bIns="45720" rtlCol="0" anchor="ctr"/>
          <a:lstStyle/>
          <a:p>
            <a:pPr>
              <a:lnSpc>
                <a:spcPct val="100000"/>
              </a:lnSpc>
            </a:pPr>
            <a:endParaRPr lang="en-US" sz="1600" dirty="0"/>
          </a:p>
        </p:txBody>
      </p:sp>
      <p:sp>
        <p:nvSpPr>
          <p:cNvPr id="5" name="Text 2"/>
          <p:cNvSpPr/>
          <p:nvPr/>
        </p:nvSpPr>
        <p:spPr>
          <a:xfrm>
            <a:off x="4889500" y="4736465"/>
            <a:ext cx="2413000" cy="400110"/>
          </a:xfrm>
          <a:prstGeom prst="rect">
            <a:avLst/>
          </a:prstGeom>
          <a:noFill/>
          <a:ln/>
        </p:spPr>
        <p:txBody>
          <a:bodyPr wrap="square" lIns="91440" tIns="45720" rIns="91440" bIns="45720" rtlCol="0" anchor="t">
            <a:spAutoFit/>
          </a:bodyPr>
          <a:lstStyle/>
          <a:p>
            <a:pPr algn="ctr">
              <a:lnSpc>
                <a:spcPct val="100000"/>
              </a:lnSpc>
            </a:pPr>
            <a:r>
              <a:rPr lang="en-US" sz="2000" dirty="0">
                <a:solidFill>
                  <a:srgbClr val="FFFFFF"/>
                </a:solidFill>
                <a:latin typeface="MiSans" pitchFamily="34" charset="0"/>
                <a:ea typeface="MiSans" pitchFamily="34" charset="-122"/>
                <a:cs typeface="MiSans" pitchFamily="34" charset="-120"/>
              </a:rPr>
              <a:t>Xia Ziye</a:t>
            </a:r>
            <a:endParaRPr lang="en-US" sz="1600" dirty="0"/>
          </a:p>
        </p:txBody>
      </p:sp>
      <p:sp>
        <p:nvSpPr>
          <p:cNvPr id="6" name="Shape 3"/>
          <p:cNvSpPr/>
          <p:nvPr/>
        </p:nvSpPr>
        <p:spPr>
          <a:xfrm>
            <a:off x="4926958" y="5387340"/>
            <a:ext cx="2337402" cy="502920"/>
          </a:xfrm>
          <a:prstGeom prst="roundRect">
            <a:avLst>
              <a:gd name="adj" fmla="val 50000"/>
            </a:avLst>
          </a:prstGeom>
          <a:solidFill>
            <a:srgbClr val="000000">
              <a:alpha val="0"/>
            </a:srgbClr>
          </a:solidFill>
          <a:ln w="19050">
            <a:solidFill>
              <a:srgbClr val="FFFFFF"/>
            </a:solidFill>
            <a:prstDash val="solid"/>
          </a:ln>
        </p:spPr>
      </p:sp>
      <p:sp>
        <p:nvSpPr>
          <p:cNvPr id="7" name="Text 4"/>
          <p:cNvSpPr/>
          <p:nvPr/>
        </p:nvSpPr>
        <p:spPr>
          <a:xfrm>
            <a:off x="4926958" y="5387340"/>
            <a:ext cx="2337402" cy="502920"/>
          </a:xfrm>
          <a:prstGeom prst="rect">
            <a:avLst/>
          </a:prstGeom>
          <a:noFill/>
          <a:ln/>
        </p:spPr>
        <p:txBody>
          <a:bodyPr wrap="square" lIns="45720" tIns="91440" rIns="91440" bIns="45720" rtlCol="0" anchor="ctr"/>
          <a:lstStyle/>
          <a:p>
            <a:pPr>
              <a:lnSpc>
                <a:spcPct val="100000"/>
              </a:lnSpc>
            </a:pPr>
            <a:endParaRPr lang="en-US" sz="1600" dirty="0"/>
          </a:p>
        </p:txBody>
      </p:sp>
      <p:sp>
        <p:nvSpPr>
          <p:cNvPr id="8" name="Text 5"/>
          <p:cNvSpPr/>
          <p:nvPr/>
        </p:nvSpPr>
        <p:spPr>
          <a:xfrm>
            <a:off x="4889500" y="5439410"/>
            <a:ext cx="2413000" cy="400110"/>
          </a:xfrm>
          <a:prstGeom prst="rect">
            <a:avLst/>
          </a:prstGeom>
          <a:noFill/>
          <a:ln/>
        </p:spPr>
        <p:txBody>
          <a:bodyPr wrap="square" lIns="91440" tIns="45720" rIns="91440" bIns="45720" rtlCol="0" anchor="t">
            <a:spAutoFit/>
          </a:bodyPr>
          <a:lstStyle/>
          <a:p>
            <a:pPr algn="ctr">
              <a:lnSpc>
                <a:spcPct val="100000"/>
              </a:lnSpc>
            </a:pPr>
            <a:r>
              <a:rPr lang="en-US" sz="2000" dirty="0">
                <a:solidFill>
                  <a:srgbClr val="FFFFFF"/>
                </a:solidFill>
                <a:latin typeface="MiSans" pitchFamily="34" charset="0"/>
                <a:ea typeface="MiSans" pitchFamily="34" charset="-122"/>
                <a:cs typeface="MiSans" pitchFamily="34" charset="-120"/>
              </a:rPr>
              <a:t>2025/12/15</a:t>
            </a:r>
            <a:endParaRPr lang="en-US" sz="1600" dirty="0"/>
          </a:p>
        </p:txBody>
      </p:sp>
      <p:sp>
        <p:nvSpPr>
          <p:cNvPr id="9" name="Text 6"/>
          <p:cNvSpPr/>
          <p:nvPr/>
        </p:nvSpPr>
        <p:spPr>
          <a:xfrm>
            <a:off x="2553970" y="1307465"/>
            <a:ext cx="7061200" cy="3299460"/>
          </a:xfrm>
          <a:prstGeom prst="rect">
            <a:avLst/>
          </a:prstGeom>
          <a:noFill/>
          <a:ln/>
        </p:spPr>
        <p:txBody>
          <a:bodyPr wrap="square" lIns="91440" tIns="45720" rIns="91440" bIns="45720" rtlCol="0" anchor="t"/>
          <a:lstStyle/>
          <a:p>
            <a:pPr algn="ctr">
              <a:lnSpc>
                <a:spcPct val="100000"/>
              </a:lnSpc>
            </a:pPr>
            <a:r>
              <a:rPr lang="en-US" sz="9600" b="1" dirty="0">
                <a:solidFill>
                  <a:srgbClr val="FFFFFF"/>
                </a:solidFill>
                <a:latin typeface="MiSans" pitchFamily="34" charset="0"/>
                <a:ea typeface="MiSans" pitchFamily="34" charset="-122"/>
                <a:cs typeface="MiSans" pitchFamily="34" charset="-120"/>
              </a:rPr>
              <a:t>THANK</a:t>
            </a:r>
            <a:endParaRPr lang="en-US" sz="1600" dirty="0"/>
          </a:p>
          <a:p>
            <a:pPr algn="ctr">
              <a:lnSpc>
                <a:spcPct val="100000"/>
              </a:lnSpc>
            </a:pPr>
            <a:r>
              <a:rPr lang="en-US" sz="9600" b="1" dirty="0">
                <a:solidFill>
                  <a:srgbClr val="FFFFFF"/>
                </a:solidFill>
                <a:latin typeface="MiSans" pitchFamily="34" charset="0"/>
                <a:ea typeface="MiSans" pitchFamily="34" charset="-122"/>
                <a:cs typeface="MiSans" pitchFamily="34" charset="-120"/>
              </a:rPr>
              <a:t>YOU</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000000"/>
      </a:dk2>
      <a:lt2>
        <a:srgbClr val="00007D"/>
      </a:lt2>
      <a:accent1>
        <a:srgbClr val="D3BDA6"/>
      </a:accent1>
      <a:accent2>
        <a:srgbClr val="DBB479"/>
      </a:accent2>
      <a:accent3>
        <a:srgbClr val="AB8A7D"/>
      </a:accent3>
      <a:accent4>
        <a:srgbClr val="2C3741"/>
      </a:accent4>
      <a:accent5>
        <a:srgbClr val="2C3741"/>
      </a:accent5>
      <a:accent6>
        <a:srgbClr val="DBB479"/>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TotalTime>
  <Words>908</Words>
  <Application>Microsoft Office PowerPoint</Application>
  <PresentationFormat>宽屏</PresentationFormat>
  <Paragraphs>115</Paragraphs>
  <Slides>18</Slides>
  <Notes>18</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18</vt:i4>
      </vt:variant>
    </vt:vector>
  </HeadingPairs>
  <TitlesOfParts>
    <vt:vector size="22" baseType="lpstr">
      <vt:lpstr>MiSans</vt:lpstr>
      <vt:lpstr>Cambria Math</vt:lpstr>
      <vt:lpstr>Arial</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Search to LLM Reinforcement Learning</dc:title>
  <dc:subject>From Search to LLM Reinforcement Learning</dc:subject>
  <dc:creator>Kimi</dc:creator>
  <cp:lastModifiedBy>自晔 夏</cp:lastModifiedBy>
  <cp:revision>2</cp:revision>
  <dcterms:created xsi:type="dcterms:W3CDTF">2025-12-15T14:49:39Z</dcterms:created>
  <dcterms:modified xsi:type="dcterms:W3CDTF">2025-12-15T16:42:26Z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{"Label":"From Search to LLM Reinforcement Learning","ContentProducer":"001191110108MACG2KBH8F10000","ProduceID":"d501uf3o7orcgjvgt9cg","ReservedCode1":"","ContentPropagator":"001191110108MACG2KBH8F20000","PropagateID":"d501uf3o7orcgjvgt9cg","ReservedCode2":""}</vt:lpwstr>
  </property>
</Properties>
</file>